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28"/>
  </p:notesMasterIdLst>
  <p:handoutMasterIdLst>
    <p:handoutMasterId r:id="rId29"/>
  </p:handoutMasterIdLst>
  <p:sldIdLst>
    <p:sldId id="331" r:id="rId2"/>
    <p:sldId id="332" r:id="rId3"/>
    <p:sldId id="334" r:id="rId4"/>
    <p:sldId id="335" r:id="rId5"/>
    <p:sldId id="407" r:id="rId6"/>
    <p:sldId id="339" r:id="rId7"/>
    <p:sldId id="409" r:id="rId8"/>
    <p:sldId id="354" r:id="rId9"/>
    <p:sldId id="355" r:id="rId10"/>
    <p:sldId id="356" r:id="rId11"/>
    <p:sldId id="357" r:id="rId12"/>
    <p:sldId id="358" r:id="rId13"/>
    <p:sldId id="359" r:id="rId14"/>
    <p:sldId id="360" r:id="rId15"/>
    <p:sldId id="361" r:id="rId16"/>
    <p:sldId id="362" r:id="rId17"/>
    <p:sldId id="363" r:id="rId18"/>
    <p:sldId id="364" r:id="rId19"/>
    <p:sldId id="365" r:id="rId20"/>
    <p:sldId id="428" r:id="rId21"/>
    <p:sldId id="429" r:id="rId22"/>
    <p:sldId id="367" r:id="rId23"/>
    <p:sldId id="368" r:id="rId24"/>
    <p:sldId id="415" r:id="rId25"/>
    <p:sldId id="370" r:id="rId26"/>
    <p:sldId id="406" r:id="rId27"/>
  </p:sldIdLst>
  <p:sldSz cx="9144000" cy="6858000" type="screen4x3"/>
  <p:notesSz cx="7086600" cy="93726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90" autoAdjust="0"/>
    <p:restoredTop sz="94660"/>
  </p:normalViewPr>
  <p:slideViewPr>
    <p:cSldViewPr snapToGrid="0">
      <p:cViewPr varScale="1">
        <p:scale>
          <a:sx n="82" d="100"/>
          <a:sy n="82" d="100"/>
        </p:scale>
        <p:origin x="1421" y="53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208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26.xml"/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CC594209-1678-4B2A-B4BD-A47AA0BEBB4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6738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3B38C903-E9C1-4EEE-9C85-26502C5E841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4150" y="0"/>
            <a:ext cx="3105150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algn="r"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E850B4EB-9FB5-4ED4-996A-5001077F375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39213"/>
            <a:ext cx="3106738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628AB70D-4AAF-4011-9DC4-6EE495450C1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4150" y="8939213"/>
            <a:ext cx="3105150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algn="r" defTabSz="890588">
              <a:defRPr sz="1100">
                <a:latin typeface="Helvetica" panose="020B0604020202020204" pitchFamily="34" charset="0"/>
              </a:defRPr>
            </a:lvl1pPr>
          </a:lstStyle>
          <a:p>
            <a:fld id="{82C72706-C095-41BF-ABD3-54ADB8CE310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3BE6C0C-13A5-439B-BE94-9E35C63CD4E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822FACF-CE45-4AC3-B2A2-36D2B0BD3E2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algn="r"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0116" name="Rectangle 4">
            <a:extLst>
              <a:ext uri="{FF2B5EF4-FFF2-40B4-BE49-F238E27FC236}">
                <a16:creationId xmlns:a16="http://schemas.microsoft.com/office/drawing/2014/main" id="{EF3471BA-404F-42D2-A7C9-714D69CA27C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0150" y="704850"/>
            <a:ext cx="4687888" cy="351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A65F13DF-CA13-4724-A04B-D47B5644211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DA6E394C-E4A1-4942-8688-4E6C278D77D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527B09FD-7807-493C-9E6C-6D565DCA0B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algn="r" defTabSz="939800">
              <a:defRPr sz="1200">
                <a:latin typeface="Times New Roman" panose="02020603050405020304" pitchFamily="18" charset="0"/>
              </a:defRPr>
            </a:lvl1pPr>
          </a:lstStyle>
          <a:p>
            <a:fld id="{FFC2CB2C-F279-41F0-AC48-D923156805A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8A920543-D350-443A-A721-991FEA8129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75653E0-F2FD-4551-8B22-FE330671DA1C}" type="slidenum">
              <a:rPr lang="en-US" altLang="en-US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809E82CE-770C-49D3-84E8-6A6FC8AFBC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1892899B-C57A-458A-8DEF-195B988578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571C26FC-F52D-411F-A4CB-DE8513A2B0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0C0BC62-2152-49E6-8AF5-50FF44F1E1D3}" type="slidenum">
              <a:rPr lang="en-US" altLang="en-US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82389DE3-D492-4B0A-B0C5-CFC9B6B6F4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13180D19-5B10-4758-A8C9-92667670D7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71000D4E-8A67-4003-8E87-772D9024C6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F365149-E38C-4DAC-84B8-8F4AFF2A5D63}" type="slidenum">
              <a:rPr lang="en-US" altLang="en-US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D4E0BBA3-E5B3-4DF0-BCF9-576ABB3C3B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822619B1-76CC-405A-8360-27F1944D1B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7EDF6219-82C1-4A93-ABED-5E34596BBC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8A3B3F0-AAF5-4CFC-A7B5-497CCE8C3F5E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1956D3A9-AF53-4EE2-8367-5C87C40B8B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EDD8E06E-9ABA-4101-95DC-533C74A921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2E8E951B-6D4F-4F3C-BA0F-CE3137BC43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AEBF62B-A5D8-4ED3-B7C7-E5B4C8E4833B}" type="slidenum">
              <a:rPr lang="en-US" altLang="en-US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609817C1-9D09-405F-A4BE-35AA840FB3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3C7757C3-4E01-44F0-9943-4A8D5D2ED2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9EE992A3-26D2-44B8-92BB-28FFF646A2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955654F-329B-48DD-8FA1-1D00BD4AA2CD}" type="slidenum">
              <a:rPr lang="en-US" altLang="en-US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3C5E8084-CD27-45F0-948B-527CF3E8CC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01C2F6CE-343E-4E7D-B50B-7FBBE87E4F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AFBD6615-ED48-4079-BAA7-A84844D677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48E5558-88DF-40FE-90FF-9EB1FEE63A86}" type="slidenum">
              <a:rPr lang="en-US" altLang="en-US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B825ED8D-9E3E-4698-BB5C-C026B0475B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0D5306E4-3AAE-4121-B023-8B43D082CA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8A49125B-F571-4E5D-9BAD-1D212CCFBF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0FA2C5A-08D3-4CEE-94AC-EFFD301638E0}" type="slidenum">
              <a:rPr lang="en-US" altLang="en-US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AD870FB1-A095-437C-B6D2-2B1B4AAB9A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F501E773-1178-4204-823A-15B92DFAFB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30CCC09F-8FEA-4870-9E40-37BBE71005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BCE3FF5-CEA2-48B8-900D-389C7BA3E78B}" type="slidenum">
              <a:rPr lang="en-US" altLang="en-US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A081F303-3AE6-4FDF-9914-380C5084DC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4F7AB753-E023-44B0-B607-E3C978A6E2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BEDA1708-FBD0-46B6-B6E0-9DACFC6E82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1FD1554-F607-4188-A668-41EC0D745C1C}" type="slidenum">
              <a:rPr lang="en-US" altLang="en-US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360FA1B4-6A09-4A5E-8B97-24767F39BC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F52D03A7-D598-4B7B-B4F2-C1353D7B2B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8047A01C-D4F1-483C-95F6-D9DE64F05F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9C2251A-E27D-4976-912A-372946474BDD}" type="slidenum">
              <a:rPr lang="en-US" altLang="en-US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377D733F-0F22-4399-A6D3-B09E70F2D1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6FF7E3D3-1282-4112-B6EE-171A108389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6694149F-4152-4367-835B-291215C667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08CBD02-7938-4655-89C2-245E2DD80BF2}" type="slidenum">
              <a:rPr lang="en-US" altLang="en-US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2F98E2D8-A745-4482-8D31-1C44102899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4AD3CFA0-D397-4059-BF40-57150D5F1A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90C51AA2-08CA-4188-A0D0-CDB58CB18B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DE4C9D0-7D0A-45DF-B0CE-6AB3AEE439B1}" type="slidenum">
              <a:rPr lang="en-US" altLang="en-US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99033DF3-330A-4632-AE16-C1DAED31B0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EC5A0E66-0ED9-4D39-8C8C-9D502F65B2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9C520A68-97AF-4954-BF27-3B60903A2D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6D5DB69-22AD-4E1E-A59B-E2B46FD50CA7}" type="slidenum">
              <a:rPr lang="en-US" altLang="en-US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6D96FEF4-316D-4EC7-948A-A33AE5D7CB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2B50E5CE-2EAD-485C-9DC4-25D3E4546E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>
            <a:extLst>
              <a:ext uri="{FF2B5EF4-FFF2-40B4-BE49-F238E27FC236}">
                <a16:creationId xmlns:a16="http://schemas.microsoft.com/office/drawing/2014/main" id="{A64CD54C-44CE-436F-93BE-552425E6C2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9EFB345-C37B-41EB-99D5-09E432045D94}" type="slidenum">
              <a:rPr lang="en-US" altLang="en-US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29DAD370-8DFA-4D0F-8574-87D667E474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AA98057B-1F4A-419C-B813-443BAD14DB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9E6F61F9-6FB5-4918-9153-29413636AE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82A2CBD-2239-4BE7-9133-34E34F8619C7}" type="slidenum">
              <a:rPr lang="en-US" altLang="en-US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4C82101A-24CB-4B36-B9D2-613DABCA4C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204C5FBE-F01E-4B1E-BA23-180B64B1E2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>
            <a:extLst>
              <a:ext uri="{FF2B5EF4-FFF2-40B4-BE49-F238E27FC236}">
                <a16:creationId xmlns:a16="http://schemas.microsoft.com/office/drawing/2014/main" id="{69926037-2DFC-49C1-BFE5-BEEB906707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720897-7524-49C1-AB7E-87D63B342608}" type="slidenum">
              <a:rPr lang="en-US" altLang="en-US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31EBDBDF-5FCA-4213-A6C0-A7B61F0EDD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4B5706BF-EA71-4A33-91AF-EA4A2A0C53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96CBA23C-2721-468E-BF26-9B4A852354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665F5A3-B020-4290-AD98-D5279638C08E}" type="slidenum">
              <a:rPr lang="en-US" altLang="en-US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20008BC1-ECF1-41C8-9E3A-3EF0899AF3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AE97A9E2-2C5D-40BF-956A-508D26D46D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779C6C28-A40F-4623-9D7D-7346DF865F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E5443D-CFE2-4772-BFAF-AEDA3BB82639}" type="slidenum">
              <a:rPr lang="en-US" altLang="en-US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FAB53808-5F2A-46E3-A99B-9661F40E0F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8D83F4BE-5527-406F-84C4-756486D506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779C6C28-A40F-4623-9D7D-7346DF865F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E5443D-CFE2-4772-BFAF-AEDA3BB82639}" type="slidenum">
              <a:rPr lang="en-US" altLang="en-US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FAB53808-5F2A-46E3-A99B-9661F40E0F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8D83F4BE-5527-406F-84C4-756486D506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7839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9B12ECC0-6236-49B0-ADB5-B045D66C40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D0AF29B-E1F3-4565-9FEC-4E13442F52B7}" type="slidenum">
              <a:rPr lang="en-US" altLang="en-US">
                <a:latin typeface="Times New Roman" panose="02020603050405020304" pitchFamily="18" charset="0"/>
              </a:rPr>
              <a:pPr/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9D1B6244-C5E7-4D86-A203-764BEF822B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E5412847-FD60-400B-AA9D-2092F9AB4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8218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9B12ECC0-6236-49B0-ADB5-B045D66C40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D0AF29B-E1F3-4565-9FEC-4E13442F52B7}" type="slidenum">
              <a:rPr lang="en-US" altLang="en-US">
                <a:latin typeface="Times New Roman" panose="02020603050405020304" pitchFamily="18" charset="0"/>
              </a:rPr>
              <a:pPr/>
              <a:t>22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9D1B6244-C5E7-4D86-A203-764BEF822B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E5412847-FD60-400B-AA9D-2092F9AB4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35D95203-074A-4EA2-A43A-43C79DFAF0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14756FE-28C0-4689-86B3-AA8D861AF58F}" type="slidenum">
              <a:rPr lang="en-US" altLang="en-US">
                <a:latin typeface="Times New Roman" panose="02020603050405020304" pitchFamily="18" charset="0"/>
              </a:rPr>
              <a:pPr/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BD125F85-1222-4EE5-8421-F621F6A6C5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53A3A95C-A148-408D-A44E-6944866E30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>
            <a:extLst>
              <a:ext uri="{FF2B5EF4-FFF2-40B4-BE49-F238E27FC236}">
                <a16:creationId xmlns:a16="http://schemas.microsoft.com/office/drawing/2014/main" id="{65DA9622-ECD4-4E4D-A9C5-B037F3BF22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E872443-CB56-4F1E-A9D0-0CA6A3CCD69F}" type="slidenum">
              <a:rPr lang="en-US" altLang="en-US">
                <a:latin typeface="Times New Roman" panose="02020603050405020304" pitchFamily="18" charset="0"/>
              </a:rPr>
              <a:pPr/>
              <a:t>24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1075" name="Rectangle 2">
            <a:extLst>
              <a:ext uri="{FF2B5EF4-FFF2-40B4-BE49-F238E27FC236}">
                <a16:creationId xmlns:a16="http://schemas.microsoft.com/office/drawing/2014/main" id="{A18C2702-4265-41C0-BAB1-23B3407FB8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>
            <a:extLst>
              <a:ext uri="{FF2B5EF4-FFF2-40B4-BE49-F238E27FC236}">
                <a16:creationId xmlns:a16="http://schemas.microsoft.com/office/drawing/2014/main" id="{639B9B21-AD3F-4EC3-88E5-425A7776CE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>
            <a:extLst>
              <a:ext uri="{FF2B5EF4-FFF2-40B4-BE49-F238E27FC236}">
                <a16:creationId xmlns:a16="http://schemas.microsoft.com/office/drawing/2014/main" id="{173C5A7B-AD1F-42C6-ACEC-C22E37FDEF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9E28EDC-8892-4BD4-9B03-820979DFF076}" type="slidenum">
              <a:rPr lang="en-US" altLang="en-US">
                <a:latin typeface="Times New Roman" panose="02020603050405020304" pitchFamily="18" charset="0"/>
              </a:rPr>
              <a:pPr/>
              <a:t>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2099" name="Rectangle 2">
            <a:extLst>
              <a:ext uri="{FF2B5EF4-FFF2-40B4-BE49-F238E27FC236}">
                <a16:creationId xmlns:a16="http://schemas.microsoft.com/office/drawing/2014/main" id="{D57D674F-0290-48DC-AE81-36542FB42F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>
            <a:extLst>
              <a:ext uri="{FF2B5EF4-FFF2-40B4-BE49-F238E27FC236}">
                <a16:creationId xmlns:a16="http://schemas.microsoft.com/office/drawing/2014/main" id="{3DD1A532-1569-4A5E-88FC-8C5BA0E7A3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>
            <a:extLst>
              <a:ext uri="{FF2B5EF4-FFF2-40B4-BE49-F238E27FC236}">
                <a16:creationId xmlns:a16="http://schemas.microsoft.com/office/drawing/2014/main" id="{E45A9722-F4BC-45A6-9014-F76DB9CBCF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4FA84A1-1FEE-4467-9D36-F04EF63A92D2}" type="slidenum">
              <a:rPr lang="en-US" altLang="en-US">
                <a:latin typeface="Times New Roman" panose="02020603050405020304" pitchFamily="18" charset="0"/>
              </a:rPr>
              <a:pPr/>
              <a:t>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4867" name="Rectangle 2">
            <a:extLst>
              <a:ext uri="{FF2B5EF4-FFF2-40B4-BE49-F238E27FC236}">
                <a16:creationId xmlns:a16="http://schemas.microsoft.com/office/drawing/2014/main" id="{1B7CE1BA-7068-4A1D-A07E-04E7B13B57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>
            <a:extLst>
              <a:ext uri="{FF2B5EF4-FFF2-40B4-BE49-F238E27FC236}">
                <a16:creationId xmlns:a16="http://schemas.microsoft.com/office/drawing/2014/main" id="{34D636C2-C7FC-470A-9494-50E3661E34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C44BEB4D-82F3-449B-9712-6972E5687F85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E0E599D3-2632-4086-9DB8-1FF08C876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F5A3F07A-60C1-42E9-9126-114FEC618D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19BEE85B-DDF0-428C-949C-A06BBCB8B9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2BAA5E16-6E79-4015-B59F-188FC31669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7499CD96-98CE-4281-8965-5FF9F04FA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3F6C5EC6-B569-4B47-BBFE-7A4326270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8153856F-DB42-4573-9C9E-EEACB7D61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63192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49698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4010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2213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9253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05529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6446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4051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7816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9509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6976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no_3">
            <a:extLst>
              <a:ext uri="{FF2B5EF4-FFF2-40B4-BE49-F238E27FC236}">
                <a16:creationId xmlns:a16="http://schemas.microsoft.com/office/drawing/2014/main" id="{232881E8-BA9B-47D1-8183-4E80DA2D5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3">
            <a:extLst>
              <a:ext uri="{FF2B5EF4-FFF2-40B4-BE49-F238E27FC236}">
                <a16:creationId xmlns:a16="http://schemas.microsoft.com/office/drawing/2014/main" id="{7B2B01F9-D51F-41E8-9F71-322BE12131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42645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B6698D-C7F4-42D4-A599-0CA3674437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07C8C63-9073-4440-8E29-7538D3703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3DC0DDF2-EDD9-4546-941A-8819EECEA03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DCF44F51-AC2C-44E8-8762-844722B49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511A7E9F-2DA0-447A-A945-F78748D7C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7C185E49-346F-4CDE-8D31-F91EE49B8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1163" y="6613525"/>
            <a:ext cx="51752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10.</a:t>
            </a:r>
            <a:fld id="{ECA12CDF-10CC-4639-A492-60524225D2DA}" type="slidenum"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ECA43D40-3BCA-4CC4-BCE0-2B11E7743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5BEB558B-1A8D-402E-B9D6-E8D44771E9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2060" name="Picture 12" descr="dino_6">
            <a:extLst>
              <a:ext uri="{FF2B5EF4-FFF2-40B4-BE49-F238E27FC236}">
                <a16:creationId xmlns:a16="http://schemas.microsoft.com/office/drawing/2014/main" id="{35644D38-C2D4-4B99-9159-387D141CE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09" r:id="rId2"/>
    <p:sldLayoutId id="2147484110" r:id="rId3"/>
    <p:sldLayoutId id="2147484111" r:id="rId4"/>
    <p:sldLayoutId id="2147484112" r:id="rId5"/>
    <p:sldLayoutId id="2147484113" r:id="rId6"/>
    <p:sldLayoutId id="2147484114" r:id="rId7"/>
    <p:sldLayoutId id="2147484115" r:id="rId8"/>
    <p:sldLayoutId id="2147484116" r:id="rId9"/>
    <p:sldLayoutId id="2147484117" r:id="rId10"/>
    <p:sldLayoutId id="214748411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3BCD139-3A6D-4B81-8226-0503E6A6358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806450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Chapter 10:  Virtual Memory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0B1EC99-547A-4C3C-A7EB-2C649B5A37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2663" y="232587"/>
            <a:ext cx="77041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10:  Virtual Memory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4A23357C-07C3-4F42-A857-16101A8BAD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123950"/>
            <a:ext cx="7704137" cy="4530725"/>
          </a:xfrm>
        </p:spPr>
        <p:txBody>
          <a:bodyPr/>
          <a:lstStyle/>
          <a:p>
            <a:r>
              <a:rPr lang="en-US" altLang="en-US" dirty="0"/>
              <a:t>Background</a:t>
            </a:r>
          </a:p>
          <a:p>
            <a:r>
              <a:rPr lang="en-US" altLang="en-US" dirty="0"/>
              <a:t>Virtual Memory</a:t>
            </a:r>
          </a:p>
          <a:p>
            <a:r>
              <a:rPr lang="en-US" altLang="en-US" dirty="0"/>
              <a:t>Demand Paging</a:t>
            </a:r>
          </a:p>
          <a:p>
            <a:r>
              <a:rPr lang="en-US" altLang="en-US" dirty="0"/>
              <a:t>Page Replacement</a:t>
            </a:r>
          </a:p>
          <a:p>
            <a:r>
              <a:rPr lang="en-US" altLang="en-US" dirty="0"/>
              <a:t>Page and Frame Replacement Algorithms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CCC7638-093C-4CC4-960F-79B01FBE9F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526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Background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F8BAF45D-7AF6-46D9-974E-C552BF29A1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7" y="1195229"/>
            <a:ext cx="7744408" cy="4530725"/>
          </a:xfrm>
        </p:spPr>
        <p:txBody>
          <a:bodyPr/>
          <a:lstStyle/>
          <a:p>
            <a:r>
              <a:rPr lang="en-US" altLang="en-US" dirty="0"/>
              <a:t>Code needs to be in memory to execute, but entire program rarely used</a:t>
            </a:r>
          </a:p>
          <a:p>
            <a:pPr lvl="1"/>
            <a:r>
              <a:rPr lang="en-US" altLang="en-US" dirty="0"/>
              <a:t>Error code, unusual routines, large data structures</a:t>
            </a:r>
          </a:p>
          <a:p>
            <a:r>
              <a:rPr lang="en-US" altLang="en-US" dirty="0"/>
              <a:t>Entire program code not needed at same time</a:t>
            </a:r>
          </a:p>
          <a:p>
            <a:r>
              <a:rPr lang="en-US" altLang="en-US" dirty="0"/>
              <a:t>Consider ability to execute partially-loaded program</a:t>
            </a:r>
          </a:p>
          <a:p>
            <a:pPr lvl="1"/>
            <a:r>
              <a:rPr lang="en-US" altLang="en-US" dirty="0"/>
              <a:t>Program no longer constrained by limits of physical memory</a:t>
            </a:r>
          </a:p>
          <a:p>
            <a:pPr lvl="1"/>
            <a:r>
              <a:rPr lang="en-US" altLang="en-US" dirty="0"/>
              <a:t>Each program takes less memory while running -&gt; more programs run at the same time</a:t>
            </a:r>
          </a:p>
          <a:p>
            <a:pPr lvl="2"/>
            <a:r>
              <a:rPr lang="en-US" altLang="en-US" dirty="0"/>
              <a:t>Increased CPU utilization and throughput with no increase in response time or turnaround time</a:t>
            </a:r>
          </a:p>
          <a:p>
            <a:pPr lvl="1"/>
            <a:r>
              <a:rPr lang="en-US" altLang="en-US" dirty="0"/>
              <a:t>Less I/O needed to load or swap programs into memory -&gt; each user program runs faster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BD8A388-8E27-4EE5-81A8-60463D778F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479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Virtual memory 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C522901F-947A-433D-9A89-77363C3CEF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7" y="1231579"/>
            <a:ext cx="7679094" cy="4529138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Virtual memory </a:t>
            </a:r>
            <a:r>
              <a:rPr lang="en-US" altLang="en-US" dirty="0"/>
              <a:t>– separation of user logical memory from physical memory</a:t>
            </a:r>
          </a:p>
          <a:p>
            <a:pPr lvl="1"/>
            <a:r>
              <a:rPr lang="en-US" altLang="en-US" dirty="0"/>
              <a:t>Only part of the program needs to be in memory for execution</a:t>
            </a:r>
          </a:p>
          <a:p>
            <a:pPr lvl="1"/>
            <a:r>
              <a:rPr lang="en-US" altLang="en-US" dirty="0"/>
              <a:t>Logical address space can therefore be much larger than physical address space</a:t>
            </a:r>
          </a:p>
          <a:p>
            <a:pPr lvl="1"/>
            <a:r>
              <a:rPr lang="en-US" altLang="en-US" dirty="0"/>
              <a:t>Allows address spaces to be shared by several processes</a:t>
            </a:r>
          </a:p>
          <a:p>
            <a:pPr lvl="1"/>
            <a:r>
              <a:rPr lang="en-US" altLang="en-US" dirty="0"/>
              <a:t>Allows for more efficient process creation</a:t>
            </a:r>
          </a:p>
          <a:p>
            <a:pPr lvl="1"/>
            <a:r>
              <a:rPr lang="en-US" altLang="en-US" dirty="0"/>
              <a:t>More programs running concurrently</a:t>
            </a:r>
          </a:p>
          <a:p>
            <a:pPr lvl="1"/>
            <a:r>
              <a:rPr lang="en-US" altLang="en-US" dirty="0"/>
              <a:t>Less I/O needed to load or swap processes</a:t>
            </a:r>
          </a:p>
          <a:p>
            <a:endParaRPr lang="en-US" alt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D98FEA7-C7CA-4225-97D5-87D05E0B6A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479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Virtual memory  (Cont.)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1EAA72FA-32BB-4333-A973-F0773984BC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7" y="1244666"/>
            <a:ext cx="7688424" cy="4529138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Virtual address space</a:t>
            </a:r>
            <a:r>
              <a:rPr lang="en-US" altLang="en-US" dirty="0"/>
              <a:t> – logical view of how process is stored in memory</a:t>
            </a:r>
          </a:p>
          <a:p>
            <a:pPr lvl="1"/>
            <a:r>
              <a:rPr lang="en-US" altLang="en-US" dirty="0"/>
              <a:t>Usually start at address 0, contiguous addresses until end of space</a:t>
            </a:r>
          </a:p>
          <a:p>
            <a:pPr lvl="1"/>
            <a:r>
              <a:rPr lang="en-US" altLang="en-US" dirty="0"/>
              <a:t>Meanwhile, physical memory organized in page frames</a:t>
            </a:r>
          </a:p>
          <a:p>
            <a:pPr lvl="1"/>
            <a:r>
              <a:rPr lang="en-US" altLang="en-US" dirty="0"/>
              <a:t>MMU must map logical to physical</a:t>
            </a:r>
          </a:p>
          <a:p>
            <a:r>
              <a:rPr lang="en-US" altLang="en-US" dirty="0"/>
              <a:t>Virtual memory can be implemented via:</a:t>
            </a:r>
          </a:p>
          <a:p>
            <a:pPr lvl="1"/>
            <a:r>
              <a:rPr lang="en-US" altLang="en-US" dirty="0"/>
              <a:t>Demand paging </a:t>
            </a:r>
          </a:p>
          <a:p>
            <a:pPr lvl="1"/>
            <a:r>
              <a:rPr lang="en-US" altLang="en-US" dirty="0"/>
              <a:t>Demand segmentation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CF69F4A5-E6CB-4B0B-8299-F4A8C1CEFA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738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Demand Paging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FD2BC1A3-DFC6-4D60-B5FB-EA52511A2F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6" y="1261355"/>
            <a:ext cx="7604158" cy="50974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Could bring entire process into memory at load time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Or bring a page into memory only when it is needed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Less I/O needed, no unnecessary I/O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Less memory needed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Faster response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More users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Similar to paging system with swapping (diagram on right)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Page is needed </a:t>
            </a:r>
            <a:r>
              <a:rPr lang="en-US" altLang="en-US" dirty="0">
                <a:sym typeface="Symbol" panose="05050102010706020507" pitchFamily="18" charset="2"/>
              </a:rPr>
              <a:t> reference to it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invalid reference </a:t>
            </a:r>
            <a:r>
              <a:rPr lang="en-US" altLang="en-US" dirty="0">
                <a:sym typeface="Symbol" panose="05050102010706020507" pitchFamily="18" charset="2"/>
              </a:rPr>
              <a:t> abort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not-in-memory  bring to memory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Lazy swapper </a:t>
            </a:r>
            <a:r>
              <a:rPr lang="en-US" altLang="en-US" dirty="0">
                <a:sym typeface="Symbol" panose="05050102010706020507" pitchFamily="18" charset="2"/>
              </a:rPr>
              <a:t>– never swaps a page into memory unless page will be needed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Swapper that deals with pages is a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pager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b="1" dirty="0">
              <a:solidFill>
                <a:srgbClr val="006699"/>
              </a:solidFill>
              <a:latin typeface="+mj-lt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C06DF40-C8BE-4D63-864C-842E26CBB1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738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Demand Paging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4FA26912-DDBD-4FE1-BFA7-E72BE4D7C0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4" y="1303338"/>
            <a:ext cx="4049745" cy="53514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Could bring entire process into memory at load time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Or bring a page into memory only when it is needed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Less I/O needed, no unnecessary I/O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Less memory needed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Faster response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More users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Similar to paging system with swapping (diagram on right)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>
              <a:sym typeface="Symbol" panose="05050102010706020507" pitchFamily="18" charset="2"/>
            </a:endParaRPr>
          </a:p>
        </p:txBody>
      </p:sp>
      <p:pic>
        <p:nvPicPr>
          <p:cNvPr id="14340" name="Picture 4" descr="9">
            <a:extLst>
              <a:ext uri="{FF2B5EF4-FFF2-40B4-BE49-F238E27FC236}">
                <a16:creationId xmlns:a16="http://schemas.microsoft.com/office/drawing/2014/main" id="{A3D70552-8B37-46D6-A4A0-489B357F4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2675" y="1701800"/>
            <a:ext cx="3878263" cy="355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6C488EA0-8C3D-457E-9DD0-39B9790740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7909" y="237771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What Happens if There is no Free Frame?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7C4E993E-0F50-409F-A8A7-195A5B940B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7" y="1133475"/>
            <a:ext cx="7679093" cy="4511675"/>
          </a:xfrm>
        </p:spPr>
        <p:txBody>
          <a:bodyPr/>
          <a:lstStyle/>
          <a:p>
            <a:r>
              <a:rPr lang="en-US" altLang="en-US" dirty="0"/>
              <a:t>Used up by process pages</a:t>
            </a:r>
          </a:p>
          <a:p>
            <a:r>
              <a:rPr lang="en-US" altLang="en-US" dirty="0"/>
              <a:t>Also in demand from the kernel, I/O buffers, </a:t>
            </a:r>
            <a:r>
              <a:rPr lang="en-US" altLang="en-US" dirty="0" err="1"/>
              <a:t>etc</a:t>
            </a:r>
            <a:endParaRPr lang="en-US" altLang="en-US" dirty="0"/>
          </a:p>
          <a:p>
            <a:r>
              <a:rPr lang="en-US" altLang="en-US" dirty="0"/>
              <a:t>How much to allocate to each?</a:t>
            </a:r>
          </a:p>
          <a:p>
            <a:r>
              <a:rPr lang="en-US" altLang="en-US" dirty="0"/>
              <a:t>Page replacement – find some page in memory, but not really in use, page it out</a:t>
            </a:r>
          </a:p>
          <a:p>
            <a:pPr lvl="1"/>
            <a:r>
              <a:rPr lang="en-US" altLang="en-US" dirty="0"/>
              <a:t>Algorithm – terminate? swap out? replace the page?</a:t>
            </a:r>
          </a:p>
          <a:p>
            <a:pPr lvl="1"/>
            <a:r>
              <a:rPr lang="en-US" altLang="en-US" dirty="0"/>
              <a:t>Performance – want an algorithm which will result in minimum number of page faults</a:t>
            </a:r>
          </a:p>
          <a:p>
            <a:r>
              <a:rPr lang="en-US" altLang="en-US" dirty="0"/>
              <a:t>Same page may be brought into memory several times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9B00CC0E-9E33-4072-9D8C-43E0004757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1394" y="235568"/>
            <a:ext cx="77247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Page Replacement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55125108-1B16-48F4-B19C-7A4934EC1D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1394" y="1190625"/>
            <a:ext cx="7724775" cy="4530725"/>
          </a:xfrm>
        </p:spPr>
        <p:txBody>
          <a:bodyPr/>
          <a:lstStyle/>
          <a:p>
            <a:r>
              <a:rPr lang="en-US" altLang="en-US" dirty="0"/>
              <a:t>Prevent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over-allocation</a:t>
            </a:r>
            <a:r>
              <a:rPr lang="en-US" altLang="en-US" dirty="0"/>
              <a:t> of memory by modifying page-fault service routine to include page replacement</a:t>
            </a:r>
          </a:p>
          <a:p>
            <a:r>
              <a:rPr lang="en-US" altLang="en-US" dirty="0"/>
              <a:t>Use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modify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dirty</a:t>
            </a:r>
            <a:r>
              <a:rPr lang="en-US" altLang="en-US" dirty="0"/>
              <a:t>)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bit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to reduce overhead of page transfers – only modified pages are written to disk</a:t>
            </a:r>
          </a:p>
          <a:p>
            <a:r>
              <a:rPr lang="en-US" altLang="en-US" dirty="0"/>
              <a:t>Page replacement completes separation between logical memory and physical memory – large virtual memory can be provided on a smaller physical memory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760E5859-1ADF-409F-B8A3-01A46FD0EF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3775" y="235568"/>
            <a:ext cx="7693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Need For Page Replacement</a:t>
            </a:r>
          </a:p>
        </p:txBody>
      </p:sp>
      <p:pic>
        <p:nvPicPr>
          <p:cNvPr id="33795" name="Picture 4" descr="B:\os-book\os10-dir\Slides-WORK-area\Figures-dir\ch10\JPG-dir\10_09.jpg">
            <a:extLst>
              <a:ext uri="{FF2B5EF4-FFF2-40B4-BE49-F238E27FC236}">
                <a16:creationId xmlns:a16="http://schemas.microsoft.com/office/drawing/2014/main" id="{74BEFCE0-4636-4163-8B0B-DF7F5FF02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950" y="1357313"/>
            <a:ext cx="6786563" cy="441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DA23D0E3-2B35-4747-8B9E-6B7BFD7D40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6860" y="238161"/>
            <a:ext cx="76073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Basic Page Replacement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36D9B5FA-26B2-48A5-8A7B-413D741468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6" y="1122363"/>
            <a:ext cx="7607299" cy="4457700"/>
          </a:xfrm>
        </p:spPr>
        <p:txBody>
          <a:bodyPr/>
          <a:lstStyle/>
          <a:p>
            <a:pPr marL="379413" indent="-379413">
              <a:buFont typeface="Monotype Sorts" pitchFamily="-84" charset="2"/>
              <a:buAutoNum type="arabicPeriod"/>
            </a:pPr>
            <a:r>
              <a:rPr lang="en-US" altLang="en-US" dirty="0"/>
              <a:t>Find the location of the desired page on disk</a:t>
            </a:r>
          </a:p>
          <a:p>
            <a:pPr marL="379413" indent="-379413">
              <a:buFont typeface="Monotype Sorts" pitchFamily="-84" charset="2"/>
              <a:buAutoNum type="arabicPeriod"/>
            </a:pPr>
            <a:r>
              <a:rPr lang="en-US" altLang="en-US" dirty="0"/>
              <a:t>Find a free frame:</a:t>
            </a:r>
            <a:br>
              <a:rPr lang="en-US" altLang="en-US" dirty="0"/>
            </a:br>
            <a:r>
              <a:rPr lang="en-US" altLang="en-US" dirty="0"/>
              <a:t>   -  If there is a free frame, use it</a:t>
            </a:r>
            <a:br>
              <a:rPr lang="en-US" altLang="en-US" dirty="0"/>
            </a:br>
            <a:r>
              <a:rPr lang="en-US" altLang="en-US" dirty="0"/>
              <a:t>   -  If there is no free frame, use a page replacement algorithm to select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victim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frame</a:t>
            </a:r>
            <a:br>
              <a:rPr lang="en-US" altLang="en-US" b="1" dirty="0">
                <a:solidFill>
                  <a:srgbClr val="3366FF"/>
                </a:solidFill>
              </a:rPr>
            </a:br>
            <a:r>
              <a:rPr lang="en-US" altLang="en-US" b="1" dirty="0">
                <a:solidFill>
                  <a:srgbClr val="3366FF"/>
                </a:solidFill>
              </a:rPr>
              <a:t>   </a:t>
            </a:r>
            <a:r>
              <a:rPr lang="en-US" altLang="en-US" dirty="0"/>
              <a:t>-</a:t>
            </a:r>
            <a:r>
              <a:rPr lang="en-US" altLang="en-US" b="1" dirty="0"/>
              <a:t>  </a:t>
            </a:r>
            <a:r>
              <a:rPr lang="en-US" altLang="en-US" dirty="0"/>
              <a:t>Write victim frame to disk if dirty</a:t>
            </a:r>
          </a:p>
          <a:p>
            <a:pPr marL="379413" indent="-379413">
              <a:buFont typeface="Monotype Sorts" pitchFamily="-84" charset="2"/>
              <a:buAutoNum type="arabicPeriod"/>
            </a:pPr>
            <a:r>
              <a:rPr lang="en-US" altLang="en-US" dirty="0"/>
              <a:t>Bring  the desired page into the (newly) free frame; update the page and frame tables</a:t>
            </a:r>
          </a:p>
          <a:p>
            <a:pPr marL="379413" indent="-379413">
              <a:buFont typeface="Monotype Sorts" pitchFamily="-84" charset="2"/>
              <a:buAutoNum type="arabicPeriod"/>
            </a:pPr>
            <a:r>
              <a:rPr lang="en-US" altLang="en-US" dirty="0"/>
              <a:t>Continue the process by restarting the instruction that caused the trap</a:t>
            </a:r>
          </a:p>
          <a:p>
            <a:pPr marL="379413" indent="-379413">
              <a:buFont typeface="Monotype Sorts" pitchFamily="-84" charset="2"/>
              <a:buNone/>
            </a:pPr>
            <a:r>
              <a:rPr lang="en-US" altLang="en-US" dirty="0"/>
              <a:t> </a:t>
            </a:r>
          </a:p>
          <a:p>
            <a:pPr marL="379413" indent="-379413">
              <a:buFont typeface="Monotype Sorts" pitchFamily="-84" charset="2"/>
              <a:buNone/>
            </a:pPr>
            <a:r>
              <a:rPr lang="en-US" altLang="en-US" dirty="0"/>
              <a:t>Note now potentially 2 page transfers for page fault – increasing EAT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02C4BFB3-B09C-4707-8DF8-9335F3398B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2389" y="222868"/>
            <a:ext cx="7664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Page Replacement</a:t>
            </a:r>
          </a:p>
        </p:txBody>
      </p:sp>
      <p:pic>
        <p:nvPicPr>
          <p:cNvPr id="35843" name="Picture 4" descr="9">
            <a:extLst>
              <a:ext uri="{FF2B5EF4-FFF2-40B4-BE49-F238E27FC236}">
                <a16:creationId xmlns:a16="http://schemas.microsoft.com/office/drawing/2014/main" id="{632D2467-D729-4E96-ABE0-D5CF1AD39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0" y="1223963"/>
            <a:ext cx="6267450" cy="461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047214C7-1AE6-4D0E-9FB9-EBC768731F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4945" y="175298"/>
            <a:ext cx="7861041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Page and Frame Replacement Algorithms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7C092E50-7A55-4657-89B6-77C0309E7E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4" y="1133475"/>
            <a:ext cx="7679094" cy="4899025"/>
          </a:xfrm>
        </p:spPr>
        <p:txBody>
          <a:bodyPr/>
          <a:lstStyle/>
          <a:p>
            <a:pPr>
              <a:tabLst>
                <a:tab pos="3144838" algn="ctr"/>
              </a:tabLst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Frame-allocation algorithm </a:t>
            </a:r>
            <a:r>
              <a:rPr lang="en-US" altLang="en-US" dirty="0"/>
              <a:t>determines 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How many frames to give each process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Which frames to replace</a:t>
            </a:r>
          </a:p>
          <a:p>
            <a:pPr>
              <a:tabLst>
                <a:tab pos="3144838" algn="ctr"/>
              </a:tabLst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Page-replacement algorithm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Want lowest page-fault rate on both first access and re-access</a:t>
            </a:r>
          </a:p>
          <a:p>
            <a:pPr>
              <a:tabLst>
                <a:tab pos="3144838" algn="ctr"/>
              </a:tabLst>
            </a:pPr>
            <a:r>
              <a:rPr lang="en-US" altLang="en-US" dirty="0"/>
              <a:t>Evaluate algorithm by running it on a particular string of memory references (reference string) and computing the number of page faults on that string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String is just page numbers, not full addresses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Repeated access to the same page does not cause a page fault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Results depend on number of frames available</a:t>
            </a:r>
          </a:p>
          <a:p>
            <a:pPr>
              <a:tabLst>
                <a:tab pos="3144838" algn="ctr"/>
              </a:tabLst>
            </a:pPr>
            <a:r>
              <a:rPr lang="en-US" altLang="en-US" dirty="0"/>
              <a:t>In all our examples, the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reference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string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referenced page numbers is </a:t>
            </a:r>
          </a:p>
          <a:p>
            <a:pPr>
              <a:buFont typeface="Monotype Sorts" pitchFamily="-84" charset="2"/>
              <a:buNone/>
              <a:tabLst>
                <a:tab pos="3144838" algn="ctr"/>
              </a:tabLst>
            </a:pPr>
            <a:r>
              <a:rPr lang="en-US" altLang="en-US" dirty="0"/>
              <a:t>	               </a:t>
            </a:r>
            <a:r>
              <a:rPr lang="en-US" altLang="en-US" b="1" dirty="0">
                <a:solidFill>
                  <a:srgbClr val="FF0000"/>
                </a:solidFill>
              </a:rPr>
              <a:t>7,0,1,2,0,3,0,4,2,3,0,3,0,3,2,1,2,0,1,7,0,1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238E9DE7-317A-4964-80E7-85DD040FFD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4155" y="60152"/>
            <a:ext cx="8662696" cy="58998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Graph of Page Faults Versus the Number of Frames</a:t>
            </a:r>
          </a:p>
        </p:txBody>
      </p:sp>
      <p:pic>
        <p:nvPicPr>
          <p:cNvPr id="37891" name="Picture 5">
            <a:extLst>
              <a:ext uri="{FF2B5EF4-FFF2-40B4-BE49-F238E27FC236}">
                <a16:creationId xmlns:a16="http://schemas.microsoft.com/office/drawing/2014/main" id="{6305A72B-A5ED-415A-9B8C-D45FEB5F4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800" y="1238250"/>
            <a:ext cx="6045200" cy="3557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FCA6CF77-12AF-4EC2-89B1-0E20EC3A22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4735" y="241529"/>
            <a:ext cx="7821612" cy="576262"/>
          </a:xfrm>
        </p:spPr>
        <p:txBody>
          <a:bodyPr/>
          <a:lstStyle/>
          <a:p>
            <a:pPr eaLnBrk="1" hangingPunct="1"/>
            <a:r>
              <a:rPr lang="en-US" altLang="en-US"/>
              <a:t>First-In-First-Out (FIFO) Algorithm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6D1D5755-163C-4203-ABC8-2DA1622DF8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4735" y="1052513"/>
            <a:ext cx="7582515" cy="5762625"/>
          </a:xfrm>
        </p:spPr>
        <p:txBody>
          <a:bodyPr/>
          <a:lstStyle/>
          <a:p>
            <a:r>
              <a:rPr lang="en-US" altLang="en-US" dirty="0"/>
              <a:t>Reference string: </a:t>
            </a:r>
            <a:r>
              <a:rPr lang="en-US" altLang="en-US" b="1" dirty="0">
                <a:solidFill>
                  <a:srgbClr val="FF0000"/>
                </a:solidFill>
              </a:rPr>
              <a:t>7,0,1,2,0,3,0,4,2,3,0,3,0,3,2,1,2,0,1,7,0,1</a:t>
            </a:r>
            <a:endParaRPr lang="en-US" altLang="en-US" dirty="0"/>
          </a:p>
          <a:p>
            <a:r>
              <a:rPr lang="en-US" altLang="en-US" dirty="0"/>
              <a:t>3 frames (3 pages can be in memory at a time per process)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>
              <a:buFont typeface="Monotype Sorts" pitchFamily="-84" charset="2"/>
              <a:buNone/>
            </a:pPr>
            <a:br>
              <a:rPr lang="en-US" altLang="en-US" dirty="0"/>
            </a:b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Can vary by reference string: consider 1,2,3,4,1,2,5,1,2,3,4,5</a:t>
            </a:r>
          </a:p>
          <a:p>
            <a:pPr lvl="1"/>
            <a:r>
              <a:rPr lang="en-US" altLang="en-US" dirty="0"/>
              <a:t>Adding more frames can cause more page faults!</a:t>
            </a:r>
          </a:p>
          <a:p>
            <a:pPr lvl="2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Belady</a:t>
            </a:r>
            <a:r>
              <a:rPr lang="ja-JP" altLang="en-US" b="1" dirty="0">
                <a:solidFill>
                  <a:srgbClr val="006699"/>
                </a:solidFill>
                <a:latin typeface="+mj-lt"/>
              </a:rPr>
              <a:t>’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s Anomaly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/>
              <a:t>How to track ages of pages? </a:t>
            </a:r>
          </a:p>
          <a:p>
            <a:pPr lvl="1"/>
            <a:r>
              <a:rPr lang="en-US" altLang="en-US" dirty="0"/>
              <a:t>Just use a FIFO queue</a:t>
            </a:r>
          </a:p>
        </p:txBody>
      </p:sp>
      <p:sp>
        <p:nvSpPr>
          <p:cNvPr id="38916" name="Text Box 16">
            <a:extLst>
              <a:ext uri="{FF2B5EF4-FFF2-40B4-BE49-F238E27FC236}">
                <a16:creationId xmlns:a16="http://schemas.microsoft.com/office/drawing/2014/main" id="{70D1F977-A605-4231-817D-50B414BD8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8925" y="3546475"/>
            <a:ext cx="1697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15 page faults</a:t>
            </a:r>
          </a:p>
        </p:txBody>
      </p:sp>
      <p:pic>
        <p:nvPicPr>
          <p:cNvPr id="38917" name="Picture 1">
            <a:extLst>
              <a:ext uri="{FF2B5EF4-FFF2-40B4-BE49-F238E27FC236}">
                <a16:creationId xmlns:a16="http://schemas.microsoft.com/office/drawing/2014/main" id="{308629FE-BC55-408D-8CD8-72B5F69846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375" y="1854200"/>
            <a:ext cx="5327650" cy="169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CD6B9E3A-361D-4D6C-9A7F-B0347118A9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7769" y="232975"/>
            <a:ext cx="77343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FIFO Illustrating Belady</a:t>
            </a:r>
            <a:r>
              <a:rPr lang="ja-JP" altLang="en-US" dirty="0"/>
              <a:t>’</a:t>
            </a:r>
            <a:r>
              <a:rPr lang="en-US" altLang="ja-JP" dirty="0"/>
              <a:t>s Anomaly</a:t>
            </a:r>
            <a:endParaRPr lang="en-US" altLang="en-US" dirty="0"/>
          </a:p>
        </p:txBody>
      </p:sp>
      <p:pic>
        <p:nvPicPr>
          <p:cNvPr id="39939" name="Picture 1" descr="9_13.pdf">
            <a:extLst>
              <a:ext uri="{FF2B5EF4-FFF2-40B4-BE49-F238E27FC236}">
                <a16:creationId xmlns:a16="http://schemas.microsoft.com/office/drawing/2014/main" id="{EE4A1B7A-865F-4B41-AE5D-E878A1F8D5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3538" y="1303338"/>
            <a:ext cx="5676900" cy="406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76095923-7FD6-4706-A8FA-9ABF051469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231422"/>
            <a:ext cx="7937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Optimal Algorithm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25D0553F-9E25-4083-8F1B-77A52F70DB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4" y="1119188"/>
            <a:ext cx="7495397" cy="2052637"/>
          </a:xfrm>
        </p:spPr>
        <p:txBody>
          <a:bodyPr/>
          <a:lstStyle/>
          <a:p>
            <a:pPr>
              <a:tabLst>
                <a:tab pos="1889125" algn="l"/>
              </a:tabLst>
            </a:pPr>
            <a:r>
              <a:rPr lang="en-US" altLang="en-US" dirty="0"/>
              <a:t>Replace page that will not be used for longest period of time</a:t>
            </a:r>
          </a:p>
          <a:p>
            <a:pPr lvl="1">
              <a:tabLst>
                <a:tab pos="1889125" algn="l"/>
              </a:tabLst>
            </a:pPr>
            <a:r>
              <a:rPr lang="en-US" altLang="en-US" dirty="0"/>
              <a:t>9 is optimal for the example</a:t>
            </a:r>
          </a:p>
          <a:p>
            <a:pPr>
              <a:tabLst>
                <a:tab pos="1889125" algn="l"/>
              </a:tabLst>
            </a:pPr>
            <a:r>
              <a:rPr lang="en-US" altLang="en-US" dirty="0"/>
              <a:t>How do you know this?</a:t>
            </a:r>
          </a:p>
          <a:p>
            <a:pPr lvl="1">
              <a:tabLst>
                <a:tab pos="1889125" algn="l"/>
              </a:tabLst>
            </a:pPr>
            <a:r>
              <a:rPr lang="en-US" altLang="en-US" dirty="0"/>
              <a:t>Can</a:t>
            </a:r>
            <a:r>
              <a:rPr lang="ja-JP" altLang="en-US" dirty="0"/>
              <a:t>’</a:t>
            </a:r>
            <a:r>
              <a:rPr lang="en-US" altLang="ja-JP" dirty="0"/>
              <a:t>t read the future</a:t>
            </a:r>
            <a:endParaRPr lang="en-US" altLang="en-US" dirty="0"/>
          </a:p>
          <a:p>
            <a:pPr>
              <a:tabLst>
                <a:tab pos="1889125" algn="l"/>
              </a:tabLst>
            </a:pPr>
            <a:r>
              <a:rPr lang="en-US" altLang="en-US" dirty="0"/>
              <a:t>Used for measuring how well your algorithm performs</a:t>
            </a:r>
          </a:p>
        </p:txBody>
      </p:sp>
      <p:pic>
        <p:nvPicPr>
          <p:cNvPr id="40964" name="Picture 3">
            <a:extLst>
              <a:ext uri="{FF2B5EF4-FFF2-40B4-BE49-F238E27FC236}">
                <a16:creationId xmlns:a16="http://schemas.microsoft.com/office/drawing/2014/main" id="{0C2DEEDF-7F2E-4341-B388-D272598501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900" y="3159125"/>
            <a:ext cx="6259513" cy="210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696FD466-53D6-40D8-87A0-F9D0699FA1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8773" y="185249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Least Recently Used (LRU) Algorithm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B3F137F8-4D5E-42D0-B9E4-ACCE3B23C8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079" y="1260964"/>
            <a:ext cx="7751989" cy="4835525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Use past knowledge rather than future</a:t>
            </a:r>
          </a:p>
          <a:p>
            <a:pPr>
              <a:defRPr/>
            </a:pPr>
            <a:r>
              <a:rPr lang="en-US" altLang="en-US" dirty="0"/>
              <a:t>Replace page that has not been used in the most amount of time</a:t>
            </a:r>
          </a:p>
          <a:p>
            <a:pPr>
              <a:defRPr/>
            </a:pPr>
            <a:r>
              <a:rPr lang="en-US" altLang="en-US" dirty="0"/>
              <a:t>Associate time of last use with each page</a:t>
            </a:r>
          </a:p>
          <a:p>
            <a:pPr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 marL="0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r>
              <a:rPr lang="en-US" altLang="en-US" dirty="0"/>
              <a:t>12 faults – better than FIFO but worse than OPT</a:t>
            </a:r>
          </a:p>
          <a:p>
            <a:pPr>
              <a:defRPr/>
            </a:pPr>
            <a:r>
              <a:rPr lang="en-US" altLang="en-US" dirty="0"/>
              <a:t>Generally good algorithm and frequently used</a:t>
            </a:r>
          </a:p>
          <a:p>
            <a:pPr>
              <a:defRPr/>
            </a:pPr>
            <a:r>
              <a:rPr lang="en-US" altLang="en-US" dirty="0"/>
              <a:t>But how to implement?</a:t>
            </a:r>
          </a:p>
          <a:p>
            <a:pPr>
              <a:buFont typeface="Monotype Sorts" pitchFamily="-84" charset="2"/>
              <a:buNone/>
              <a:defRPr/>
            </a:pPr>
            <a:endParaRPr lang="en-US" altLang="en-US" dirty="0"/>
          </a:p>
        </p:txBody>
      </p:sp>
      <p:pic>
        <p:nvPicPr>
          <p:cNvPr id="41988" name="Picture 4" descr="9">
            <a:extLst>
              <a:ext uri="{FF2B5EF4-FFF2-40B4-BE49-F238E27FC236}">
                <a16:creationId xmlns:a16="http://schemas.microsoft.com/office/drawing/2014/main" id="{1C494269-8B4A-4BA9-9CC1-ED6087AC32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363" y="2635545"/>
            <a:ext cx="6170612" cy="168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689E2401-57E2-4A14-B834-943CD6AD56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531" y="2321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LRU Algorithm (Cont.)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00218A1E-F600-4BE7-9C24-6205C33F80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6" y="950913"/>
            <a:ext cx="7728177" cy="5246687"/>
          </a:xfrm>
        </p:spPr>
        <p:txBody>
          <a:bodyPr/>
          <a:lstStyle/>
          <a:p>
            <a:r>
              <a:rPr lang="en-US" altLang="en-US" dirty="0"/>
              <a:t>Counter implementation</a:t>
            </a:r>
          </a:p>
          <a:p>
            <a:pPr lvl="1"/>
            <a:r>
              <a:rPr lang="en-US" altLang="en-US" dirty="0"/>
              <a:t>Every page entry has a counter; every time page is referenced through this entry, copy the clock into the counter</a:t>
            </a:r>
          </a:p>
          <a:p>
            <a:pPr lvl="1"/>
            <a:r>
              <a:rPr lang="en-US" altLang="en-US" dirty="0"/>
              <a:t>When a page needs to be changed, look at the counters to find smallest value</a:t>
            </a:r>
          </a:p>
          <a:p>
            <a:pPr lvl="2"/>
            <a:r>
              <a:rPr lang="en-US" altLang="en-US" dirty="0"/>
              <a:t>Search through table needed</a:t>
            </a:r>
          </a:p>
          <a:p>
            <a:r>
              <a:rPr lang="en-US" altLang="en-US" dirty="0"/>
              <a:t>Stack implementation</a:t>
            </a:r>
          </a:p>
          <a:p>
            <a:pPr lvl="1"/>
            <a:r>
              <a:rPr lang="en-US" altLang="en-US" dirty="0"/>
              <a:t>Keep a stack of page numbers in a double link form:</a:t>
            </a:r>
          </a:p>
          <a:p>
            <a:pPr lvl="1"/>
            <a:r>
              <a:rPr lang="en-US" altLang="en-US" dirty="0"/>
              <a:t>Page referenced:</a:t>
            </a:r>
          </a:p>
          <a:p>
            <a:pPr lvl="2"/>
            <a:r>
              <a:rPr lang="en-US" altLang="en-US" dirty="0"/>
              <a:t>move it to the top</a:t>
            </a:r>
          </a:p>
          <a:p>
            <a:pPr lvl="2"/>
            <a:r>
              <a:rPr lang="en-US" altLang="en-US" dirty="0"/>
              <a:t>requires 6 pointers to be changed</a:t>
            </a:r>
          </a:p>
          <a:p>
            <a:pPr lvl="1"/>
            <a:r>
              <a:rPr lang="en-US" altLang="en-US" dirty="0"/>
              <a:t>But each update more expensive</a:t>
            </a:r>
          </a:p>
          <a:p>
            <a:pPr lvl="1"/>
            <a:r>
              <a:rPr lang="en-US" altLang="en-US" dirty="0"/>
              <a:t>No search for replacement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689E2401-57E2-4A14-B834-943CD6AD56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531" y="2321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LRU Algorithm (Cont.)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00218A1E-F600-4BE7-9C24-6205C33F80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6" y="950913"/>
            <a:ext cx="7728177" cy="5246687"/>
          </a:xfrm>
        </p:spPr>
        <p:txBody>
          <a:bodyPr/>
          <a:lstStyle/>
          <a:p>
            <a:r>
              <a:rPr lang="en-US" altLang="en-US" dirty="0"/>
              <a:t>LRU and OPT are cases of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stack algorithms </a:t>
            </a:r>
            <a:r>
              <a:rPr lang="en-US" altLang="en-US" dirty="0"/>
              <a:t>that don</a:t>
            </a:r>
            <a:r>
              <a:rPr lang="ja-JP" altLang="en-US" dirty="0"/>
              <a:t>’</a:t>
            </a:r>
            <a:r>
              <a:rPr lang="en-US" altLang="ja-JP" dirty="0"/>
              <a:t>t have Belady</a:t>
            </a:r>
            <a:r>
              <a:rPr lang="ja-JP" altLang="en-US" dirty="0"/>
              <a:t>’</a:t>
            </a:r>
            <a:r>
              <a:rPr lang="en-US" altLang="ja-JP" dirty="0"/>
              <a:t>s Anomaly</a:t>
            </a:r>
          </a:p>
          <a:p>
            <a:r>
              <a:rPr lang="en-US" altLang="en-US" dirty="0"/>
              <a:t>Use Of A Stack to Record Most Recent Page References</a:t>
            </a:r>
            <a:endParaRPr lang="en-US" dirty="0"/>
          </a:p>
          <a:p>
            <a:endParaRPr lang="en-US" altLang="en-US" dirty="0"/>
          </a:p>
        </p:txBody>
      </p:sp>
      <p:pic>
        <p:nvPicPr>
          <p:cNvPr id="4" name="Picture 1" descr="9_16.pdf">
            <a:extLst>
              <a:ext uri="{FF2B5EF4-FFF2-40B4-BE49-F238E27FC236}">
                <a16:creationId xmlns:a16="http://schemas.microsoft.com/office/drawing/2014/main" id="{650D8023-264A-4AC3-B430-E0C59C953E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038" y="2260350"/>
            <a:ext cx="4702175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74997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9033BF15-EA5A-4A49-BB65-331FF866E4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9754" y="234791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LRU Approximation Algorithms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BC57D3A7-FA71-4D00-9C2E-051C34BFAB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5" y="1159949"/>
            <a:ext cx="7664484" cy="5146675"/>
          </a:xfrm>
        </p:spPr>
        <p:txBody>
          <a:bodyPr/>
          <a:lstStyle/>
          <a:p>
            <a:r>
              <a:rPr lang="en-US" altLang="en-US" dirty="0"/>
              <a:t>LRU needs special hardware and still slow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Reference bit</a:t>
            </a:r>
          </a:p>
          <a:p>
            <a:pPr lvl="1"/>
            <a:r>
              <a:rPr lang="en-US" altLang="en-US" dirty="0"/>
              <a:t>With each page associate a bit, initially = 0</a:t>
            </a:r>
          </a:p>
          <a:p>
            <a:pPr lvl="1"/>
            <a:r>
              <a:rPr lang="en-US" altLang="en-US" dirty="0"/>
              <a:t>When page is referenced bit set to 1</a:t>
            </a:r>
          </a:p>
          <a:p>
            <a:pPr lvl="1"/>
            <a:r>
              <a:rPr lang="en-US" altLang="en-US" dirty="0"/>
              <a:t>Replace any with reference bit = 0 (if one exists)</a:t>
            </a:r>
          </a:p>
          <a:p>
            <a:pPr lvl="2"/>
            <a:r>
              <a:rPr lang="en-US" altLang="en-US" dirty="0"/>
              <a:t>We do not know the order, however</a:t>
            </a:r>
            <a:endParaRPr lang="en-US" altLang="en-US" sz="800" dirty="0"/>
          </a:p>
        </p:txBody>
      </p:sp>
    </p:spTree>
    <p:extLst>
      <p:ext uri="{BB962C8B-B14F-4D97-AF65-F5344CB8AC3E}">
        <p14:creationId xmlns:p14="http://schemas.microsoft.com/office/powerpoint/2010/main" val="41356722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9033BF15-EA5A-4A49-BB65-331FF866E4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36801" y="179021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LRU Approximation Algorithms (cont.)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BC57D3A7-FA71-4D00-9C2E-051C34BFAB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5" y="1159949"/>
            <a:ext cx="7664484" cy="5146675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Second-chance algorithm</a:t>
            </a:r>
          </a:p>
          <a:p>
            <a:pPr lvl="1"/>
            <a:r>
              <a:rPr lang="en-US" altLang="en-US" dirty="0"/>
              <a:t>Generally FIFO, plus hardware-provided reference bit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Clock </a:t>
            </a:r>
            <a:r>
              <a:rPr lang="en-US" altLang="en-US" dirty="0"/>
              <a:t>replacement</a:t>
            </a:r>
          </a:p>
          <a:p>
            <a:pPr lvl="1"/>
            <a:r>
              <a:rPr lang="en-US" altLang="en-US" dirty="0"/>
              <a:t>If page to be replaced has </a:t>
            </a:r>
          </a:p>
          <a:p>
            <a:pPr lvl="2"/>
            <a:r>
              <a:rPr lang="en-US" altLang="en-US" dirty="0"/>
              <a:t>Reference bit = 0 -&gt; replace it</a:t>
            </a:r>
          </a:p>
          <a:p>
            <a:pPr lvl="2"/>
            <a:r>
              <a:rPr lang="en-US" altLang="en-US" dirty="0"/>
              <a:t>reference bit = 1 then:</a:t>
            </a:r>
          </a:p>
          <a:p>
            <a:pPr lvl="3"/>
            <a:r>
              <a:rPr lang="en-US" altLang="en-US" dirty="0"/>
              <a:t>set reference bit 0, leave page in memory</a:t>
            </a:r>
          </a:p>
          <a:p>
            <a:pPr lvl="3"/>
            <a:r>
              <a:rPr lang="en-US" altLang="en-US" dirty="0"/>
              <a:t>replace next page, subject to same rules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52AF32FC-4A14-4E1E-8D4F-440BF4A3EC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7892" y="290747"/>
            <a:ext cx="8010525" cy="463550"/>
          </a:xfrm>
        </p:spPr>
        <p:txBody>
          <a:bodyPr/>
          <a:lstStyle/>
          <a:p>
            <a:pPr eaLnBrk="1" hangingPunct="1"/>
            <a:br>
              <a:rPr lang="en-US" altLang="en-US" sz="2800" dirty="0"/>
            </a:br>
            <a:r>
              <a:rPr lang="en-US" altLang="en-US" dirty="0"/>
              <a:t>Second-chance Algorithm</a:t>
            </a:r>
          </a:p>
        </p:txBody>
      </p:sp>
      <p:pic>
        <p:nvPicPr>
          <p:cNvPr id="46083" name="Picture 1" descr="9_17.pdf">
            <a:extLst>
              <a:ext uri="{FF2B5EF4-FFF2-40B4-BE49-F238E27FC236}">
                <a16:creationId xmlns:a16="http://schemas.microsoft.com/office/drawing/2014/main" id="{5B0ED9B7-9A22-4A06-8760-CF9EC5AFD8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8525" y="1092200"/>
            <a:ext cx="4402138" cy="444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96CF5A4B-5B56-4850-890B-CBC91DFC97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7926" y="240752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Enhanced Second-Chance Algorithm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B9C55B83-EA3F-497C-A3D1-F3E32BFFAD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7749" y="1250302"/>
            <a:ext cx="7609925" cy="4967936"/>
          </a:xfrm>
        </p:spPr>
        <p:txBody>
          <a:bodyPr/>
          <a:lstStyle/>
          <a:p>
            <a:r>
              <a:rPr lang="en-US" altLang="en-US" dirty="0"/>
              <a:t>Improve algorithm by using reference bit and modify bit (if available) in concert</a:t>
            </a:r>
          </a:p>
          <a:p>
            <a:r>
              <a:rPr lang="en-US" altLang="en-US" dirty="0"/>
              <a:t>Take ordered pair (reference, modify):</a:t>
            </a:r>
          </a:p>
          <a:p>
            <a:pPr lvl="1"/>
            <a:r>
              <a:rPr lang="en-US" altLang="en-US" dirty="0"/>
              <a:t>(0, 0) neither recently used not modified – best page to replace</a:t>
            </a:r>
          </a:p>
          <a:p>
            <a:pPr lvl="1"/>
            <a:r>
              <a:rPr lang="en-US" altLang="en-US" dirty="0"/>
              <a:t>(0, 1) not recently used but modified – not quite as good, must write out before replacement</a:t>
            </a:r>
          </a:p>
          <a:p>
            <a:pPr lvl="1"/>
            <a:r>
              <a:rPr lang="en-US" altLang="en-US" dirty="0"/>
              <a:t>(1, 0) recently used but clean – probably will be used again soon</a:t>
            </a:r>
          </a:p>
          <a:p>
            <a:pPr lvl="1"/>
            <a:r>
              <a:rPr lang="en-US" altLang="en-US" dirty="0"/>
              <a:t>(1, 1) recently used and modified – probably will be used again soon and need to write out before replacement</a:t>
            </a:r>
          </a:p>
          <a:p>
            <a:r>
              <a:rPr lang="en-US" altLang="en-US" dirty="0"/>
              <a:t>When page replacement called for, use the clock scheme  but use the four classes replace page in lowest non-empty class</a:t>
            </a:r>
          </a:p>
          <a:p>
            <a:pPr lvl="1"/>
            <a:r>
              <a:rPr lang="en-US" altLang="en-US" dirty="0"/>
              <a:t>Might need to search circular queue several times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E1C6E0A3-953D-4211-ACA7-F7B6931BDD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8161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Counting Algorithms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B52D61FC-D241-4C09-9149-F474825897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9" y="1230348"/>
            <a:ext cx="7311024" cy="4556841"/>
          </a:xfrm>
        </p:spPr>
        <p:txBody>
          <a:bodyPr/>
          <a:lstStyle/>
          <a:p>
            <a:r>
              <a:rPr lang="en-US" altLang="en-US" dirty="0"/>
              <a:t>Keep a counter of the number of references that have been made to each page</a:t>
            </a:r>
          </a:p>
          <a:p>
            <a:pPr lvl="1"/>
            <a:r>
              <a:rPr lang="en-US" altLang="en-US" dirty="0"/>
              <a:t>Not common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Lease Frequently Used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LFU</a:t>
            </a:r>
            <a:r>
              <a:rPr lang="en-US" altLang="en-US" dirty="0"/>
              <a:t>)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Algorithm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  Replaces page with smallest count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Most Frequently Used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MFU</a:t>
            </a:r>
            <a:r>
              <a:rPr lang="en-US" altLang="en-US" dirty="0"/>
              <a:t>)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Algorithm</a:t>
            </a:r>
            <a:r>
              <a:rPr lang="en-US" altLang="en-US" dirty="0"/>
              <a:t>: </a:t>
            </a:r>
          </a:p>
          <a:p>
            <a:pPr lvl="1"/>
            <a:r>
              <a:rPr lang="en-US" altLang="en-US" dirty="0"/>
              <a:t>Based on the argument that the page with the smallest count was probably just brought in and has yet to be used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2087A24C-814D-4E6C-B047-D9A2C00F07E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D834A9A087D741819B608BBC1DA395" ma:contentTypeVersion="0" ma:contentTypeDescription="Create a new document." ma:contentTypeScope="" ma:versionID="0cfc178ced5b22c03231536146ace01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0737ED5-DF5E-4D99-B921-B77B5A411868}"/>
</file>

<file path=customXml/itemProps2.xml><?xml version="1.0" encoding="utf-8"?>
<ds:datastoreItem xmlns:ds="http://schemas.openxmlformats.org/officeDocument/2006/customXml" ds:itemID="{4425E55C-37BD-4F80-AB72-98BED6372578}"/>
</file>

<file path=customXml/itemProps3.xml><?xml version="1.0" encoding="utf-8"?>
<ds:datastoreItem xmlns:ds="http://schemas.openxmlformats.org/officeDocument/2006/customXml" ds:itemID="{17AB535F-18A5-4258-8FDE-436D3828062B}"/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18159</TotalTime>
  <Words>1222</Words>
  <Application>Microsoft Office PowerPoint</Application>
  <PresentationFormat>On-screen Show (4:3)</PresentationFormat>
  <Paragraphs>197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Helvetica</vt:lpstr>
      <vt:lpstr>Monotype Sorts</vt:lpstr>
      <vt:lpstr>Times New Roman</vt:lpstr>
      <vt:lpstr>Verdana</vt:lpstr>
      <vt:lpstr>Webdings</vt:lpstr>
      <vt:lpstr>Wingdings</vt:lpstr>
      <vt:lpstr>os-8</vt:lpstr>
      <vt:lpstr>Chapter 10:  Virtual Memory</vt:lpstr>
      <vt:lpstr>Chapter 10:  Virtual Memory</vt:lpstr>
      <vt:lpstr>Background</vt:lpstr>
      <vt:lpstr>Virtual memory </vt:lpstr>
      <vt:lpstr>Virtual memory  (Cont.)</vt:lpstr>
      <vt:lpstr>Demand Paging</vt:lpstr>
      <vt:lpstr>Demand Paging</vt:lpstr>
      <vt:lpstr>What Happens if There is no Free Frame?</vt:lpstr>
      <vt:lpstr>Page Replacement</vt:lpstr>
      <vt:lpstr>Need For Page Replacement</vt:lpstr>
      <vt:lpstr>Basic Page Replacement</vt:lpstr>
      <vt:lpstr>Page Replacement</vt:lpstr>
      <vt:lpstr>Page and Frame Replacement Algorithms</vt:lpstr>
      <vt:lpstr>Graph of Page Faults Versus the Number of Frames</vt:lpstr>
      <vt:lpstr>First-In-First-Out (FIFO) Algorithm</vt:lpstr>
      <vt:lpstr>FIFO Illustrating Belady’s Anomaly</vt:lpstr>
      <vt:lpstr>Optimal Algorithm</vt:lpstr>
      <vt:lpstr>Least Recently Used (LRU) Algorithm</vt:lpstr>
      <vt:lpstr>LRU Algorithm (Cont.)</vt:lpstr>
      <vt:lpstr>LRU Algorithm (Cont.)</vt:lpstr>
      <vt:lpstr>LRU Approximation Algorithms</vt:lpstr>
      <vt:lpstr>LRU Approximation Algorithms (cont.)</vt:lpstr>
      <vt:lpstr> Second-chance Algorithm</vt:lpstr>
      <vt:lpstr>Enhanced Second-Chance Algorithm</vt:lpstr>
      <vt:lpstr>Counting Algorithms</vt:lpstr>
      <vt:lpstr>End of Chapter 10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Acer</cp:lastModifiedBy>
  <cp:revision>288</cp:revision>
  <cp:lastPrinted>2013-09-10T17:57:57Z</cp:lastPrinted>
  <dcterms:created xsi:type="dcterms:W3CDTF">2011-01-13T23:43:38Z</dcterms:created>
  <dcterms:modified xsi:type="dcterms:W3CDTF">2021-09-03T14:50:39Z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0x0101005ED834A9A087D741819B608BBC1DA395</vt:lpwstr>
  </property>
</Properties>
</file>