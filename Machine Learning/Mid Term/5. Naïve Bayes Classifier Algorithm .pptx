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7315200" cy="9601200"/>
  <p:embeddedFontLst>
    <p:embeddedFont>
      <p:font typeface="Quintessential"/>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4">
          <p15:clr>
            <a:srgbClr val="000000"/>
          </p15:clr>
        </p15:guide>
        <p15:guide id="2" pos="2303">
          <p15:clr>
            <a:srgbClr val="000000"/>
          </p15:clr>
        </p15:guide>
      </p15:notesGuideLst>
    </p:ext>
    <p:ext uri="GoogleSlidesCustomDataVersion2">
      <go:slidesCustomData xmlns:go="http://customooxmlschemas.google.com/" r:id="rId27" roundtripDataSignature="AMtx7mjxvYw7nkqDgF9rNXqa4TGIJmlB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4" orient="horz"/>
        <p:guide pos="2303"/>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Quintessential-regular.fntdata"/><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8650" cy="4810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144962" y="0"/>
            <a:ext cx="3168650" cy="48101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118600"/>
            <a:ext cx="3168650" cy="48101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 name="Google Shape;62;p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800"/>
              <a:buFont typeface="Arial"/>
              <a:buNone/>
            </a:pPr>
            <a:fld id="{00000000-1234-1234-1234-123412341234}" type="slidenum">
              <a:rPr b="0" i="0" lang="en-US" sz="1800" u="none" cap="none" strike="noStrike">
                <a:solidFill>
                  <a:schemeClr val="lt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 name="Google Shape;64;p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rPr b="0" i="0" lang="en-US" sz="1200" u="none" cap="none" strike="noStrike">
                <a:solidFill>
                  <a:schemeClr val="lt1"/>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 name="Google Shape;70;p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72" name="Google Shape;72;p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 name="Google Shape;79;p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81" name="Google Shape;81;p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 name="Google Shape;89;p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91" name="Google Shape;91;p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 name="Google Shape;98;p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00" name="Google Shape;100;p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8" name="Google Shape;108;p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10" name="Google Shape;110;p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7" name="Google Shape;117;p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19" name="Google Shape;119;p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7" name="Google Shape;127;p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29" name="Google Shape;129;p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8" name="Google Shape;138;p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40" name="Google Shape;140;p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9" name="Google Shape;149;p1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51" name="Google Shape;151;p1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8" name="Google Shape;158;p1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60" name="Google Shape;160;p1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8" name="Google Shape;168;p1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70" name="Google Shape;170;p1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8" name="Google Shape;178;p1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1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80" name="Google Shape;180;p1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8" name="Google Shape;188;p1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190" name="Google Shape;190;p1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8" name="Google Shape;198;p1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200" name="Google Shape;200;p1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7" name="Google Shape;207;p1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Optimisation of the Beer Distribution Game</a:t>
            </a:r>
            <a:endParaRPr b="0" i="0" sz="1400" u="none" cap="none" strike="noStrike">
              <a:solidFill>
                <a:srgbClr val="000000"/>
              </a:solidFill>
              <a:latin typeface="Arial"/>
              <a:ea typeface="Arial"/>
              <a:cs typeface="Arial"/>
              <a:sym typeface="Arial"/>
            </a:endParaRPr>
          </a:p>
        </p:txBody>
      </p:sp>
      <p:sp>
        <p:nvSpPr>
          <p:cNvPr id="209" name="Google Shape;209;p1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e491fddb0_2_0:notes"/>
          <p:cNvSpPr/>
          <p:nvPr>
            <p:ph idx="2" type="sldImg"/>
          </p:nvPr>
        </p:nvSpPr>
        <p:spPr>
          <a:xfrm>
            <a:off x="1258887" y="720725"/>
            <a:ext cx="4797300" cy="359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16" name="Google Shape;216;g36e491fddb0_2_0:notes"/>
          <p:cNvSpPr txBox="1"/>
          <p:nvPr>
            <p:ph idx="1" type="body"/>
          </p:nvPr>
        </p:nvSpPr>
        <p:spPr>
          <a:xfrm>
            <a:off x="731837" y="4560887"/>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36e491fddb0_2_0:notes"/>
          <p:cNvSpPr txBox="1"/>
          <p:nvPr>
            <p:ph idx="12" type="sldNum"/>
          </p:nvPr>
        </p:nvSpPr>
        <p:spPr>
          <a:xfrm>
            <a:off x="4144962" y="9118600"/>
            <a:ext cx="3168600" cy="480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13536d5a7_1_15:notes"/>
          <p:cNvSpPr/>
          <p:nvPr>
            <p:ph idx="2" type="sldImg"/>
          </p:nvPr>
        </p:nvSpPr>
        <p:spPr>
          <a:xfrm>
            <a:off x="1258887" y="720725"/>
            <a:ext cx="4797300" cy="359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24" name="Google Shape;224;g3713536d5a7_1_15:notes"/>
          <p:cNvSpPr txBox="1"/>
          <p:nvPr>
            <p:ph idx="1" type="body"/>
          </p:nvPr>
        </p:nvSpPr>
        <p:spPr>
          <a:xfrm>
            <a:off x="731837" y="4560887"/>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713536d5a7_1_15:notes"/>
          <p:cNvSpPr txBox="1"/>
          <p:nvPr>
            <p:ph idx="12" type="sldNum"/>
          </p:nvPr>
        </p:nvSpPr>
        <p:spPr>
          <a:xfrm>
            <a:off x="4144962" y="9118600"/>
            <a:ext cx="3168600" cy="480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13536d5a7_1_22:notes"/>
          <p:cNvSpPr/>
          <p:nvPr>
            <p:ph idx="2" type="sldImg"/>
          </p:nvPr>
        </p:nvSpPr>
        <p:spPr>
          <a:xfrm>
            <a:off x="1258887" y="720725"/>
            <a:ext cx="4797300" cy="3598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32" name="Google Shape;232;g3713536d5a7_1_22:notes"/>
          <p:cNvSpPr txBox="1"/>
          <p:nvPr>
            <p:ph idx="1" type="body"/>
          </p:nvPr>
        </p:nvSpPr>
        <p:spPr>
          <a:xfrm>
            <a:off x="731837" y="4560887"/>
            <a:ext cx="5851500" cy="431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713536d5a7_1_22:notes"/>
          <p:cNvSpPr txBox="1"/>
          <p:nvPr>
            <p:ph idx="12" type="sldNum"/>
          </p:nvPr>
        </p:nvSpPr>
        <p:spPr>
          <a:xfrm>
            <a:off x="4144962" y="9118600"/>
            <a:ext cx="3168600" cy="480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9"/>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9"/>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700"/>
              </a:spcBef>
              <a:spcAft>
                <a:spcPts val="0"/>
              </a:spcAft>
              <a:buSzPts val="1560"/>
              <a:buNone/>
              <a:defRPr sz="2600">
                <a:solidFill>
                  <a:srgbClr val="FFFFFF"/>
                </a:solidFill>
              </a:defRPr>
            </a:lvl1pPr>
            <a:lvl2pPr lvl="1" algn="ctr">
              <a:lnSpc>
                <a:spcPct val="100000"/>
              </a:lnSpc>
              <a:spcBef>
                <a:spcPts val="550"/>
              </a:spcBef>
              <a:spcAft>
                <a:spcPts val="0"/>
              </a:spcAft>
              <a:buSzPts val="1260"/>
              <a:buNone/>
              <a:defRPr/>
            </a:lvl2pPr>
            <a:lvl3pPr lvl="2" algn="ctr">
              <a:lnSpc>
                <a:spcPct val="100000"/>
              </a:lnSpc>
              <a:spcBef>
                <a:spcPts val="500"/>
              </a:spcBef>
              <a:spcAft>
                <a:spcPts val="0"/>
              </a:spcAft>
              <a:buSzPts val="1350"/>
              <a:buNone/>
              <a:defRPr/>
            </a:lvl3pPr>
            <a:lvl4pPr lvl="3" algn="ctr">
              <a:lnSpc>
                <a:spcPct val="100000"/>
              </a:lnSpc>
              <a:spcBef>
                <a:spcPts val="400"/>
              </a:spcBef>
              <a:spcAft>
                <a:spcPts val="0"/>
              </a:spcAft>
              <a:buSzPts val="1350"/>
              <a:buNone/>
              <a:defRPr/>
            </a:lvl4pPr>
            <a:lvl5pPr lvl="4" algn="ctr">
              <a:lnSpc>
                <a:spcPct val="100000"/>
              </a:lnSpc>
              <a:spcBef>
                <a:spcPts val="400"/>
              </a:spcBef>
              <a:spcAft>
                <a:spcPts val="0"/>
              </a:spcAft>
              <a:buSzPts val="117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4" name="Google Shape;24;p29"/>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000">
                <a:solidFill>
                  <a:srgbClr val="FFFFFF"/>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lt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9"/>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3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1"/>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lnSpc>
                <a:spcPct val="100000"/>
              </a:lnSpc>
              <a:spcBef>
                <a:spcPts val="700"/>
              </a:spcBef>
              <a:spcAft>
                <a:spcPts val="0"/>
              </a:spcAft>
              <a:buSzPts val="1080"/>
              <a:buChar char="◻"/>
              <a:defRPr/>
            </a:lvl1pPr>
            <a:lvl2pPr indent="-308610" lvl="1" marL="914400" algn="l">
              <a:lnSpc>
                <a:spcPct val="100000"/>
              </a:lnSpc>
              <a:spcBef>
                <a:spcPts val="550"/>
              </a:spcBef>
              <a:spcAft>
                <a:spcPts val="0"/>
              </a:spcAft>
              <a:buSzPts val="1260"/>
              <a:buChar char="?"/>
              <a:defRPr/>
            </a:lvl2pPr>
            <a:lvl3pPr indent="-314325" lvl="2" marL="1371600" algn="l">
              <a:lnSpc>
                <a:spcPct val="100000"/>
              </a:lnSpc>
              <a:spcBef>
                <a:spcPts val="500"/>
              </a:spcBef>
              <a:spcAft>
                <a:spcPts val="0"/>
              </a:spcAft>
              <a:buSzPts val="1350"/>
              <a:buChar char="■"/>
              <a:defRPr/>
            </a:lvl3pPr>
            <a:lvl4pPr indent="-314325" lvl="3" marL="1828800" algn="l">
              <a:lnSpc>
                <a:spcPct val="100000"/>
              </a:lnSpc>
              <a:spcBef>
                <a:spcPts val="400"/>
              </a:spcBef>
              <a:spcAft>
                <a:spcPts val="0"/>
              </a:spcAft>
              <a:buSzPts val="1350"/>
              <a:buChar char="■"/>
              <a:defRPr/>
            </a:lvl4pPr>
            <a:lvl5pPr indent="-302895" lvl="4" marL="2286000" algn="l">
              <a:lnSpc>
                <a:spcPct val="100000"/>
              </a:lnSpc>
              <a:spcBef>
                <a:spcPts val="400"/>
              </a:spcBef>
              <a:spcAft>
                <a:spcPts val="0"/>
              </a:spcAft>
              <a:buSzPts val="117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9" name="Google Shape;39;p31"/>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1"/>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1"/>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3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2"/>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lnSpc>
                <a:spcPct val="100000"/>
              </a:lnSpc>
              <a:spcBef>
                <a:spcPts val="700"/>
              </a:spcBef>
              <a:spcAft>
                <a:spcPts val="0"/>
              </a:spcAft>
              <a:buSzPts val="1080"/>
              <a:buChar char="◻"/>
              <a:defRPr/>
            </a:lvl1pPr>
            <a:lvl2pPr indent="-308610" lvl="1" marL="914400" algn="l">
              <a:lnSpc>
                <a:spcPct val="100000"/>
              </a:lnSpc>
              <a:spcBef>
                <a:spcPts val="550"/>
              </a:spcBef>
              <a:spcAft>
                <a:spcPts val="0"/>
              </a:spcAft>
              <a:buSzPts val="1260"/>
              <a:buChar char="?"/>
              <a:defRPr/>
            </a:lvl2pPr>
            <a:lvl3pPr indent="-314325" lvl="2" marL="1371600" algn="l">
              <a:lnSpc>
                <a:spcPct val="100000"/>
              </a:lnSpc>
              <a:spcBef>
                <a:spcPts val="500"/>
              </a:spcBef>
              <a:spcAft>
                <a:spcPts val="0"/>
              </a:spcAft>
              <a:buSzPts val="1350"/>
              <a:buChar char="■"/>
              <a:defRPr/>
            </a:lvl3pPr>
            <a:lvl4pPr indent="-314325" lvl="3" marL="1828800" algn="l">
              <a:lnSpc>
                <a:spcPct val="100000"/>
              </a:lnSpc>
              <a:spcBef>
                <a:spcPts val="400"/>
              </a:spcBef>
              <a:spcAft>
                <a:spcPts val="0"/>
              </a:spcAft>
              <a:buSzPts val="1350"/>
              <a:buChar char="■"/>
              <a:defRPr/>
            </a:lvl4pPr>
            <a:lvl5pPr indent="-302895" lvl="4" marL="2286000" algn="l">
              <a:lnSpc>
                <a:spcPct val="100000"/>
              </a:lnSpc>
              <a:spcBef>
                <a:spcPts val="400"/>
              </a:spcBef>
              <a:spcAft>
                <a:spcPts val="0"/>
              </a:spcAft>
              <a:buSzPts val="117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5" name="Google Shape;45;p32"/>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2"/>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2"/>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33"/>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400"/>
              <a:buFont typeface="Twentieth Century"/>
              <a:buNone/>
              <a:defRPr b="0"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3"/>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lnSpc>
                <a:spcPct val="100000"/>
              </a:lnSpc>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lnSpc>
                <a:spcPct val="100000"/>
              </a:lnSpc>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lnSpc>
                <a:spcPct val="100000"/>
              </a:lnSpc>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lnSpc>
                <a:spcPct val="100000"/>
              </a:lnSpc>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lnSpc>
                <a:spcPct val="100000"/>
              </a:lnSpc>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1" name="Google Shape;51;p33"/>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lnSpc>
                <a:spcPct val="100000"/>
              </a:lnSpc>
              <a:spcBef>
                <a:spcPts val="700"/>
              </a:spcBef>
              <a:spcAft>
                <a:spcPts val="0"/>
              </a:spcAft>
              <a:buSzPts val="1080"/>
              <a:buChar char="◻"/>
              <a:defRPr/>
            </a:lvl1pPr>
            <a:lvl2pPr indent="-308610" lvl="1" marL="914400" algn="l">
              <a:lnSpc>
                <a:spcPct val="100000"/>
              </a:lnSpc>
              <a:spcBef>
                <a:spcPts val="550"/>
              </a:spcBef>
              <a:spcAft>
                <a:spcPts val="0"/>
              </a:spcAft>
              <a:buSzPts val="1260"/>
              <a:buChar char="?"/>
              <a:defRPr/>
            </a:lvl2pPr>
            <a:lvl3pPr indent="-314325" lvl="2" marL="1371600" algn="l">
              <a:lnSpc>
                <a:spcPct val="100000"/>
              </a:lnSpc>
              <a:spcBef>
                <a:spcPts val="500"/>
              </a:spcBef>
              <a:spcAft>
                <a:spcPts val="0"/>
              </a:spcAft>
              <a:buSzPts val="1350"/>
              <a:buChar char="■"/>
              <a:defRPr/>
            </a:lvl3pPr>
            <a:lvl4pPr indent="-314325" lvl="3" marL="1828800" algn="l">
              <a:lnSpc>
                <a:spcPct val="100000"/>
              </a:lnSpc>
              <a:spcBef>
                <a:spcPts val="400"/>
              </a:spcBef>
              <a:spcAft>
                <a:spcPts val="0"/>
              </a:spcAft>
              <a:buSzPts val="1350"/>
              <a:buChar char="■"/>
              <a:defRPr/>
            </a:lvl4pPr>
            <a:lvl5pPr indent="-302895" lvl="4" marL="2286000" algn="l">
              <a:lnSpc>
                <a:spcPct val="100000"/>
              </a:lnSpc>
              <a:spcBef>
                <a:spcPts val="400"/>
              </a:spcBef>
              <a:spcAft>
                <a:spcPts val="0"/>
              </a:spcAft>
              <a:buSzPts val="117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2" name="Google Shape;52;p3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4"/>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4"/>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4"/>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8"/>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 name="Google Shape;11;p28"/>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 name="Google Shape;12;p28"/>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 name="Google Shape;13;p28"/>
          <p:cNvSpPr txBox="1"/>
          <p:nvPr/>
        </p:nvSpPr>
        <p:spPr>
          <a:xfrm>
            <a:off x="0" y="5970587"/>
            <a:ext cx="9144000" cy="8874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 name="Google Shape;14;p28"/>
          <p:cNvSpPr txBox="1"/>
          <p:nvPr/>
        </p:nvSpPr>
        <p:spPr>
          <a:xfrm>
            <a:off x="-9525" y="6053137"/>
            <a:ext cx="2249487" cy="7127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 name="Google Shape;15;p28"/>
          <p:cNvSpPr txBox="1"/>
          <p:nvPr/>
        </p:nvSpPr>
        <p:spPr>
          <a:xfrm>
            <a:off x="2359025" y="6043612"/>
            <a:ext cx="6784975" cy="7143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 name="Google Shape;16;p28"/>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lt2"/>
                </a:solidFill>
                <a:latin typeface="Twentieth Century"/>
                <a:ea typeface="Twentieth Century"/>
                <a:cs typeface="Twentieth Century"/>
                <a:sym typeface="Twentieth Century"/>
              </a:defRPr>
            </a:lvl9pPr>
          </a:lstStyle>
          <a:p/>
        </p:txBody>
      </p:sp>
      <p:sp>
        <p:nvSpPr>
          <p:cNvPr id="17" name="Google Shape;17;p28"/>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lnSpc>
                <a:spcPct val="100000"/>
              </a:lnSpc>
              <a:spcBef>
                <a:spcPts val="700"/>
              </a:spcBef>
              <a:spcAft>
                <a:spcPts val="0"/>
              </a:spcAft>
              <a:buClr>
                <a:schemeClr val="accent2"/>
              </a:buClr>
              <a:buSzPts val="1740"/>
              <a:buFont typeface="Noto Sans Symbols"/>
              <a:buChar char="◻"/>
              <a:defRPr b="0" i="0" sz="2900" u="none" cap="none" strike="noStrike">
                <a:solidFill>
                  <a:schemeClr val="lt1"/>
                </a:solidFill>
                <a:latin typeface="Twentieth Century"/>
                <a:ea typeface="Twentieth Century"/>
                <a:cs typeface="Twentieth Century"/>
                <a:sym typeface="Twentieth Century"/>
              </a:defRPr>
            </a:lvl1pPr>
            <a:lvl2pPr indent="-344169" lvl="1" marL="914400" marR="0" rtl="0" algn="l">
              <a:lnSpc>
                <a:spcPct val="100000"/>
              </a:lnSpc>
              <a:spcBef>
                <a:spcPts val="550"/>
              </a:spcBef>
              <a:spcAft>
                <a:spcPts val="0"/>
              </a:spcAft>
              <a:buClr>
                <a:schemeClr val="accent1"/>
              </a:buClr>
              <a:buSzPts val="1820"/>
              <a:buFont typeface="Noto Sans Symbols"/>
              <a:buChar char="🞑"/>
              <a:defRPr b="0" i="0" sz="2600" u="none" cap="none" strike="noStrike">
                <a:solidFill>
                  <a:schemeClr val="lt1"/>
                </a:solidFill>
                <a:latin typeface="Twentieth Century"/>
                <a:ea typeface="Twentieth Century"/>
                <a:cs typeface="Twentieth Century"/>
                <a:sym typeface="Twentieth Century"/>
              </a:defRPr>
            </a:lvl2pPr>
            <a:lvl3pPr indent="-338137" lvl="2" marL="1371600" marR="0" rtl="0" algn="l">
              <a:lnSpc>
                <a:spcPct val="100000"/>
              </a:lnSpc>
              <a:spcBef>
                <a:spcPts val="500"/>
              </a:spcBef>
              <a:spcAft>
                <a:spcPts val="0"/>
              </a:spcAft>
              <a:buClr>
                <a:schemeClr val="accent2"/>
              </a:buClr>
              <a:buSzPts val="1725"/>
              <a:buFont typeface="Noto Sans Symbols"/>
              <a:buChar char="■"/>
              <a:defRPr b="0" i="0" sz="2300" u="none" cap="none" strike="noStrike">
                <a:solidFill>
                  <a:schemeClr val="lt1"/>
                </a:solidFill>
                <a:latin typeface="Twentieth Century"/>
                <a:ea typeface="Twentieth Century"/>
                <a:cs typeface="Twentieth Century"/>
                <a:sym typeface="Twentieth Century"/>
              </a:defRPr>
            </a:lvl3pPr>
            <a:lvl4pPr indent="-323850" lvl="3" marL="1828800" marR="0" rtl="0" algn="l">
              <a:lnSpc>
                <a:spcPct val="100000"/>
              </a:lnSpc>
              <a:spcBef>
                <a:spcPts val="400"/>
              </a:spcBef>
              <a:spcAft>
                <a:spcPts val="0"/>
              </a:spcAft>
              <a:buClr>
                <a:srgbClr val="EB641B"/>
              </a:buClr>
              <a:buSzPts val="1500"/>
              <a:buFont typeface="Noto Sans Symbols"/>
              <a:buChar char="■"/>
              <a:defRPr b="0" i="0" sz="2000" u="none" cap="none" strike="noStrike">
                <a:solidFill>
                  <a:schemeClr val="lt1"/>
                </a:solidFill>
                <a:latin typeface="Twentieth Century"/>
                <a:ea typeface="Twentieth Century"/>
                <a:cs typeface="Twentieth Century"/>
                <a:sym typeface="Twentieth Century"/>
              </a:defRPr>
            </a:lvl4pPr>
            <a:lvl5pPr indent="-311150" lvl="4" marL="2286000" marR="0" rtl="0" algn="l">
              <a:lnSpc>
                <a:spcPct val="100000"/>
              </a:lnSpc>
              <a:spcBef>
                <a:spcPts val="400"/>
              </a:spcBef>
              <a:spcAft>
                <a:spcPts val="0"/>
              </a:spcAft>
              <a:buClr>
                <a:srgbClr val="39639D"/>
              </a:buClr>
              <a:buSzPts val="1300"/>
              <a:buFont typeface="Noto Sans Symbols"/>
              <a:buChar char="■"/>
              <a:defRPr b="0" i="0" sz="2000" u="none" cap="none" strike="noStrike">
                <a:solidFill>
                  <a:schemeClr val="lt1"/>
                </a:solidFill>
                <a:latin typeface="Twentieth Century"/>
                <a:ea typeface="Twentieth Century"/>
                <a:cs typeface="Twentieth Century"/>
                <a:sym typeface="Twentieth Century"/>
              </a:defRPr>
            </a:lvl5pPr>
            <a:lvl6pPr indent="-342900" lvl="5" marL="2743200" marR="0" rtl="0" algn="l">
              <a:lnSpc>
                <a:spcPct val="100000"/>
              </a:lnSpc>
              <a:spcBef>
                <a:spcPts val="36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6pPr>
            <a:lvl7pPr indent="-342900" lvl="6" marL="3200400" marR="0" rtl="0" algn="l">
              <a:lnSpc>
                <a:spcPct val="100000"/>
              </a:lnSpc>
              <a:spcBef>
                <a:spcPts val="360"/>
              </a:spcBef>
              <a:spcAft>
                <a:spcPts val="0"/>
              </a:spcAft>
              <a:buClr>
                <a:schemeClr val="accent2"/>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7pPr>
            <a:lvl8pPr indent="-342900" lvl="7" marL="36576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8pPr>
            <a:lvl9pPr indent="-342900" lvl="8" marL="41148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9pPr>
          </a:lstStyle>
          <a:p/>
        </p:txBody>
      </p:sp>
      <p:sp>
        <p:nvSpPr>
          <p:cNvPr id="18" name="Google Shape;18;p28"/>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000" u="none" cap="none" strike="noStrike">
                <a:solidFill>
                  <a:srgbClr val="FFFFFF"/>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19" name="Google Shape;19;p28"/>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20" name="Google Shape;20;p28"/>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chemeClr val="lt2"/>
              </a:buClr>
              <a:buSzPts val="1400"/>
              <a:buFont typeface="Twentieth Century"/>
              <a:buNone/>
              <a:defRPr b="1" i="0" sz="1400" u="none" cap="none" strike="noStrik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3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29" name="Google Shape;29;p30"/>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lnSpc>
                <a:spcPct val="100000"/>
              </a:lnSpc>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lnSpc>
                <a:spcPct val="100000"/>
              </a:lnSpc>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lnSpc>
                <a:spcPct val="100000"/>
              </a:lnSpc>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lnSpc>
                <a:spcPct val="100000"/>
              </a:lnSpc>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lnSpc>
                <a:spcPct val="100000"/>
              </a:lnSpc>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lnSpc>
                <a:spcPct val="100000"/>
              </a:lnSpc>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lnSpc>
                <a:spcPct val="100000"/>
              </a:lnSpc>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0" name="Google Shape;30;p30"/>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1" name="Google Shape;31;p30"/>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2" name="Google Shape;32;p30"/>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30"/>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 name="Google Shape;34;p30"/>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 name="Google Shape;35;p30"/>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639D"/>
        </a:solidFill>
      </p:bgPr>
    </p:bg>
    <p:spTree>
      <p:nvGrpSpPr>
        <p:cNvPr id="65" name="Shape 65"/>
        <p:cNvGrpSpPr/>
        <p:nvPr/>
      </p:nvGrpSpPr>
      <p:grpSpPr>
        <a:xfrm>
          <a:off x="0" y="0"/>
          <a:ext cx="0" cy="0"/>
          <a:chOff x="0" y="0"/>
          <a:chExt cx="0" cy="0"/>
        </a:xfrm>
      </p:grpSpPr>
      <p:sp>
        <p:nvSpPr>
          <p:cNvPr id="66" name="Google Shape;66;p1"/>
          <p:cNvSpPr txBox="1"/>
          <p:nvPr>
            <p:ph type="ctrTitle"/>
          </p:nvPr>
        </p:nvSpPr>
        <p:spPr>
          <a:xfrm>
            <a:off x="1828800" y="152400"/>
            <a:ext cx="5867400" cy="990600"/>
          </a:xfrm>
          <a:prstGeom prst="rect">
            <a:avLst/>
          </a:prstGeom>
          <a:noFill/>
          <a:ln>
            <a:noFill/>
          </a:ln>
        </p:spPr>
        <p:txBody>
          <a:bodyPr anchorCtr="0" anchor="b" bIns="45700" lIns="91425" spcFirstLastPara="1" rIns="91425" wrap="square" tIns="45700">
            <a:normAutofit/>
          </a:bodyPr>
          <a:lstStyle/>
          <a:p>
            <a:pPr indent="0" lvl="0" marL="0" rtl="0" algn="just">
              <a:lnSpc>
                <a:spcPct val="100000"/>
              </a:lnSpc>
              <a:spcBef>
                <a:spcPts val="0"/>
              </a:spcBef>
              <a:spcAft>
                <a:spcPts val="0"/>
              </a:spcAft>
              <a:buClr>
                <a:schemeClr val="dk1"/>
              </a:buClr>
              <a:buSzPts val="2900"/>
              <a:buFont typeface="Times New Roman"/>
              <a:buNone/>
            </a:pPr>
            <a:r>
              <a:rPr b="1" i="0" lang="en-US" sz="2900" u="none">
                <a:solidFill>
                  <a:schemeClr val="dk1"/>
                </a:solidFill>
                <a:latin typeface="Times New Roman"/>
                <a:ea typeface="Times New Roman"/>
                <a:cs typeface="Times New Roman"/>
                <a:sym typeface="Times New Roman"/>
              </a:rPr>
              <a:t>ICE-5121: MACHINE LEARNING</a:t>
            </a:r>
            <a:endParaRPr/>
          </a:p>
        </p:txBody>
      </p:sp>
      <p:sp>
        <p:nvSpPr>
          <p:cNvPr id="67" name="Google Shape;67;p1"/>
          <p:cNvSpPr txBox="1"/>
          <p:nvPr>
            <p:ph idx="1" type="subTitle"/>
          </p:nvPr>
        </p:nvSpPr>
        <p:spPr>
          <a:xfrm>
            <a:off x="609600" y="2443162"/>
            <a:ext cx="8382000" cy="19700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Times New Roman"/>
              <a:buNone/>
            </a:pPr>
            <a:r>
              <a:rPr lang="en-US" sz="4000">
                <a:solidFill>
                  <a:schemeClr val="dk1"/>
                </a:solidFill>
                <a:latin typeface="Times New Roman"/>
                <a:ea typeface="Times New Roman"/>
                <a:cs typeface="Times New Roman"/>
                <a:sym typeface="Times New Roman"/>
              </a:rPr>
              <a:t>Naïve Bayes Classifier Algorithm</a:t>
            </a:r>
            <a:endParaRPr sz="4400">
              <a:solidFill>
                <a:schemeClr val="dk1"/>
              </a:solidFill>
            </a:endParaRPr>
          </a:p>
          <a:p>
            <a:pPr indent="0" lvl="0" marL="0" rtl="0" algn="l">
              <a:lnSpc>
                <a:spcPct val="80000"/>
              </a:lnSpc>
              <a:spcBef>
                <a:spcPts val="700"/>
              </a:spcBef>
              <a:spcAft>
                <a:spcPts val="0"/>
              </a:spcAft>
              <a:buSzPts val="132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Naïve Bayes Classifier Algorithm</a:t>
            </a:r>
            <a:endParaRPr/>
          </a:p>
        </p:txBody>
      </p:sp>
      <p:sp>
        <p:nvSpPr>
          <p:cNvPr id="75" name="Google Shape;75;p2"/>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560"/>
              <a:buFont typeface="Noto Sans Symbols"/>
              <a:buChar char="❑"/>
            </a:pPr>
            <a:r>
              <a:rPr b="0" i="0" lang="en-US" sz="2600" u="none" cap="none" strike="noStrike">
                <a:solidFill>
                  <a:schemeClr val="dk1"/>
                </a:solidFill>
                <a:latin typeface="Times New Roman"/>
                <a:ea typeface="Times New Roman"/>
                <a:cs typeface="Times New Roman"/>
                <a:sym typeface="Times New Roman"/>
              </a:rPr>
              <a:t>Naïve Bayes (NB) algorithm is a supervised learning algorithm, which is based on Bayes theorem and used for solving classification problems.</a:t>
            </a:r>
            <a:endParaRPr/>
          </a:p>
          <a:p>
            <a:pPr indent="-319087" lvl="0" marL="319087" marR="0" rtl="0" algn="just">
              <a:lnSpc>
                <a:spcPct val="100000"/>
              </a:lnSpc>
              <a:spcBef>
                <a:spcPts val="700"/>
              </a:spcBef>
              <a:spcAft>
                <a:spcPts val="0"/>
              </a:spcAft>
              <a:buClr>
                <a:srgbClr val="00B0F0"/>
              </a:buClr>
              <a:buSzPts val="1560"/>
              <a:buFont typeface="Noto Sans Symbols"/>
              <a:buChar char="❑"/>
            </a:pPr>
            <a:r>
              <a:rPr b="0" i="0" lang="en-US" sz="2600" u="none" cap="none" strike="noStrike">
                <a:solidFill>
                  <a:schemeClr val="dk1"/>
                </a:solidFill>
                <a:latin typeface="Times New Roman"/>
                <a:ea typeface="Times New Roman"/>
                <a:cs typeface="Times New Roman"/>
                <a:sym typeface="Times New Roman"/>
              </a:rPr>
              <a:t>It has been successfully used for many purposes, but it works particularly well with natural language processing (NLP) problems. It is mainly used in text classification.</a:t>
            </a:r>
            <a:endParaRPr/>
          </a:p>
          <a:p>
            <a:pPr indent="-319087" lvl="0" marL="319087" marR="0" rtl="0" algn="just">
              <a:lnSpc>
                <a:spcPct val="100000"/>
              </a:lnSpc>
              <a:spcBef>
                <a:spcPts val="700"/>
              </a:spcBef>
              <a:spcAft>
                <a:spcPts val="0"/>
              </a:spcAft>
              <a:buClr>
                <a:srgbClr val="00B0F0"/>
              </a:buClr>
              <a:buSzPts val="1560"/>
              <a:buFont typeface="Noto Sans Symbols"/>
              <a:buChar char="❑"/>
            </a:pPr>
            <a:r>
              <a:rPr b="0" i="0" lang="en-US" sz="2600" u="none" cap="none" strike="noStrike">
                <a:solidFill>
                  <a:schemeClr val="dk1"/>
                </a:solidFill>
                <a:latin typeface="Times New Roman"/>
                <a:ea typeface="Times New Roman"/>
                <a:cs typeface="Times New Roman"/>
                <a:sym typeface="Times New Roman"/>
              </a:rPr>
              <a:t>It is a probabilistic classifier, which means it predicts on the basis of the probability of an object.</a:t>
            </a:r>
            <a:endParaRPr/>
          </a:p>
          <a:p>
            <a:pPr indent="-319087" lvl="0" marL="319087" marR="0" rtl="0" algn="just">
              <a:lnSpc>
                <a:spcPct val="100000"/>
              </a:lnSpc>
              <a:spcBef>
                <a:spcPts val="700"/>
              </a:spcBef>
              <a:spcAft>
                <a:spcPts val="0"/>
              </a:spcAft>
              <a:buClr>
                <a:srgbClr val="00B0F0"/>
              </a:buClr>
              <a:buSzPts val="1560"/>
              <a:buFont typeface="Noto Sans Symbols"/>
              <a:buChar char="❑"/>
            </a:pPr>
            <a:r>
              <a:rPr b="0" i="0" lang="en-US" sz="2600" u="none" cap="none" strike="noStrike">
                <a:solidFill>
                  <a:schemeClr val="dk1"/>
                </a:solidFill>
                <a:latin typeface="Times New Roman"/>
                <a:ea typeface="Times New Roman"/>
                <a:cs typeface="Times New Roman"/>
                <a:sym typeface="Times New Roman"/>
              </a:rPr>
              <a:t>Some popular examples of Naïve Bayes Algorithm are spam filtration, Sentimental analysis, and classifying articles.</a:t>
            </a:r>
            <a:endParaRPr/>
          </a:p>
        </p:txBody>
      </p:sp>
      <p:sp>
        <p:nvSpPr>
          <p:cNvPr id="76" name="Google Shape;76;p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Bayes' Theorem</a:t>
            </a:r>
            <a:endParaRPr/>
          </a:p>
        </p:txBody>
      </p:sp>
      <p:sp>
        <p:nvSpPr>
          <p:cNvPr id="84" name="Google Shape;84;p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85" name="Google Shape;85;p3"/>
          <p:cNvSpPr txBox="1"/>
          <p:nvPr>
            <p:ph idx="1" type="body"/>
          </p:nvPr>
        </p:nvSpPr>
        <p:spPr>
          <a:xfrm>
            <a:off x="457200" y="1752600"/>
            <a:ext cx="8531225" cy="5105400"/>
          </a:xfrm>
          <a:prstGeom prst="rect">
            <a:avLst/>
          </a:prstGeom>
          <a:noFill/>
          <a:ln>
            <a:noFill/>
          </a:ln>
        </p:spPr>
        <p:txBody>
          <a:bodyPr anchorCtr="0" anchor="t" bIns="45700" lIns="91425" spcFirstLastPara="1" rIns="91425" wrap="square" tIns="45700">
            <a:normAutofit/>
          </a:bodyPr>
          <a:lstStyle/>
          <a:p>
            <a:pPr indent="-319087" lvl="0" marL="319087" marR="0" rtl="0" algn="just">
              <a:lnSpc>
                <a:spcPct val="90000"/>
              </a:lnSpc>
              <a:spcBef>
                <a:spcPts val="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Bayes’ theorem is expressed in the following formula:</a:t>
            </a:r>
            <a:endParaRPr/>
          </a:p>
          <a:p>
            <a:pPr indent="-212407" lvl="0" marL="319087"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212407" lvl="0" marL="319087"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19087" lvl="0" marL="319087"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P(A|B) – The probability of event A occurring, given event B has occurred also called </a:t>
            </a:r>
            <a:r>
              <a:rPr b="1" i="0" lang="en-US" sz="2800" u="none" cap="none" strike="noStrike">
                <a:solidFill>
                  <a:schemeClr val="dk1"/>
                </a:solidFill>
                <a:latin typeface="Times New Roman"/>
                <a:ea typeface="Times New Roman"/>
                <a:cs typeface="Times New Roman"/>
                <a:sym typeface="Times New Roman"/>
              </a:rPr>
              <a:t>Posterior probability</a:t>
            </a:r>
            <a:endParaRPr/>
          </a:p>
          <a:p>
            <a:pPr indent="-319087" lvl="0" marL="319087"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P(B|A) – The probability of event B occurring, given event A has occurred also called </a:t>
            </a:r>
            <a:r>
              <a:rPr b="1" i="0" lang="en-US" sz="2800" u="none" cap="none" strike="noStrike">
                <a:solidFill>
                  <a:schemeClr val="dk1"/>
                </a:solidFill>
                <a:latin typeface="Times New Roman"/>
                <a:ea typeface="Times New Roman"/>
                <a:cs typeface="Times New Roman"/>
                <a:sym typeface="Times New Roman"/>
              </a:rPr>
              <a:t>Likelihood probability</a:t>
            </a:r>
            <a:endParaRPr/>
          </a:p>
          <a:p>
            <a:pPr indent="-319087" lvl="0" marL="319087"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P(A) – The probability of event A</a:t>
            </a:r>
            <a:endParaRPr/>
          </a:p>
          <a:p>
            <a:pPr indent="-319087" lvl="0" marL="319087"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P(B) – The probability of event B</a:t>
            </a:r>
            <a:endParaRPr/>
          </a:p>
          <a:p>
            <a:pPr indent="-212407" lvl="0" marL="319087"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212408" lvl="0" marL="319088"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pic>
        <p:nvPicPr>
          <p:cNvPr id="86" name="Google Shape;86;p3"/>
          <p:cNvPicPr preferRelativeResize="0"/>
          <p:nvPr/>
        </p:nvPicPr>
        <p:blipFill rotWithShape="1">
          <a:blip r:embed="rId3">
            <a:alphaModFix/>
          </a:blip>
          <a:srcRect b="0" l="0" r="0" t="0"/>
          <a:stretch/>
        </p:blipFill>
        <p:spPr>
          <a:xfrm>
            <a:off x="2514600" y="2362200"/>
            <a:ext cx="4419600" cy="121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1" i="0" lang="en-US" sz="4000" u="none">
                <a:solidFill>
                  <a:schemeClr val="dk2"/>
                </a:solidFill>
                <a:latin typeface="Times New Roman"/>
                <a:ea typeface="Times New Roman"/>
                <a:cs typeface="Times New Roman"/>
                <a:sym typeface="Times New Roman"/>
              </a:rPr>
              <a:t>Assumptions Made by Naïve Bayes</a:t>
            </a:r>
            <a:br>
              <a:rPr b="1" i="0" lang="en-US" sz="4400" u="none">
                <a:solidFill>
                  <a:schemeClr val="dk2"/>
                </a:solidFill>
                <a:latin typeface="Times New Roman"/>
                <a:ea typeface="Times New Roman"/>
                <a:cs typeface="Times New Roman"/>
                <a:sym typeface="Times New Roman"/>
              </a:rPr>
            </a:br>
            <a:r>
              <a:rPr b="1" i="0" lang="en-US" sz="4400" u="none">
                <a:solidFill>
                  <a:schemeClr val="dk2"/>
                </a:solidFill>
                <a:latin typeface="Times New Roman"/>
                <a:ea typeface="Times New Roman"/>
                <a:cs typeface="Times New Roman"/>
                <a:sym typeface="Times New Roman"/>
              </a:rPr>
              <a:t> </a:t>
            </a:r>
            <a:endParaRPr/>
          </a:p>
        </p:txBody>
      </p:sp>
      <p:sp>
        <p:nvSpPr>
          <p:cNvPr id="94" name="Google Shape;94;p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95" name="Google Shape;95;p4"/>
          <p:cNvSpPr txBox="1"/>
          <p:nvPr>
            <p:ph idx="1" type="body"/>
          </p:nvPr>
        </p:nvSpPr>
        <p:spPr>
          <a:xfrm>
            <a:off x="381000" y="1752600"/>
            <a:ext cx="8531225" cy="510540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The fundamental Naïve Bayes assumption is that each feature makes an:</a:t>
            </a:r>
            <a:endParaRPr/>
          </a:p>
          <a:p>
            <a:pPr indent="-106679" lvl="0" marL="0" marR="0" rtl="0" algn="just">
              <a:lnSpc>
                <a:spcPct val="100000"/>
              </a:lnSpc>
              <a:spcBef>
                <a:spcPts val="700"/>
              </a:spcBef>
              <a:spcAft>
                <a:spcPts val="0"/>
              </a:spcAft>
              <a:buClr>
                <a:srgbClr val="00B0F0"/>
              </a:buClr>
              <a:buSzPts val="1680"/>
              <a:buFont typeface="Noto Sans Symbols"/>
              <a:buChar char="◻"/>
            </a:pPr>
            <a:r>
              <a:rPr b="0" i="0" lang="en-US" sz="2800" u="none">
                <a:solidFill>
                  <a:schemeClr val="dk1"/>
                </a:solidFill>
                <a:latin typeface="Times New Roman"/>
                <a:ea typeface="Times New Roman"/>
                <a:cs typeface="Times New Roman"/>
                <a:sym typeface="Times New Roman"/>
              </a:rPr>
              <a:t>Independent</a:t>
            </a:r>
            <a:endParaRPr/>
          </a:p>
          <a:p>
            <a:pPr indent="-106679" lvl="0" marL="0" marR="0" rtl="0" algn="just">
              <a:lnSpc>
                <a:spcPct val="100000"/>
              </a:lnSpc>
              <a:spcBef>
                <a:spcPts val="700"/>
              </a:spcBef>
              <a:spcAft>
                <a:spcPts val="0"/>
              </a:spcAft>
              <a:buClr>
                <a:srgbClr val="00B0F0"/>
              </a:buClr>
              <a:buSzPts val="1680"/>
              <a:buFont typeface="Noto Sans Symbols"/>
              <a:buChar char="◻"/>
            </a:pPr>
            <a:r>
              <a:rPr b="0" i="0" lang="en-US" sz="2800" u="none">
                <a:solidFill>
                  <a:schemeClr val="dk1"/>
                </a:solidFill>
                <a:latin typeface="Times New Roman"/>
                <a:ea typeface="Times New Roman"/>
                <a:cs typeface="Times New Roman"/>
                <a:sym typeface="Times New Roman"/>
              </a:rPr>
              <a:t>Equal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The dataset is represented as below.</a:t>
            </a:r>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Here in our dataset, </a:t>
            </a:r>
            <a:r>
              <a:rPr b="1" i="0" lang="en-US" sz="2600" u="none">
                <a:solidFill>
                  <a:schemeClr val="dk1"/>
                </a:solidFill>
                <a:latin typeface="Times New Roman"/>
                <a:ea typeface="Times New Roman"/>
                <a:cs typeface="Times New Roman"/>
                <a:sym typeface="Times New Roman"/>
              </a:rPr>
              <a:t>we need to classify whether the car is stolen, given the features of the car.</a:t>
            </a:r>
            <a:endParaRPr/>
          </a:p>
        </p:txBody>
      </p:sp>
      <p:sp>
        <p:nvSpPr>
          <p:cNvPr id="103" name="Google Shape;103;p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04" name="Google Shape;104;p5"/>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05" name="Google Shape;105;p5"/>
          <p:cNvPicPr preferRelativeResize="0"/>
          <p:nvPr/>
        </p:nvPicPr>
        <p:blipFill rotWithShape="1">
          <a:blip r:embed="rId3">
            <a:alphaModFix/>
          </a:blip>
          <a:srcRect b="0" l="0" r="0" t="0"/>
          <a:stretch/>
        </p:blipFill>
        <p:spPr>
          <a:xfrm>
            <a:off x="914400" y="2286000"/>
            <a:ext cx="7391400" cy="3505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Concerning our dataset, the concept of assumptions made by the algorithm can be understood as:</a:t>
            </a:r>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99060" lvl="0" marL="0"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We assume that no pair of features are dependent. For example, the color being ‘Red’ has nothing to do with the Type or the Origin of the car. Hence, the features are assumed to be Independent.</a:t>
            </a:r>
            <a:endParaRPr/>
          </a:p>
          <a:p>
            <a:pPr indent="-99060" lvl="0" marL="0"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Secondly, each feature is given the same influence(or importance). For example, knowing the only Color and Type alone can’t predict the outcome perfectly. So none of the attributes are irrelevant and assumed to be contributing Equally to the outcome.</a:t>
            </a:r>
            <a:endParaRPr/>
          </a:p>
        </p:txBody>
      </p:sp>
      <p:sp>
        <p:nvSpPr>
          <p:cNvPr id="113" name="Google Shape;113;p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14" name="Google Shape;114;p6"/>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560"/>
              <a:buFont typeface="Noto Sans Symbols"/>
              <a:buChar char="◻"/>
            </a:pPr>
            <a:r>
              <a:rPr b="1" i="0" lang="en-US" sz="2600" u="none">
                <a:solidFill>
                  <a:schemeClr val="dk1"/>
                </a:solidFill>
                <a:latin typeface="Times New Roman"/>
                <a:ea typeface="Times New Roman"/>
                <a:cs typeface="Times New Roman"/>
                <a:sym typeface="Times New Roman"/>
              </a:rPr>
              <a:t>So we want to classify a Red, Domestic, SUV car is getting stolen or not. Note that there is no example of a Red Domestic SUV in our data set.</a:t>
            </a:r>
            <a:endParaRPr/>
          </a:p>
          <a:p>
            <a:pPr indent="-319087" lvl="0" marL="319087"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According to this example, Bayes theorem can be rewritten as:</a:t>
            </a:r>
            <a:endParaRPr/>
          </a:p>
          <a:p>
            <a:pPr indent="-319087"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The variable </a:t>
            </a:r>
            <a:r>
              <a:rPr b="1" i="1" lang="en-US" sz="2600" u="none">
                <a:solidFill>
                  <a:schemeClr val="dk1"/>
                </a:solidFill>
                <a:latin typeface="Quintessential"/>
                <a:ea typeface="Quintessential"/>
                <a:cs typeface="Quintessential"/>
                <a:sym typeface="Quintessential"/>
              </a:rPr>
              <a:t>y</a:t>
            </a:r>
            <a:r>
              <a:rPr b="0" i="0" lang="en-US" sz="2600" u="none">
                <a:solidFill>
                  <a:schemeClr val="dk1"/>
                </a:solidFill>
                <a:latin typeface="Times New Roman"/>
                <a:ea typeface="Times New Roman"/>
                <a:cs typeface="Times New Roman"/>
                <a:sym typeface="Times New Roman"/>
              </a:rPr>
              <a:t> is the class variable (stolen?), which represents if the car is stolen or not given the conditions. Variable X represents the features.</a:t>
            </a:r>
            <a:endParaRPr/>
          </a:p>
          <a:p>
            <a:pPr indent="-220028" lvl="0" marL="319088" marR="0" rtl="0" algn="l">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p:txBody>
      </p:sp>
      <p:sp>
        <p:nvSpPr>
          <p:cNvPr id="122" name="Google Shape;122;p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23" name="Google Shape;123;p7"/>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24" name="Google Shape;124;p7"/>
          <p:cNvPicPr preferRelativeResize="0"/>
          <p:nvPr/>
        </p:nvPicPr>
        <p:blipFill rotWithShape="1">
          <a:blip r:embed="rId3">
            <a:alphaModFix/>
          </a:blip>
          <a:srcRect b="0" l="0" r="0" t="0"/>
          <a:stretch/>
        </p:blipFill>
        <p:spPr>
          <a:xfrm>
            <a:off x="1295400" y="3886200"/>
            <a:ext cx="4610100" cy="114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X is given as: </a:t>
            </a:r>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Here x</a:t>
            </a:r>
            <a:r>
              <a:rPr b="0" i="0" lang="en-US" sz="1600" u="none">
                <a:solidFill>
                  <a:schemeClr val="dk1"/>
                </a:solidFill>
                <a:latin typeface="Times New Roman"/>
                <a:ea typeface="Times New Roman"/>
                <a:cs typeface="Times New Roman"/>
                <a:sym typeface="Times New Roman"/>
              </a:rPr>
              <a:t>1</a:t>
            </a:r>
            <a:r>
              <a:rPr b="0" i="0" lang="en-US" sz="2600" u="none">
                <a:solidFill>
                  <a:schemeClr val="dk1"/>
                </a:solidFill>
                <a:latin typeface="Times New Roman"/>
                <a:ea typeface="Times New Roman"/>
                <a:cs typeface="Times New Roman"/>
                <a:sym typeface="Times New Roman"/>
              </a:rPr>
              <a:t>, x</a:t>
            </a:r>
            <a:r>
              <a:rPr b="0" i="0" lang="en-US" sz="1600" u="none">
                <a:solidFill>
                  <a:schemeClr val="dk1"/>
                </a:solidFill>
                <a:latin typeface="Times New Roman"/>
                <a:ea typeface="Times New Roman"/>
                <a:cs typeface="Times New Roman"/>
                <a:sym typeface="Times New Roman"/>
              </a:rPr>
              <a:t>2</a:t>
            </a:r>
            <a:r>
              <a:rPr b="0" i="0" lang="en-US" sz="2600" u="none">
                <a:solidFill>
                  <a:schemeClr val="dk1"/>
                </a:solidFill>
                <a:latin typeface="Times New Roman"/>
                <a:ea typeface="Times New Roman"/>
                <a:cs typeface="Times New Roman"/>
                <a:sym typeface="Times New Roman"/>
              </a:rPr>
              <a:t>…, x</a:t>
            </a:r>
            <a:r>
              <a:rPr b="0" i="0" lang="en-US" sz="1600" u="none">
                <a:solidFill>
                  <a:schemeClr val="dk1"/>
                </a:solidFill>
                <a:latin typeface="Times New Roman"/>
                <a:ea typeface="Times New Roman"/>
                <a:cs typeface="Times New Roman"/>
                <a:sym typeface="Times New Roman"/>
              </a:rPr>
              <a:t>n</a:t>
            </a:r>
            <a:r>
              <a:rPr b="0" i="0" lang="en-US" sz="2600" u="none">
                <a:solidFill>
                  <a:schemeClr val="dk1"/>
                </a:solidFill>
                <a:latin typeface="Times New Roman"/>
                <a:ea typeface="Times New Roman"/>
                <a:cs typeface="Times New Roman"/>
                <a:sym typeface="Times New Roman"/>
              </a:rPr>
              <a:t> represent the features, i.e they can be mapped to Color, Type, and Origin.</a:t>
            </a:r>
            <a:endParaRPr/>
          </a:p>
          <a:p>
            <a:pPr indent="-99060" lvl="0" marL="0"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By substituting for X and expanding using the chain rule we get:</a:t>
            </a:r>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99060" lvl="0" marL="0"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For all entries in the dataset, the denominator does not change, it remains static. Therefore, the denominator can be removed. </a:t>
            </a:r>
            <a:endParaRPr/>
          </a:p>
          <a:p>
            <a:pPr indent="-220028" lvl="0" marL="319088" marR="0" rtl="0" algn="l">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p:txBody>
      </p:sp>
      <p:sp>
        <p:nvSpPr>
          <p:cNvPr id="132" name="Google Shape;132;p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34" name="Google Shape;134;p8"/>
          <p:cNvPicPr preferRelativeResize="0"/>
          <p:nvPr/>
        </p:nvPicPr>
        <p:blipFill rotWithShape="1">
          <a:blip r:embed="rId3">
            <a:alphaModFix/>
          </a:blip>
          <a:srcRect b="0" l="0" r="0" t="0"/>
          <a:stretch/>
        </p:blipFill>
        <p:spPr>
          <a:xfrm>
            <a:off x="2743200" y="1535112"/>
            <a:ext cx="5181600" cy="819150"/>
          </a:xfrm>
          <a:prstGeom prst="rect">
            <a:avLst/>
          </a:prstGeom>
          <a:noFill/>
          <a:ln>
            <a:noFill/>
          </a:ln>
        </p:spPr>
      </p:pic>
      <p:pic>
        <p:nvPicPr>
          <p:cNvPr id="135" name="Google Shape;135;p8"/>
          <p:cNvPicPr preferRelativeResize="0"/>
          <p:nvPr/>
        </p:nvPicPr>
        <p:blipFill rotWithShape="1">
          <a:blip r:embed="rId4">
            <a:alphaModFix/>
          </a:blip>
          <a:srcRect b="0" l="0" r="0" t="0"/>
          <a:stretch/>
        </p:blipFill>
        <p:spPr>
          <a:xfrm>
            <a:off x="1195387" y="4268787"/>
            <a:ext cx="7720012" cy="101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Then we get the following proportionality condition:</a:t>
            </a:r>
            <a:endParaRPr/>
          </a:p>
          <a:p>
            <a:pPr indent="-220025"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220025"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220025"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560"/>
              <a:buFont typeface="Noto Sans Symbols"/>
              <a:buChar char="◻"/>
            </a:pPr>
            <a:r>
              <a:rPr b="0" i="0" lang="en-US" sz="2600" u="none">
                <a:solidFill>
                  <a:schemeClr val="dk1"/>
                </a:solidFill>
                <a:latin typeface="Times New Roman"/>
                <a:ea typeface="Times New Roman"/>
                <a:cs typeface="Times New Roman"/>
                <a:sym typeface="Times New Roman"/>
              </a:rPr>
              <a:t>In our case, the class variable(y) has only two outcomes, yes or no. There could be cases where the classification could be multivariate. Therefore, we have to find the class variable(y) with maximum probability.</a:t>
            </a:r>
            <a:endParaRPr/>
          </a:p>
          <a:p>
            <a:pPr indent="-319087" lvl="0" marL="319087" marR="0" rtl="0" algn="just">
              <a:lnSpc>
                <a:spcPct val="100000"/>
              </a:lnSpc>
              <a:spcBef>
                <a:spcPts val="70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 </a:t>
            </a:r>
            <a:endParaRPr/>
          </a:p>
          <a:p>
            <a:pPr indent="-220025" lvl="0" marL="319087" marR="0" rtl="0" algn="just">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560"/>
              <a:buFont typeface="Noto Sans Symbols"/>
              <a:buNone/>
            </a:pPr>
            <a:r>
              <a:rPr b="0" i="0" lang="en-US" sz="2600" u="none">
                <a:solidFill>
                  <a:schemeClr val="dk1"/>
                </a:solidFill>
                <a:latin typeface="Times New Roman"/>
                <a:ea typeface="Times New Roman"/>
                <a:cs typeface="Times New Roman"/>
                <a:sym typeface="Times New Roman"/>
              </a:rPr>
              <a:t>Using the above function, we can obtain the class.</a:t>
            </a:r>
            <a:endParaRPr/>
          </a:p>
          <a:p>
            <a:pPr indent="-220028" lvl="0" marL="319088" marR="0" rtl="0" algn="l">
              <a:lnSpc>
                <a:spcPct val="100000"/>
              </a:lnSpc>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p:txBody>
      </p:sp>
      <p:sp>
        <p:nvSpPr>
          <p:cNvPr id="143" name="Google Shape;143;p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44" name="Google Shape;144;p9"/>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45" name="Google Shape;145;p9"/>
          <p:cNvPicPr preferRelativeResize="0"/>
          <p:nvPr/>
        </p:nvPicPr>
        <p:blipFill rotWithShape="1">
          <a:blip r:embed="rId3">
            <a:alphaModFix/>
          </a:blip>
          <a:srcRect b="0" l="0" r="0" t="0"/>
          <a:stretch/>
        </p:blipFill>
        <p:spPr>
          <a:xfrm>
            <a:off x="465137" y="2303462"/>
            <a:ext cx="7848600" cy="838200"/>
          </a:xfrm>
          <a:prstGeom prst="rect">
            <a:avLst/>
          </a:prstGeom>
          <a:noFill/>
          <a:ln>
            <a:noFill/>
          </a:ln>
        </p:spPr>
      </p:pic>
      <p:pic>
        <p:nvPicPr>
          <p:cNvPr id="146" name="Google Shape;146;p9"/>
          <p:cNvPicPr preferRelativeResize="0"/>
          <p:nvPr/>
        </p:nvPicPr>
        <p:blipFill rotWithShape="1">
          <a:blip r:embed="rId4">
            <a:alphaModFix/>
          </a:blip>
          <a:srcRect b="0" l="0" r="0" t="0"/>
          <a:stretch/>
        </p:blipFill>
        <p:spPr>
          <a:xfrm>
            <a:off x="571500" y="5181600"/>
            <a:ext cx="7124700" cy="800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The posterior probability </a:t>
            </a:r>
            <a:r>
              <a:rPr b="1" i="0" lang="en-US" sz="2800" u="none">
                <a:solidFill>
                  <a:schemeClr val="dk1"/>
                </a:solidFill>
                <a:latin typeface="Times New Roman"/>
                <a:ea typeface="Times New Roman"/>
                <a:cs typeface="Times New Roman"/>
                <a:sym typeface="Times New Roman"/>
              </a:rPr>
              <a:t>P(y|X)</a:t>
            </a:r>
            <a:r>
              <a:rPr b="0" i="0" lang="en-US" sz="2800" u="none">
                <a:solidFill>
                  <a:schemeClr val="dk1"/>
                </a:solidFill>
                <a:latin typeface="Times New Roman"/>
                <a:ea typeface="Times New Roman"/>
                <a:cs typeface="Times New Roman"/>
                <a:sym typeface="Times New Roman"/>
              </a:rPr>
              <a:t> can be calculated by first, creating a Frequency Table for each attribute against the target. </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Then, creating the frequency tables to Likelihood Tables.</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Finally, use the Naïve Bayesian equation to calculate the posterior probability for each class. </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The class with the highest posterior probability is the outcome of the prediction. </a:t>
            </a:r>
            <a:endParaRPr/>
          </a:p>
        </p:txBody>
      </p:sp>
      <p:sp>
        <p:nvSpPr>
          <p:cNvPr id="154" name="Google Shape;154;p1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55" name="Google Shape;155;p10"/>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Below are the Frequency and likelihood tables for all three predictors.</a:t>
            </a:r>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          Frequency and Likelihood tables of ‘Color’</a:t>
            </a:r>
            <a:endParaRPr/>
          </a:p>
        </p:txBody>
      </p:sp>
      <p:sp>
        <p:nvSpPr>
          <p:cNvPr id="163" name="Google Shape;163;p1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64" name="Google Shape;164;p11"/>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65" name="Google Shape;165;p11"/>
          <p:cNvPicPr preferRelativeResize="0"/>
          <p:nvPr/>
        </p:nvPicPr>
        <p:blipFill rotWithShape="1">
          <a:blip r:embed="rId3">
            <a:alphaModFix/>
          </a:blip>
          <a:srcRect b="0" l="0" r="0" t="0"/>
          <a:stretch/>
        </p:blipFill>
        <p:spPr>
          <a:xfrm>
            <a:off x="823912" y="2590800"/>
            <a:ext cx="7496175" cy="3495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 Frequency and Likelihood tables of ‘Type’</a:t>
            </a:r>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          </a:t>
            </a:r>
            <a:endParaRPr/>
          </a:p>
        </p:txBody>
      </p:sp>
      <p:sp>
        <p:nvSpPr>
          <p:cNvPr id="173" name="Google Shape;173;p1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74" name="Google Shape;174;p12"/>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75" name="Google Shape;175;p12"/>
          <p:cNvPicPr preferRelativeResize="0"/>
          <p:nvPr/>
        </p:nvPicPr>
        <p:blipFill rotWithShape="1">
          <a:blip r:embed="rId3">
            <a:alphaModFix/>
          </a:blip>
          <a:srcRect b="0" l="0" r="0" t="0"/>
          <a:stretch/>
        </p:blipFill>
        <p:spPr>
          <a:xfrm>
            <a:off x="639762" y="2590800"/>
            <a:ext cx="7496175" cy="349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 Frequency and Likelihood tables of ‘Origin’</a:t>
            </a:r>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rPr b="0" i="0" lang="en-US" sz="2800" u="none">
                <a:solidFill>
                  <a:schemeClr val="dk1"/>
                </a:solidFill>
                <a:latin typeface="Times New Roman"/>
                <a:ea typeface="Times New Roman"/>
                <a:cs typeface="Times New Roman"/>
                <a:sym typeface="Times New Roman"/>
              </a:rPr>
              <a:t>          </a:t>
            </a:r>
            <a:endParaRPr/>
          </a:p>
        </p:txBody>
      </p:sp>
      <p:sp>
        <p:nvSpPr>
          <p:cNvPr id="183" name="Google Shape;183;p1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84" name="Google Shape;184;p13"/>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85" name="Google Shape;185;p13"/>
          <p:cNvPicPr preferRelativeResize="0"/>
          <p:nvPr/>
        </p:nvPicPr>
        <p:blipFill rotWithShape="1">
          <a:blip r:embed="rId3">
            <a:alphaModFix/>
          </a:blip>
          <a:srcRect b="0" l="0" r="0" t="0"/>
          <a:stretch/>
        </p:blipFill>
        <p:spPr>
          <a:xfrm>
            <a:off x="762000" y="2667000"/>
            <a:ext cx="7496175" cy="3733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So in our example, we have 3 predictors X.</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None/>
            </a:pPr>
            <a:r>
              <a:t/>
            </a:r>
            <a:endParaRPr sz="2400">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we can calculate the posterior probability P(Yes | X) as</a:t>
            </a:r>
            <a:endParaRPr/>
          </a:p>
          <a:p>
            <a:pPr indent="0" lvl="0" marL="457200" rtl="0" algn="l">
              <a:lnSpc>
                <a:spcPct val="115000"/>
              </a:lnSpc>
              <a:spcBef>
                <a:spcPts val="0"/>
              </a:spcBef>
              <a:spcAft>
                <a:spcPts val="0"/>
              </a:spcAft>
              <a:buNone/>
            </a:pPr>
            <a:r>
              <a:rPr b="1" lang="en-US" sz="1400">
                <a:latin typeface="Arial"/>
                <a:ea typeface="Arial"/>
                <a:cs typeface="Arial"/>
                <a:sym typeface="Arial"/>
              </a:rPr>
              <a:t>P(Yes|Red,SUV,Domestic) = P(Red|Yes)* P(SUV|Yes) * P(Domestic|Yes)* P(Yes)</a:t>
            </a:r>
            <a:endParaRPr b="1" sz="1400">
              <a:latin typeface="Arial"/>
              <a:ea typeface="Arial"/>
              <a:cs typeface="Arial"/>
              <a:sym typeface="Arial"/>
            </a:endParaRPr>
          </a:p>
          <a:p>
            <a:pPr indent="0" lvl="0" marL="457200" rtl="0" algn="l">
              <a:lnSpc>
                <a:spcPct val="115000"/>
              </a:lnSpc>
              <a:spcBef>
                <a:spcPts val="0"/>
              </a:spcBef>
              <a:spcAft>
                <a:spcPts val="0"/>
              </a:spcAft>
              <a:buNone/>
            </a:pPr>
            <a:r>
              <a:rPr b="1" lang="en-US" sz="1400">
                <a:latin typeface="Arial"/>
                <a:ea typeface="Arial"/>
                <a:cs typeface="Arial"/>
                <a:sym typeface="Arial"/>
              </a:rPr>
              <a:t>			         = ⅗ * ⅕ * ⅖ * 0.5</a:t>
            </a:r>
            <a:endParaRPr b="1" sz="1400">
              <a:latin typeface="Arial"/>
              <a:ea typeface="Arial"/>
              <a:cs typeface="Arial"/>
              <a:sym typeface="Arial"/>
            </a:endParaRPr>
          </a:p>
          <a:p>
            <a:pPr indent="0" lvl="0" marL="457200" rtl="0" algn="l">
              <a:lnSpc>
                <a:spcPct val="115000"/>
              </a:lnSpc>
              <a:spcBef>
                <a:spcPts val="0"/>
              </a:spcBef>
              <a:spcAft>
                <a:spcPts val="0"/>
              </a:spcAft>
              <a:buNone/>
            </a:pPr>
            <a:r>
              <a:rPr b="1" lang="en-US" sz="1400">
                <a:latin typeface="Arial"/>
                <a:ea typeface="Arial"/>
                <a:cs typeface="Arial"/>
                <a:sym typeface="Arial"/>
              </a:rPr>
              <a:t>                                            = 0.024</a:t>
            </a:r>
            <a:endParaRPr b="1" sz="1400">
              <a:latin typeface="Arial"/>
              <a:ea typeface="Arial"/>
              <a:cs typeface="Arial"/>
              <a:sym typeface="Arial"/>
            </a:endParaRPr>
          </a:p>
          <a:p>
            <a:pPr indent="0" lvl="0" marL="457200" rtl="0" algn="l">
              <a:lnSpc>
                <a:spcPct val="115000"/>
              </a:lnSpc>
              <a:spcBef>
                <a:spcPts val="0"/>
              </a:spcBef>
              <a:spcAft>
                <a:spcPts val="0"/>
              </a:spcAft>
              <a:buNone/>
            </a:pPr>
            <a:r>
              <a:rPr b="0" i="0" lang="en-US" sz="2400" u="none">
                <a:solidFill>
                  <a:schemeClr val="dk1"/>
                </a:solidFill>
                <a:latin typeface="Times New Roman"/>
                <a:ea typeface="Times New Roman"/>
                <a:cs typeface="Times New Roman"/>
                <a:sym typeface="Times New Roman"/>
              </a:rPr>
              <a:t> P( No | X ) as</a:t>
            </a:r>
            <a:endParaRPr/>
          </a:p>
          <a:p>
            <a:pPr indent="0" lvl="0" marL="0" rtl="0" algn="l">
              <a:lnSpc>
                <a:spcPct val="115000"/>
              </a:lnSpc>
              <a:spcBef>
                <a:spcPts val="0"/>
              </a:spcBef>
              <a:spcAft>
                <a:spcPts val="0"/>
              </a:spcAft>
              <a:buClr>
                <a:schemeClr val="dk1"/>
              </a:buClr>
              <a:buSzPts val="1100"/>
              <a:buFont typeface="Arial"/>
              <a:buNone/>
            </a:pPr>
            <a:r>
              <a:rPr b="1" lang="en-US" sz="1400">
                <a:latin typeface="Arial"/>
                <a:ea typeface="Arial"/>
                <a:cs typeface="Arial"/>
                <a:sym typeface="Arial"/>
              </a:rPr>
              <a:t>         </a:t>
            </a:r>
            <a:r>
              <a:rPr b="1" lang="en-US" sz="1400">
                <a:latin typeface="Arial"/>
                <a:ea typeface="Arial"/>
                <a:cs typeface="Arial"/>
                <a:sym typeface="Arial"/>
              </a:rPr>
              <a:t>P(No|Red,SUV,Domestic) = P(Red|No)* P(SUV|No) * P(Domestic|No)* P(No)</a:t>
            </a:r>
            <a:endParaRPr b="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400">
                <a:latin typeface="Arial"/>
                <a:ea typeface="Arial"/>
                <a:cs typeface="Arial"/>
                <a:sym typeface="Arial"/>
              </a:rPr>
              <a:t>					= ⅖*⅗ * ⅗ * 0.5 </a:t>
            </a:r>
            <a:endParaRPr b="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400">
                <a:latin typeface="Arial"/>
                <a:ea typeface="Arial"/>
                <a:cs typeface="Arial"/>
                <a:sym typeface="Arial"/>
              </a:rPr>
              <a:t>					= 0.072</a:t>
            </a:r>
            <a:endParaRPr sz="2700">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Since 0.</a:t>
            </a:r>
            <a:r>
              <a:rPr lang="en-US" sz="2400">
                <a:latin typeface="Times New Roman"/>
                <a:ea typeface="Times New Roman"/>
                <a:cs typeface="Times New Roman"/>
                <a:sym typeface="Times New Roman"/>
              </a:rPr>
              <a:t>072</a:t>
            </a:r>
            <a:r>
              <a:rPr b="0" i="0" lang="en-US" sz="2400" u="none">
                <a:solidFill>
                  <a:schemeClr val="dk1"/>
                </a:solidFill>
                <a:latin typeface="Times New Roman"/>
                <a:ea typeface="Times New Roman"/>
                <a:cs typeface="Times New Roman"/>
                <a:sym typeface="Times New Roman"/>
              </a:rPr>
              <a:t> &gt; 0.0</a:t>
            </a:r>
            <a:r>
              <a:rPr lang="en-US" sz="2400">
                <a:latin typeface="Times New Roman"/>
                <a:ea typeface="Times New Roman"/>
                <a:cs typeface="Times New Roman"/>
                <a:sym typeface="Times New Roman"/>
              </a:rPr>
              <a:t>24</a:t>
            </a:r>
            <a:r>
              <a:rPr b="0" i="0" lang="en-US" sz="2400" u="none">
                <a:solidFill>
                  <a:schemeClr val="dk1"/>
                </a:solidFill>
                <a:latin typeface="Times New Roman"/>
                <a:ea typeface="Times New Roman"/>
                <a:cs typeface="Times New Roman"/>
                <a:sym typeface="Times New Roman"/>
              </a:rPr>
              <a:t>, Which means given the features RED SUV and Domestic, our example gets classified as ’NO’ the car is not stolen.</a:t>
            </a:r>
            <a:endParaRPr/>
          </a:p>
        </p:txBody>
      </p:sp>
      <p:sp>
        <p:nvSpPr>
          <p:cNvPr id="193" name="Google Shape;193;p1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194" name="Google Shape;194;p14"/>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cap="none" strike="noStrike">
                <a:solidFill>
                  <a:schemeClr val="dk1"/>
                </a:solidFill>
                <a:latin typeface="Times New Roman"/>
                <a:ea typeface="Times New Roman"/>
                <a:cs typeface="Times New Roman"/>
                <a:sym typeface="Times New Roman"/>
              </a:rPr>
              <a:t>Naïve Bayes Example</a:t>
            </a:r>
            <a:endParaRPr b="0" i="0" sz="1400" u="none" cap="none" strike="noStrike">
              <a:solidFill>
                <a:srgbClr val="000000"/>
              </a:solidFill>
              <a:latin typeface="Arial"/>
              <a:ea typeface="Arial"/>
              <a:cs typeface="Arial"/>
              <a:sym typeface="Arial"/>
            </a:endParaRPr>
          </a:p>
        </p:txBody>
      </p:sp>
      <p:pic>
        <p:nvPicPr>
          <p:cNvPr id="195" name="Google Shape;195;p14"/>
          <p:cNvPicPr preferRelativeResize="0"/>
          <p:nvPr/>
        </p:nvPicPr>
        <p:blipFill rotWithShape="1">
          <a:blip r:embed="rId3">
            <a:alphaModFix/>
          </a:blip>
          <a:srcRect b="0" l="0" r="0" t="0"/>
          <a:stretch/>
        </p:blipFill>
        <p:spPr>
          <a:xfrm>
            <a:off x="990600" y="2143125"/>
            <a:ext cx="6248400" cy="812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6"/>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620"/>
              <a:buFont typeface="Noto Sans Symbols"/>
              <a:buChar char="◻"/>
            </a:pPr>
            <a:r>
              <a:rPr b="1" i="0" lang="en-US" sz="2700" u="none">
                <a:solidFill>
                  <a:schemeClr val="dk1"/>
                </a:solidFill>
                <a:latin typeface="Times New Roman"/>
                <a:ea typeface="Times New Roman"/>
                <a:cs typeface="Times New Roman"/>
                <a:sym typeface="Times New Roman"/>
              </a:rPr>
              <a:t>Advantages of Naïve Bayes Classifier:</a:t>
            </a:r>
            <a:endParaRPr/>
          </a:p>
          <a:p>
            <a:pPr indent="-319087" lvl="0" marL="319087" marR="0" rtl="0" algn="just">
              <a:lnSpc>
                <a:spcPct val="100000"/>
              </a:lnSpc>
              <a:spcBef>
                <a:spcPts val="700"/>
              </a:spcBef>
              <a:spcAft>
                <a:spcPts val="0"/>
              </a:spcAft>
              <a:buClr>
                <a:schemeClr val="accent2"/>
              </a:buClr>
              <a:buSzPts val="1440"/>
              <a:buFont typeface="Arial"/>
              <a:buChar char="•"/>
            </a:pPr>
            <a:r>
              <a:rPr b="0" i="0" lang="en-US" sz="2400" u="none">
                <a:solidFill>
                  <a:schemeClr val="dk1"/>
                </a:solidFill>
                <a:latin typeface="Times New Roman"/>
                <a:ea typeface="Times New Roman"/>
                <a:cs typeface="Times New Roman"/>
                <a:sym typeface="Times New Roman"/>
              </a:rPr>
              <a:t>Naïve Bayes is one of the fast and easy ML algorithms to predict a class of datasets.</a:t>
            </a:r>
            <a:endParaRPr/>
          </a:p>
          <a:p>
            <a:pPr indent="-319087" lvl="0" marL="319087" marR="0" rtl="0" algn="just">
              <a:lnSpc>
                <a:spcPct val="100000"/>
              </a:lnSpc>
              <a:spcBef>
                <a:spcPts val="700"/>
              </a:spcBef>
              <a:spcAft>
                <a:spcPts val="0"/>
              </a:spcAft>
              <a:buClr>
                <a:schemeClr val="accent2"/>
              </a:buClr>
              <a:buSzPts val="1440"/>
              <a:buFont typeface="Arial"/>
              <a:buChar char="•"/>
            </a:pPr>
            <a:r>
              <a:rPr b="0" i="0" lang="en-US" sz="2400" u="none">
                <a:solidFill>
                  <a:schemeClr val="dk1"/>
                </a:solidFill>
                <a:latin typeface="Times New Roman"/>
                <a:ea typeface="Times New Roman"/>
                <a:cs typeface="Times New Roman"/>
                <a:sym typeface="Times New Roman"/>
              </a:rPr>
              <a:t>It can be used for Binary as well as Multi-class Classifications.</a:t>
            </a:r>
            <a:endParaRPr/>
          </a:p>
          <a:p>
            <a:pPr indent="-319087" lvl="0" marL="319087" marR="0" rtl="0" algn="just">
              <a:lnSpc>
                <a:spcPct val="100000"/>
              </a:lnSpc>
              <a:spcBef>
                <a:spcPts val="700"/>
              </a:spcBef>
              <a:spcAft>
                <a:spcPts val="0"/>
              </a:spcAft>
              <a:buClr>
                <a:schemeClr val="accent2"/>
              </a:buClr>
              <a:buSzPts val="1440"/>
              <a:buFont typeface="Arial"/>
              <a:buChar char="•"/>
            </a:pPr>
            <a:r>
              <a:rPr b="0" i="0" lang="en-US" sz="2400" u="none">
                <a:solidFill>
                  <a:schemeClr val="dk1"/>
                </a:solidFill>
                <a:latin typeface="Times New Roman"/>
                <a:ea typeface="Times New Roman"/>
                <a:cs typeface="Times New Roman"/>
                <a:sym typeface="Times New Roman"/>
              </a:rPr>
              <a:t>It performs well in Multi-class predictions as compared to the other Algorithms.</a:t>
            </a:r>
            <a:endParaRPr/>
          </a:p>
          <a:p>
            <a:pPr indent="-319087" lvl="0" marL="319087" marR="0" rtl="0" algn="just">
              <a:lnSpc>
                <a:spcPct val="100000"/>
              </a:lnSpc>
              <a:spcBef>
                <a:spcPts val="700"/>
              </a:spcBef>
              <a:spcAft>
                <a:spcPts val="0"/>
              </a:spcAft>
              <a:buClr>
                <a:schemeClr val="accent2"/>
              </a:buClr>
              <a:buSzPts val="1440"/>
              <a:buFont typeface="Arial"/>
              <a:buChar char="•"/>
            </a:pPr>
            <a:r>
              <a:rPr b="0" i="0" lang="en-US" sz="2400" u="none">
                <a:solidFill>
                  <a:schemeClr val="dk1"/>
                </a:solidFill>
                <a:latin typeface="Times New Roman"/>
                <a:ea typeface="Times New Roman"/>
                <a:cs typeface="Times New Roman"/>
                <a:sym typeface="Times New Roman"/>
              </a:rPr>
              <a:t>It is the most popular choice for text classification problems.</a:t>
            </a:r>
            <a:endParaRPr/>
          </a:p>
          <a:p>
            <a:pPr indent="-227647" lvl="0" marL="319087" marR="0" rtl="0" algn="just">
              <a:lnSpc>
                <a:spcPct val="100000"/>
              </a:lnSpc>
              <a:spcBef>
                <a:spcPts val="700"/>
              </a:spcBef>
              <a:spcAft>
                <a:spcPts val="0"/>
              </a:spcAft>
              <a:buClr>
                <a:schemeClr val="accent2"/>
              </a:buClr>
              <a:buSzPts val="1440"/>
              <a:buFont typeface="Arial"/>
              <a:buNone/>
            </a:pPr>
            <a:r>
              <a:t/>
            </a:r>
            <a:endParaRPr b="0" i="0" sz="24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620"/>
              <a:buFont typeface="Noto Sans Symbols"/>
              <a:buChar char="◻"/>
            </a:pPr>
            <a:r>
              <a:rPr b="1" i="0" lang="en-US" sz="2700" u="none">
                <a:solidFill>
                  <a:schemeClr val="dk1"/>
                </a:solidFill>
                <a:latin typeface="Times New Roman"/>
                <a:ea typeface="Times New Roman"/>
                <a:cs typeface="Times New Roman"/>
                <a:sym typeface="Times New Roman"/>
              </a:rPr>
              <a:t>Disadvantages of Naïve Bayes Classifier:</a:t>
            </a:r>
            <a:endParaRPr/>
          </a:p>
          <a:p>
            <a:pPr indent="-319087" lvl="0" marL="319087" marR="0" rtl="0" algn="just">
              <a:lnSpc>
                <a:spcPct val="100000"/>
              </a:lnSpc>
              <a:spcBef>
                <a:spcPts val="700"/>
              </a:spcBef>
              <a:spcAft>
                <a:spcPts val="0"/>
              </a:spcAft>
              <a:buClr>
                <a:schemeClr val="accent2"/>
              </a:buClr>
              <a:buSzPts val="1440"/>
              <a:buFont typeface="Arial"/>
              <a:buChar char="•"/>
            </a:pPr>
            <a:r>
              <a:rPr b="0" i="0" lang="en-US" sz="2400" u="none">
                <a:solidFill>
                  <a:schemeClr val="dk1"/>
                </a:solidFill>
                <a:latin typeface="Times New Roman"/>
                <a:ea typeface="Times New Roman"/>
                <a:cs typeface="Times New Roman"/>
                <a:sym typeface="Times New Roman"/>
              </a:rPr>
              <a:t>Naive Bayes assumes that all features are independent or unrelated, so it cannot learn the relationship between features.</a:t>
            </a:r>
            <a:endParaRPr/>
          </a:p>
        </p:txBody>
      </p:sp>
      <p:sp>
        <p:nvSpPr>
          <p:cNvPr id="203" name="Google Shape;203;p1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204" name="Google Shape;204;p16"/>
          <p:cNvSpPr txBox="1"/>
          <p:nvPr/>
        </p:nvSpPr>
        <p:spPr>
          <a:xfrm>
            <a:off x="571500" y="152400"/>
            <a:ext cx="8215312"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Advantages and Disadvantages of Naïve Bayes Classifier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txBox="1"/>
          <p:nvPr>
            <p:ph idx="1" type="body"/>
          </p:nvPr>
        </p:nvSpPr>
        <p:spPr>
          <a:xfrm>
            <a:off x="228600" y="1516062"/>
            <a:ext cx="8320087" cy="5265737"/>
          </a:xfrm>
          <a:prstGeom prst="rect">
            <a:avLst/>
          </a:prstGeom>
          <a:noFill/>
          <a:ln>
            <a:noFill/>
          </a:ln>
        </p:spPr>
        <p:txBody>
          <a:bodyPr anchorCtr="0" anchor="t" bIns="45700" lIns="91425" spcFirstLastPara="1" rIns="91425" wrap="square" tIns="45700">
            <a:noAutofit/>
          </a:bodyPr>
          <a:lstStyle/>
          <a:p>
            <a:pPr indent="-212407" lvl="0" marL="319087" marR="0" rtl="0" algn="just">
              <a:lnSpc>
                <a:spcPct val="100000"/>
              </a:lnSpc>
              <a:spcBef>
                <a:spcPts val="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It is used for </a:t>
            </a:r>
            <a:r>
              <a:rPr b="1" i="0" lang="en-US" sz="2800" u="none">
                <a:solidFill>
                  <a:schemeClr val="dk1"/>
                </a:solidFill>
                <a:latin typeface="Times New Roman"/>
                <a:ea typeface="Times New Roman"/>
                <a:cs typeface="Times New Roman"/>
                <a:sym typeface="Times New Roman"/>
              </a:rPr>
              <a:t>Credit Scoring</a:t>
            </a:r>
            <a:r>
              <a:rPr b="0" i="0" lang="en-US" sz="2800" u="none">
                <a:solidFill>
                  <a:schemeClr val="dk1"/>
                </a:solidFill>
                <a:latin typeface="Times New Roman"/>
                <a:ea typeface="Times New Roman"/>
                <a:cs typeface="Times New Roman"/>
                <a:sym typeface="Times New Roman"/>
              </a:rPr>
              <a:t>.</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It is used in </a:t>
            </a:r>
            <a:r>
              <a:rPr b="1" i="0" lang="en-US" sz="2800" u="none">
                <a:solidFill>
                  <a:schemeClr val="dk1"/>
                </a:solidFill>
                <a:latin typeface="Times New Roman"/>
                <a:ea typeface="Times New Roman"/>
                <a:cs typeface="Times New Roman"/>
                <a:sym typeface="Times New Roman"/>
              </a:rPr>
              <a:t>medical data classification</a:t>
            </a:r>
            <a:r>
              <a:rPr b="0" i="0" lang="en-US" sz="2800" u="none">
                <a:solidFill>
                  <a:schemeClr val="dk1"/>
                </a:solidFill>
                <a:latin typeface="Times New Roman"/>
                <a:ea typeface="Times New Roman"/>
                <a:cs typeface="Times New Roman"/>
                <a:sym typeface="Times New Roman"/>
              </a:rPr>
              <a:t>.</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It can be used in real-time predictions because Naïve Bayes Classifier is an eager learner.</a:t>
            </a:r>
            <a:endParaRPr/>
          </a:p>
          <a:p>
            <a:pPr indent="-319087" lvl="0" marL="319087" marR="0" rtl="0" algn="just">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It is used in Text classification such as </a:t>
            </a:r>
            <a:r>
              <a:rPr b="1" i="0" lang="en-US" sz="2800" u="none">
                <a:solidFill>
                  <a:schemeClr val="dk1"/>
                </a:solidFill>
                <a:latin typeface="Times New Roman"/>
                <a:ea typeface="Times New Roman"/>
                <a:cs typeface="Times New Roman"/>
                <a:sym typeface="Times New Roman"/>
              </a:rPr>
              <a:t>Spam filtering and Sentiment analysis.</a:t>
            </a:r>
            <a:endParaRPr/>
          </a:p>
        </p:txBody>
      </p:sp>
      <p:sp>
        <p:nvSpPr>
          <p:cNvPr id="212" name="Google Shape;212;p1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cap="none" strike="noStrike">
                <a:solidFill>
                  <a:srgbClr val="FFFFFF"/>
                </a:solidFill>
                <a:latin typeface="Twentieth Century"/>
                <a:ea typeface="Twentieth Century"/>
                <a:cs typeface="Twentieth Century"/>
                <a:sym typeface="Twentieth Century"/>
              </a:rPr>
              <a:t>‹#›</a:t>
            </a:fld>
            <a:endParaRPr b="0" i="0" sz="1400" u="none" cap="none" strike="noStrike">
              <a:solidFill>
                <a:srgbClr val="000000"/>
              </a:solidFill>
              <a:latin typeface="Arial"/>
              <a:ea typeface="Arial"/>
              <a:cs typeface="Arial"/>
              <a:sym typeface="Arial"/>
            </a:endParaRPr>
          </a:p>
        </p:txBody>
      </p:sp>
      <p:sp>
        <p:nvSpPr>
          <p:cNvPr id="213" name="Google Shape;213;p17"/>
          <p:cNvSpPr txBox="1"/>
          <p:nvPr/>
        </p:nvSpPr>
        <p:spPr>
          <a:xfrm>
            <a:off x="571500" y="152400"/>
            <a:ext cx="821531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Applications of Naïve Bayes Classifier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6e491fddb0_2_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36e491fddb0_2_0"/>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700"/>
              </a:spcBef>
              <a:spcAft>
                <a:spcPts val="0"/>
              </a:spcAft>
              <a:buSzPts val="1080"/>
              <a:buNone/>
            </a:pPr>
            <a:r>
              <a:rPr lang="en-US"/>
              <a:t>Example Link: https://www.geeksforgeeks.org/machine-learning/naive-bayes-classifiers/</a:t>
            </a:r>
            <a:endParaRPr/>
          </a:p>
        </p:txBody>
      </p:sp>
      <p:sp>
        <p:nvSpPr>
          <p:cNvPr id="221" name="Google Shape;221;g36e491fddb0_2_0"/>
          <p:cNvSpPr txBox="1"/>
          <p:nvPr>
            <p:ph idx="12" type="sldNum"/>
          </p:nvPr>
        </p:nvSpPr>
        <p:spPr>
          <a:xfrm>
            <a:off x="0" y="1271587"/>
            <a:ext cx="533400" cy="24450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lnSpc>
                <a:spcPct val="100000"/>
              </a:lnSpc>
              <a:spcBef>
                <a:spcPts val="0"/>
              </a:spcBef>
              <a:spcAft>
                <a:spcPts val="0"/>
              </a:spcAft>
              <a:buClr>
                <a:srgbClr val="FFFFFF"/>
              </a:buClr>
              <a:buSzPct val="100000"/>
              <a:buFont typeface="Twentieth Century"/>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713536d5a7_1_1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a:t>
            </a:r>
            <a:endParaRPr/>
          </a:p>
        </p:txBody>
      </p:sp>
      <p:sp>
        <p:nvSpPr>
          <p:cNvPr id="228" name="Google Shape;228;g3713536d5a7_1_15"/>
          <p:cNvSpPr txBox="1"/>
          <p:nvPr>
            <p:ph idx="1" type="body"/>
          </p:nvPr>
        </p:nvSpPr>
        <p:spPr>
          <a:xfrm>
            <a:off x="612650" y="1600200"/>
            <a:ext cx="8153400" cy="491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700"/>
              </a:spcBef>
              <a:spcAft>
                <a:spcPts val="0"/>
              </a:spcAft>
              <a:buSzPts val="1080"/>
              <a:buNone/>
            </a:pPr>
            <a:r>
              <a:t/>
            </a:r>
            <a:endParaRPr/>
          </a:p>
          <a:p>
            <a:pPr indent="0" lvl="0" marL="0" rtl="0" algn="l">
              <a:lnSpc>
                <a:spcPct val="100000"/>
              </a:lnSpc>
              <a:spcBef>
                <a:spcPts val="700"/>
              </a:spcBef>
              <a:spcAft>
                <a:spcPts val="0"/>
              </a:spcAft>
              <a:buSzPts val="1080"/>
              <a:buNone/>
            </a:pPr>
            <a:r>
              <a:rPr lang="en-US"/>
              <a:t>A group of university students is conducting research on email classification to improve spam detection systems. Over the course of their study, they analyzed 1,500 emails, of which 900 were identified as spam and the remaining 600 were classified as not spam (ham). Among the spam emails, 270 contained the word “free,” while 30 of the non-spam emails also included this word. Based on this data, determine the probability that an email is </a:t>
            </a:r>
            <a:r>
              <a:rPr b="1" lang="en-US"/>
              <a:t>spam given that it contains the word “free.”</a:t>
            </a:r>
            <a:endParaRPr b="1"/>
          </a:p>
        </p:txBody>
      </p:sp>
      <p:sp>
        <p:nvSpPr>
          <p:cNvPr id="229" name="Google Shape;229;g3713536d5a7_1_15"/>
          <p:cNvSpPr txBox="1"/>
          <p:nvPr>
            <p:ph idx="12" type="sldNum"/>
          </p:nvPr>
        </p:nvSpPr>
        <p:spPr>
          <a:xfrm>
            <a:off x="0" y="1271587"/>
            <a:ext cx="533400" cy="24450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lnSpc>
                <a:spcPct val="100000"/>
              </a:lnSpc>
              <a:spcBef>
                <a:spcPts val="0"/>
              </a:spcBef>
              <a:spcAft>
                <a:spcPts val="0"/>
              </a:spcAft>
              <a:buClr>
                <a:srgbClr val="FFFFFF"/>
              </a:buClr>
              <a:buSzPct val="100000"/>
              <a:buFont typeface="Twentieth Century"/>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713536d5a7_1_2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Answer</a:t>
            </a:r>
            <a:endParaRPr/>
          </a:p>
        </p:txBody>
      </p:sp>
      <p:sp>
        <p:nvSpPr>
          <p:cNvPr id="236" name="Google Shape;236;g3713536d5a7_1_2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700"/>
              </a:spcBef>
              <a:spcAft>
                <a:spcPts val="0"/>
              </a:spcAft>
              <a:buSzPts val="1080"/>
              <a:buNone/>
            </a:pPr>
            <a:r>
              <a:t/>
            </a:r>
            <a:endParaRPr/>
          </a:p>
        </p:txBody>
      </p:sp>
      <p:sp>
        <p:nvSpPr>
          <p:cNvPr id="237" name="Google Shape;237;g3713536d5a7_1_22"/>
          <p:cNvSpPr txBox="1"/>
          <p:nvPr>
            <p:ph idx="12" type="sldNum"/>
          </p:nvPr>
        </p:nvSpPr>
        <p:spPr>
          <a:xfrm>
            <a:off x="0" y="1271587"/>
            <a:ext cx="533400" cy="24450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lnSpc>
                <a:spcPct val="100000"/>
              </a:lnSpc>
              <a:spcBef>
                <a:spcPts val="0"/>
              </a:spcBef>
              <a:spcAft>
                <a:spcPts val="0"/>
              </a:spcAft>
              <a:buClr>
                <a:srgbClr val="FFFFFF"/>
              </a:buClr>
              <a:buSzPct val="100000"/>
              <a:buFont typeface="Twentieth Century"/>
              <a:buNone/>
            </a:pPr>
            <a:fld id="{00000000-1234-1234-1234-123412341234}" type="slidenum">
              <a:rPr lang="en-US"/>
              <a:t>‹#›</a:t>
            </a:fld>
            <a:endParaRPr/>
          </a:p>
        </p:txBody>
      </p:sp>
      <p:pic>
        <p:nvPicPr>
          <p:cNvPr id="238" name="Google Shape;238;g3713536d5a7_1_22"/>
          <p:cNvPicPr preferRelativeResize="0"/>
          <p:nvPr/>
        </p:nvPicPr>
        <p:blipFill rotWithShape="1">
          <a:blip r:embed="rId3">
            <a:alphaModFix/>
          </a:blip>
          <a:srcRect b="0" l="0" r="0" t="0"/>
          <a:stretch/>
        </p:blipFill>
        <p:spPr>
          <a:xfrm>
            <a:off x="1126475" y="2762250"/>
            <a:ext cx="5943600" cy="1485900"/>
          </a:xfrm>
          <a:prstGeom prst="rect">
            <a:avLst/>
          </a:prstGeom>
          <a:noFill/>
          <a:ln>
            <a:noFill/>
          </a:ln>
        </p:spPr>
      </p:pic>
      <p:sp>
        <p:nvSpPr>
          <p:cNvPr id="239" name="Google Shape;239;g3713536d5a7_1_22"/>
          <p:cNvSpPr txBox="1"/>
          <p:nvPr/>
        </p:nvSpPr>
        <p:spPr>
          <a:xfrm>
            <a:off x="1384175" y="2005200"/>
            <a:ext cx="3000000" cy="3000000"/>
          </a:xfrm>
          <a:prstGeom prst="rect">
            <a:avLst/>
          </a:prstGeom>
          <a:noFill/>
          <a:ln>
            <a:noFill/>
          </a:ln>
        </p:spPr>
        <p:txBody>
          <a:bodyPr anchorCtr="0" anchor="ctr" bIns="91425" lIns="91425" spcFirstLastPara="1" rIns="91425" wrap="square" tIns="91425">
            <a:noAutofit/>
          </a:bodyPr>
          <a:lstStyle/>
          <a:p>
            <a:pPr indent="0" lvl="0" marL="0" marR="0" rtl="0" algn="just">
              <a:lnSpc>
                <a:spcPct val="115000"/>
              </a:lnSpc>
              <a:spcBef>
                <a:spcPts val="1200"/>
              </a:spcBef>
              <a:spcAft>
                <a:spcPts val="0"/>
              </a:spcAft>
              <a:buClr>
                <a:srgbClr val="000000"/>
              </a:buClr>
              <a:buSzPts val="1200"/>
              <a:buFont typeface="Arial"/>
              <a:buNone/>
            </a:pPr>
            <a:r>
              <a:t/>
            </a:r>
            <a:endParaRPr b="1"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200"/>
              <a:buFont typeface="Arial"/>
              <a:buNone/>
            </a:pPr>
            <a:r>
              <a:t/>
            </a:r>
            <a:endParaRPr b="1"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1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2009-08-22T11:34:21Z</dcterms:created>
  <dc:creator>Weijun</dc:creator>
</cp:coreProperties>
</file>