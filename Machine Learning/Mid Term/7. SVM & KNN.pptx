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50" r:id="rId5"/>
    <p:sldMasterId id="2147483655" r:id="rId6"/>
    <p:sldMasterId id="2147483657" r:id="rId7"/>
    <p:sldMasterId id="2147483659" r:id="rId8"/>
    <p:sldMasterId id="2147483661" r:id="rId9"/>
    <p:sldMasterId id="2147483663" r:id="rId10"/>
    <p:sldMasterId id="2147483665"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24">
          <p15:clr>
            <a:srgbClr val="000000"/>
          </p15:clr>
        </p15:guide>
        <p15:guide id="2" pos="2303">
          <p15:clr>
            <a:srgbClr val="000000"/>
          </p15:clr>
        </p15:guide>
      </p15:notesGuideLst>
    </p:ext>
    <p:ext uri="GoogleSlidesCustomDataVersion2">
      <go:slidesCustomData xmlns:go="http://customooxmlschemas.google.com/" r:id="rId45" roundtripDataSignature="AMtx7miSNwf5DYqbhuvn12aEGO61TM0a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4" orient="horz"/>
        <p:guide pos="2303"/>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8.xml"/><Relationship Id="rId20" Type="http://schemas.openxmlformats.org/officeDocument/2006/relationships/slide" Target="slides/slide8.xml"/><Relationship Id="rId42" Type="http://schemas.openxmlformats.org/officeDocument/2006/relationships/slide" Target="slides/slide30.xml"/><Relationship Id="rId41" Type="http://schemas.openxmlformats.org/officeDocument/2006/relationships/slide" Target="slides/slide29.xml"/><Relationship Id="rId22" Type="http://schemas.openxmlformats.org/officeDocument/2006/relationships/slide" Target="slides/slide10.xml"/><Relationship Id="rId44" Type="http://schemas.openxmlformats.org/officeDocument/2006/relationships/slide" Target="slides/slide32.xml"/><Relationship Id="rId21" Type="http://schemas.openxmlformats.org/officeDocument/2006/relationships/slide" Target="slides/slide9.xml"/><Relationship Id="rId43" Type="http://schemas.openxmlformats.org/officeDocument/2006/relationships/slide" Target="slides/slide31.xml"/><Relationship Id="rId24" Type="http://schemas.openxmlformats.org/officeDocument/2006/relationships/slide" Target="slides/slide12.xml"/><Relationship Id="rId23" Type="http://schemas.openxmlformats.org/officeDocument/2006/relationships/slide" Target="slides/slide11.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17.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9.xml"/><Relationship Id="rId30" Type="http://schemas.openxmlformats.org/officeDocument/2006/relationships/slide" Target="slides/slide18.xml"/><Relationship Id="rId11" Type="http://schemas.openxmlformats.org/officeDocument/2006/relationships/slideMaster" Target="slideMasters/slideMaster8.xml"/><Relationship Id="rId33" Type="http://schemas.openxmlformats.org/officeDocument/2006/relationships/slide" Target="slides/slide21.xml"/><Relationship Id="rId10" Type="http://schemas.openxmlformats.org/officeDocument/2006/relationships/slideMaster" Target="slideMasters/slideMaster7.xml"/><Relationship Id="rId32" Type="http://schemas.openxmlformats.org/officeDocument/2006/relationships/slide" Target="slides/slide20.xml"/><Relationship Id="rId13" Type="http://schemas.openxmlformats.org/officeDocument/2006/relationships/slide" Target="slides/slide1.xml"/><Relationship Id="rId35" Type="http://schemas.openxmlformats.org/officeDocument/2006/relationships/slide" Target="slides/slide23.xml"/><Relationship Id="rId12" Type="http://schemas.openxmlformats.org/officeDocument/2006/relationships/notesMaster" Target="notesMasters/notesMaster1.xml"/><Relationship Id="rId34" Type="http://schemas.openxmlformats.org/officeDocument/2006/relationships/slide" Target="slides/slide22.xml"/><Relationship Id="rId15" Type="http://schemas.openxmlformats.org/officeDocument/2006/relationships/slide" Target="slides/slide3.xml"/><Relationship Id="rId37" Type="http://schemas.openxmlformats.org/officeDocument/2006/relationships/slide" Target="slides/slide25.xml"/><Relationship Id="rId14" Type="http://schemas.openxmlformats.org/officeDocument/2006/relationships/slide" Target="slides/slide2.xml"/><Relationship Id="rId36" Type="http://schemas.openxmlformats.org/officeDocument/2006/relationships/slide" Target="slides/slide24.xml"/><Relationship Id="rId17" Type="http://schemas.openxmlformats.org/officeDocument/2006/relationships/slide" Target="slides/slide5.xml"/><Relationship Id="rId39" Type="http://schemas.openxmlformats.org/officeDocument/2006/relationships/slide" Target="slides/slide27.xml"/><Relationship Id="rId16" Type="http://schemas.openxmlformats.org/officeDocument/2006/relationships/slide" Target="slides/slide4.xml"/><Relationship Id="rId38" Type="http://schemas.openxmlformats.org/officeDocument/2006/relationships/slide" Target="slides/slide26.xml"/><Relationship Id="rId19" Type="http://schemas.openxmlformats.org/officeDocument/2006/relationships/slide" Target="slides/slide7.xml"/><Relationship Id="rId1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8650" cy="4810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4144962" y="0"/>
            <a:ext cx="3168650" cy="48101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118600"/>
            <a:ext cx="3168650" cy="48101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5" name="Google Shape;165;p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800"/>
              <a:buFont typeface="Arial"/>
              <a:buNone/>
            </a:pPr>
            <a:fld id="{00000000-1234-1234-1234-123412341234}" type="slidenum">
              <a:rPr b="0" i="0" lang="en-US" sz="1800" u="none">
                <a:solidFill>
                  <a:schemeClr val="lt1"/>
                </a:solidFill>
                <a:latin typeface="Arial"/>
                <a:ea typeface="Arial"/>
                <a:cs typeface="Arial"/>
                <a:sym typeface="Arial"/>
              </a:rPr>
              <a:t>‹#›</a:t>
            </a:fld>
            <a:endParaRPr/>
          </a:p>
        </p:txBody>
      </p:sp>
      <p:sp>
        <p:nvSpPr>
          <p:cNvPr id="167" name="Google Shape;167;p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Optimisation of the Beer Distribution Game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2" name="Google Shape;172;p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174" name="Google Shape;174;p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3" name="Google Shape;183;p3: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3: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185" name="Google Shape;185;p3: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4" name="Google Shape;194;p4: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4: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196" name="Google Shape;196;p4: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5: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4" name="Google Shape;204;p5: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06" name="Google Shape;206;p5: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3" name="Google Shape;213;p6: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6: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15" name="Google Shape;215;p6: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2" name="Google Shape;222;p7: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7: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24" name="Google Shape;224;p7: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31" name="Google Shape;231;p8: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8: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33" name="Google Shape;233;p8: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9: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1" name="Google Shape;241;p9: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9: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43" name="Google Shape;243;p9: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1" name="Google Shape;251;p10: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0: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53" name="Google Shape;253;p10: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1" name="Google Shape;261;p1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63" name="Google Shape;263;p1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1" name="Google Shape;271;p1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73" name="Google Shape;273;p1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3: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1" name="Google Shape;281;p13: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3: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83" name="Google Shape;283;p13: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4: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1" name="Google Shape;291;p14: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4: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93" name="Google Shape;293;p14: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5: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1" name="Google Shape;301;p15: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5: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03" name="Google Shape;303;p15: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6: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1" name="Google Shape;311;p16: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6: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13" name="Google Shape;313;p16: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7: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1" name="Google Shape;321;p17: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7: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23" name="Google Shape;323;p17: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1" name="Google Shape;331;p18: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18: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33" name="Google Shape;333;p18: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9: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1" name="Google Shape;341;p19: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9: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43" name="Google Shape;343;p19: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0: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4" name="Google Shape;354;p20: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0: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56" name="Google Shape;356;p20: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5" name="Google Shape;365;p2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2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67" name="Google Shape;367;p2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6" name="Google Shape;376;p2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2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78" name="Google Shape;378;p2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3: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8" name="Google Shape;388;p23: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3: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90" name="Google Shape;390;p23: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4: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9" name="Google Shape;399;p24: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4: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01" name="Google Shape;401;p24: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5: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4" name="Google Shape;414;p25: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5: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16" name="Google Shape;416;p25: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6: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28" name="Google Shape;428;p26: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26: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30" name="Google Shape;430;p26: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7: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43" name="Google Shape;443;p27: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27: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45" name="Google Shape;445;p27: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8: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58" name="Google Shape;458;p28: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28: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60" name="Google Shape;460;p28: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9: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73" name="Google Shape;473;p29: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29: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75" name="Google Shape;475;p29: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0: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88" name="Google Shape;488;p30: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30: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90" name="Google Shape;490;p30: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02" name="Google Shape;502;p3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3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504" name="Google Shape;504;p3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16" name="Google Shape;516;p3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3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518" name="Google Shape;518;p3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34"/>
          <p:cNvSpPr txBox="1"/>
          <p:nvPr>
            <p:ph type="ctrTitle"/>
          </p:nvPr>
        </p:nvSpPr>
        <p:spPr>
          <a:xfrm>
            <a:off x="2362200" y="4038600"/>
            <a:ext cx="6477000" cy="1828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4"/>
          <p:cNvSpPr txBox="1"/>
          <p:nvPr>
            <p:ph idx="1" type="subTitle"/>
          </p:nvPr>
        </p:nvSpPr>
        <p:spPr>
          <a:xfrm>
            <a:off x="2362200" y="6050037"/>
            <a:ext cx="6705600" cy="685800"/>
          </a:xfrm>
          <a:prstGeom prst="rect">
            <a:avLst/>
          </a:prstGeom>
          <a:noFill/>
          <a:ln>
            <a:noFill/>
          </a:ln>
        </p:spPr>
        <p:txBody>
          <a:bodyPr anchorCtr="0" anchor="ctr" bIns="45700" lIns="91425" spcFirstLastPara="1" rIns="91425" wrap="square" tIns="4570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4" name="Google Shape;24;p34"/>
          <p:cNvSpPr txBox="1"/>
          <p:nvPr>
            <p:ph idx="10" type="dt"/>
          </p:nvPr>
        </p:nvSpPr>
        <p:spPr>
          <a:xfrm>
            <a:off x="76200" y="6069012"/>
            <a:ext cx="2057400" cy="685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2000">
                <a:solidFill>
                  <a:srgbClr val="FFFFFF"/>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4"/>
          <p:cNvSpPr txBox="1"/>
          <p:nvPr>
            <p:ph idx="11" type="ftr"/>
          </p:nvPr>
        </p:nvSpPr>
        <p:spPr>
          <a:xfrm>
            <a:off x="2085975" y="236537"/>
            <a:ext cx="58674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lt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4"/>
          <p:cNvSpPr txBox="1"/>
          <p:nvPr>
            <p:ph idx="12"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3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9" name="Google Shape;39;p36"/>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6"/>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6"/>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37"/>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7"/>
          <p:cNvSpPr txBox="1"/>
          <p:nvPr>
            <p:ph idx="1" type="body"/>
          </p:nvPr>
        </p:nvSpPr>
        <p:spPr>
          <a:xfrm rot="5400000">
            <a:off x="2426494" y="-213519"/>
            <a:ext cx="4525962" cy="8153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 name="Google Shape;45;p37"/>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7"/>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38"/>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400"/>
              <a:buFont typeface="Twentieth Century"/>
              <a:buNone/>
              <a:defRPr b="0"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8"/>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1" name="Google Shape;51;p38"/>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38"/>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8"/>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8"/>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9"/>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9"/>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9"/>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41"/>
          <p:cNvSpPr txBox="1"/>
          <p:nvPr>
            <p:ph idx="1" type="body"/>
          </p:nvPr>
        </p:nvSpPr>
        <p:spPr>
          <a:xfrm>
            <a:off x="1371600" y="2743200"/>
            <a:ext cx="7123113" cy="1673225"/>
          </a:xfrm>
          <a:prstGeom prst="rect">
            <a:avLst/>
          </a:prstGeom>
          <a:noFill/>
          <a:ln>
            <a:noFill/>
          </a:ln>
        </p:spPr>
        <p:txBody>
          <a:bodyPr anchorCtr="0" anchor="t" bIns="45700" lIns="91425" spcFirstLastPara="1" rIns="91425" wrap="square" tIns="45700">
            <a:noAutofit/>
          </a:bodyPr>
          <a:lstStyle>
            <a:lvl1pPr indent="-228600" lvl="0" marL="457200" algn="l">
              <a:spcBef>
                <a:spcPts val="700"/>
              </a:spcBef>
              <a:spcAft>
                <a:spcPts val="0"/>
              </a:spcAft>
              <a:buSzPts val="1680"/>
              <a:buNone/>
              <a:defRPr sz="2800">
                <a:solidFill>
                  <a:schemeClr val="dk2"/>
                </a:solidFill>
              </a:defRPr>
            </a:lvl1pPr>
            <a:lvl2pPr indent="-228600" lvl="1" marL="914400" algn="l">
              <a:spcBef>
                <a:spcPts val="550"/>
              </a:spcBef>
              <a:spcAft>
                <a:spcPts val="0"/>
              </a:spcAft>
              <a:buSzPts val="1260"/>
              <a:buNone/>
              <a:defRPr sz="1800">
                <a:solidFill>
                  <a:srgbClr val="888888"/>
                </a:solidFill>
              </a:defRPr>
            </a:lvl2pPr>
            <a:lvl3pPr indent="-228600" lvl="2" marL="1371600" algn="l">
              <a:spcBef>
                <a:spcPts val="500"/>
              </a:spcBef>
              <a:spcAft>
                <a:spcPts val="0"/>
              </a:spcAft>
              <a:buSzPts val="1200"/>
              <a:buNone/>
              <a:defRPr sz="1600">
                <a:solidFill>
                  <a:srgbClr val="888888"/>
                </a:solidFill>
              </a:defRPr>
            </a:lvl3pPr>
            <a:lvl4pPr indent="-228600" lvl="3" marL="1828800" algn="l">
              <a:spcBef>
                <a:spcPts val="400"/>
              </a:spcBef>
              <a:spcAft>
                <a:spcPts val="0"/>
              </a:spcAft>
              <a:buSzPts val="1050"/>
              <a:buNone/>
              <a:defRPr sz="1400">
                <a:solidFill>
                  <a:srgbClr val="888888"/>
                </a:solidFill>
              </a:defRPr>
            </a:lvl4pPr>
            <a:lvl5pPr indent="-228600" lvl="4" marL="2286000" algn="l">
              <a:spcBef>
                <a:spcPts val="400"/>
              </a:spcBef>
              <a:spcAft>
                <a:spcPts val="0"/>
              </a:spcAft>
              <a:buSzPts val="910"/>
              <a:buNone/>
              <a:defRPr sz="1400">
                <a:solidFill>
                  <a:srgbClr val="888888"/>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 name="Google Shape;74;p41"/>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FFFFFF"/>
              </a:buClr>
              <a:buSzPts val="4400"/>
              <a:buFont typeface="Twentieth Century"/>
              <a:buNone/>
              <a:defRPr b="0" sz="440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1"/>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1"/>
          <p:cNvSpPr txBox="1"/>
          <p:nvPr>
            <p:ph idx="12" type="sldNum"/>
          </p:nvPr>
        </p:nvSpPr>
        <p:spPr>
          <a:xfrm>
            <a:off x="0" y="1752600"/>
            <a:ext cx="1295400" cy="7016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77" name="Google Shape;77;p41"/>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sp>
        <p:nvSpPr>
          <p:cNvPr id="88" name="Google Shape;88;p4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3"/>
          <p:cNvSpPr txBox="1"/>
          <p:nvPr>
            <p:ph idx="1" type="body"/>
          </p:nvPr>
        </p:nvSpPr>
        <p:spPr>
          <a:xfrm>
            <a:off x="609600"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43"/>
          <p:cNvSpPr txBox="1"/>
          <p:nvPr>
            <p:ph idx="2" type="body"/>
          </p:nvPr>
        </p:nvSpPr>
        <p:spPr>
          <a:xfrm>
            <a:off x="4844901"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4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3"/>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93" name="Google Shape;93;p43"/>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3" name="Shape 103"/>
        <p:cNvGrpSpPr/>
        <p:nvPr/>
      </p:nvGrpSpPr>
      <p:grpSpPr>
        <a:xfrm>
          <a:off x="0" y="0"/>
          <a:ext cx="0" cy="0"/>
          <a:chOff x="0" y="0"/>
          <a:chExt cx="0" cy="0"/>
        </a:xfrm>
      </p:grpSpPr>
      <p:sp>
        <p:nvSpPr>
          <p:cNvPr id="104" name="Google Shape;104;p45"/>
          <p:cNvSpPr txBox="1"/>
          <p:nvPr>
            <p:ph type="title"/>
          </p:nvPr>
        </p:nvSpPr>
        <p:spPr>
          <a:xfrm>
            <a:off x="533400" y="273050"/>
            <a:ext cx="81534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5"/>
          <p:cNvSpPr txBox="1"/>
          <p:nvPr>
            <p:ph idx="1" type="body"/>
          </p:nvPr>
        </p:nvSpPr>
        <p:spPr>
          <a:xfrm>
            <a:off x="609600" y="2438400"/>
            <a:ext cx="3886200" cy="3581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6" name="Google Shape;106;p45"/>
          <p:cNvSpPr txBox="1"/>
          <p:nvPr>
            <p:ph idx="2" type="body"/>
          </p:nvPr>
        </p:nvSpPr>
        <p:spPr>
          <a:xfrm>
            <a:off x="4800600" y="2438400"/>
            <a:ext cx="3886200" cy="3581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45"/>
          <p:cNvSpPr txBox="1"/>
          <p:nvPr>
            <p:ph idx="3" type="body"/>
          </p:nvPr>
        </p:nvSpPr>
        <p:spPr>
          <a:xfrm>
            <a:off x="609600" y="1752600"/>
            <a:ext cx="3886200" cy="640080"/>
          </a:xfrm>
          <a:prstGeom prst="rect">
            <a:avLst/>
          </a:prstGeom>
          <a:solidFill>
            <a:schemeClr val="accent2"/>
          </a:solidFill>
          <a:ln>
            <a:noFill/>
          </a:ln>
        </p:spPr>
        <p:txBody>
          <a:bodyPr anchorCtr="0" anchor="ctr" bIns="45700" lIns="91425" spcFirstLastPara="1" rIns="91425" wrap="square" tIns="45700">
            <a:no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8" name="Google Shape;108;p45"/>
          <p:cNvSpPr txBox="1"/>
          <p:nvPr>
            <p:ph idx="4" type="body"/>
          </p:nvPr>
        </p:nvSpPr>
        <p:spPr>
          <a:xfrm>
            <a:off x="4800600" y="1752600"/>
            <a:ext cx="3886200" cy="640080"/>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9" name="Google Shape;109;p4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4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111" name="Google Shape;111;p4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47"/>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7"/>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7"/>
          <p:cNvSpPr txBox="1"/>
          <p:nvPr>
            <p:ph idx="12" type="sldNum"/>
          </p:nvPr>
        </p:nvSpPr>
        <p:spPr>
          <a:xfrm>
            <a:off x="0" y="6248400"/>
            <a:ext cx="533400" cy="381000"/>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8" name="Shape 138"/>
        <p:cNvGrpSpPr/>
        <p:nvPr/>
      </p:nvGrpSpPr>
      <p:grpSpPr>
        <a:xfrm>
          <a:off x="0" y="0"/>
          <a:ext cx="0" cy="0"/>
          <a:chOff x="0" y="0"/>
          <a:chExt cx="0" cy="0"/>
        </a:xfrm>
      </p:grpSpPr>
      <p:sp>
        <p:nvSpPr>
          <p:cNvPr id="139" name="Google Shape;139;p49"/>
          <p:cNvSpPr txBox="1"/>
          <p:nvPr>
            <p:ph idx="1" type="body"/>
          </p:nvPr>
        </p:nvSpPr>
        <p:spPr>
          <a:xfrm>
            <a:off x="1600200" y="5486400"/>
            <a:ext cx="7315200" cy="685800"/>
          </a:xfrm>
          <a:prstGeom prst="rect">
            <a:avLst/>
          </a:prstGeom>
          <a:noFill/>
          <a:ln>
            <a:noFill/>
          </a:ln>
        </p:spPr>
        <p:txBody>
          <a:bodyPr anchorCtr="0" anchor="t" bIns="45700" lIns="91425" spcFirstLastPara="1" rIns="91425" wrap="square" tIns="45700">
            <a:noAutofit/>
          </a:bodyPr>
          <a:lstStyle>
            <a:lvl1pPr indent="-228600" lvl="0" marL="457200" algn="l">
              <a:spcBef>
                <a:spcPts val="700"/>
              </a:spcBef>
              <a:spcAft>
                <a:spcPts val="0"/>
              </a:spcAft>
              <a:buSzPts val="1020"/>
              <a:buFont typeface="Twentieth Century"/>
              <a:buNone/>
              <a:defRPr sz="1700"/>
            </a:lvl1pPr>
            <a:lvl2pPr indent="-228600" lvl="1" marL="914400" algn="l">
              <a:spcBef>
                <a:spcPts val="550"/>
              </a:spcBef>
              <a:spcAft>
                <a:spcPts val="0"/>
              </a:spcAft>
              <a:buSzPts val="840"/>
              <a:buFont typeface="Twentieth Century"/>
              <a:buNone/>
              <a:defRPr sz="1200"/>
            </a:lvl2pPr>
            <a:lvl3pPr indent="-228600" lvl="2" marL="1371600" algn="l">
              <a:spcBef>
                <a:spcPts val="500"/>
              </a:spcBef>
              <a:spcAft>
                <a:spcPts val="0"/>
              </a:spcAft>
              <a:buSzPts val="750"/>
              <a:buFont typeface="Twentieth Century"/>
              <a:buNone/>
              <a:defRPr sz="1000"/>
            </a:lvl3pPr>
            <a:lvl4pPr indent="-228600" lvl="3" marL="1828800" algn="l">
              <a:spcBef>
                <a:spcPts val="400"/>
              </a:spcBef>
              <a:spcAft>
                <a:spcPts val="0"/>
              </a:spcAft>
              <a:buSzPts val="675"/>
              <a:buFont typeface="Twentieth Century"/>
              <a:buNone/>
              <a:defRPr sz="900"/>
            </a:lvl4pPr>
            <a:lvl5pPr indent="-228600" lvl="4" marL="2286000" algn="l">
              <a:spcBef>
                <a:spcPts val="400"/>
              </a:spcBef>
              <a:spcAft>
                <a:spcPts val="0"/>
              </a:spcAft>
              <a:buSzPts val="585"/>
              <a:buFont typeface="Twentieth Century"/>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0" name="Google Shape;140;p49"/>
          <p:cNvSpPr txBox="1"/>
          <p:nvPr>
            <p:ph type="title"/>
          </p:nvPr>
        </p:nvSpPr>
        <p:spPr>
          <a:xfrm>
            <a:off x="1600200" y="4648200"/>
            <a:ext cx="7315200" cy="685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FFFFFF"/>
              </a:buClr>
              <a:buSzPts val="2800"/>
              <a:buFont typeface="Twentieth Century"/>
              <a:buNone/>
              <a:defRPr b="0" sz="28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49"/>
          <p:cNvSpPr/>
          <p:nvPr>
            <p:ph idx="2" type="pic"/>
          </p:nvPr>
        </p:nvSpPr>
        <p:spPr>
          <a:xfrm>
            <a:off x="1560576" y="0"/>
            <a:ext cx="7583424" cy="4568952"/>
          </a:xfrm>
          <a:prstGeom prst="rect">
            <a:avLst/>
          </a:prstGeom>
          <a:solidFill>
            <a:srgbClr val="CCDFE8"/>
          </a:solidFill>
          <a:ln>
            <a:noFill/>
          </a:ln>
        </p:spPr>
      </p:sp>
      <p:sp>
        <p:nvSpPr>
          <p:cNvPr id="142" name="Google Shape;142;p49"/>
          <p:cNvSpPr txBox="1"/>
          <p:nvPr>
            <p:ph idx="10" type="dt"/>
          </p:nvPr>
        </p:nvSpPr>
        <p:spPr>
          <a:xfrm>
            <a:off x="62484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49"/>
          <p:cNvSpPr txBox="1"/>
          <p:nvPr>
            <p:ph idx="12" type="sldNum"/>
          </p:nvPr>
        </p:nvSpPr>
        <p:spPr>
          <a:xfrm>
            <a:off x="0" y="4667250"/>
            <a:ext cx="1447800" cy="6635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144" name="Google Shape;144;p49"/>
          <p:cNvSpPr txBox="1"/>
          <p:nvPr>
            <p:ph idx="11" type="ftr"/>
          </p:nvPr>
        </p:nvSpPr>
        <p:spPr>
          <a:xfrm>
            <a:off x="1600200" y="6248400"/>
            <a:ext cx="4572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7" name="Shape 157"/>
        <p:cNvGrpSpPr/>
        <p:nvPr/>
      </p:nvGrpSpPr>
      <p:grpSpPr>
        <a:xfrm>
          <a:off x="0" y="0"/>
          <a:ext cx="0" cy="0"/>
          <a:chOff x="0" y="0"/>
          <a:chExt cx="0" cy="0"/>
        </a:xfrm>
      </p:grpSpPr>
      <p:sp>
        <p:nvSpPr>
          <p:cNvPr id="158" name="Google Shape;158;p51"/>
          <p:cNvSpPr txBox="1"/>
          <p:nvPr>
            <p:ph type="title"/>
          </p:nvPr>
        </p:nvSpPr>
        <p:spPr>
          <a:xfrm rot="5400000">
            <a:off x="4823619" y="2339182"/>
            <a:ext cx="5516563"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51"/>
          <p:cNvSpPr txBox="1"/>
          <p:nvPr>
            <p:ph idx="1" type="body"/>
          </p:nvPr>
        </p:nvSpPr>
        <p:spPr>
          <a:xfrm rot="5400000">
            <a:off x="480218" y="586582"/>
            <a:ext cx="5516564" cy="5562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0" name="Google Shape;160;p51"/>
          <p:cNvSpPr txBox="1"/>
          <p:nvPr>
            <p:ph idx="10" type="dt"/>
          </p:nvPr>
        </p:nvSpPr>
        <p:spPr>
          <a:xfrm>
            <a:off x="6553200" y="6248400"/>
            <a:ext cx="2209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51"/>
          <p:cNvSpPr txBox="1"/>
          <p:nvPr>
            <p:ph idx="11" type="ftr"/>
          </p:nvPr>
        </p:nvSpPr>
        <p:spPr>
          <a:xfrm>
            <a:off x="457200" y="6248400"/>
            <a:ext cx="55737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51"/>
          <p:cNvSpPr txBox="1"/>
          <p:nvPr>
            <p:ph idx="12" type="sldNum"/>
          </p:nvPr>
        </p:nvSpPr>
        <p:spPr>
          <a:xfrm rot="5400000">
            <a:off x="5989637" y="144462"/>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3.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9.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5.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33"/>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1" name="Google Shape;11;p33"/>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2" name="Google Shape;12;p33"/>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3" name="Google Shape;13;p33"/>
          <p:cNvSpPr txBox="1"/>
          <p:nvPr/>
        </p:nvSpPr>
        <p:spPr>
          <a:xfrm>
            <a:off x="0" y="5970587"/>
            <a:ext cx="9144000" cy="8874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4" name="Google Shape;14;p33"/>
          <p:cNvSpPr txBox="1"/>
          <p:nvPr/>
        </p:nvSpPr>
        <p:spPr>
          <a:xfrm>
            <a:off x="-9525" y="6053137"/>
            <a:ext cx="2249487" cy="7127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5" name="Google Shape;15;p33"/>
          <p:cNvSpPr txBox="1"/>
          <p:nvPr/>
        </p:nvSpPr>
        <p:spPr>
          <a:xfrm>
            <a:off x="2359025" y="6043612"/>
            <a:ext cx="6784975" cy="7143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6" name="Google Shape;16;p3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9pPr>
          </a:lstStyle>
          <a:p/>
        </p:txBody>
      </p:sp>
      <p:sp>
        <p:nvSpPr>
          <p:cNvPr id="17" name="Google Shape;17;p33"/>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lt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lt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lt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lt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lt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9pPr>
          </a:lstStyle>
          <a:p/>
        </p:txBody>
      </p:sp>
      <p:sp>
        <p:nvSpPr>
          <p:cNvPr id="18" name="Google Shape;18;p33"/>
          <p:cNvSpPr txBox="1"/>
          <p:nvPr>
            <p:ph idx="10" type="dt"/>
          </p:nvPr>
        </p:nvSpPr>
        <p:spPr>
          <a:xfrm>
            <a:off x="76200" y="6069012"/>
            <a:ext cx="2057400" cy="685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2000" u="none">
                <a:solidFill>
                  <a:srgbClr val="FFFFFF"/>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9" name="Google Shape;19;p33"/>
          <p:cNvSpPr txBox="1"/>
          <p:nvPr>
            <p:ph idx="11" type="ftr"/>
          </p:nvPr>
        </p:nvSpPr>
        <p:spPr>
          <a:xfrm>
            <a:off x="2085975" y="236537"/>
            <a:ext cx="58674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lt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20" name="Google Shape;20;p33"/>
          <p:cNvSpPr txBox="1"/>
          <p:nvPr>
            <p:ph idx="12"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
        <p:nvSpPr>
          <p:cNvPr id="28" name="Google Shape;28;p35"/>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29" name="Google Shape;29;p35"/>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30" name="Google Shape;30;p3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3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35"/>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 name="Google Shape;33;p35"/>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 name="Google Shape;34;p35"/>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 name="Google Shape;35;p3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p40"/>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 name="Google Shape;62;p40"/>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 name="Google Shape;63;p40"/>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 name="Google Shape;64;p40"/>
          <p:cNvSpPr txBox="1"/>
          <p:nvPr/>
        </p:nvSpPr>
        <p:spPr>
          <a:xfrm>
            <a:off x="0" y="1524000"/>
            <a:ext cx="9144000" cy="1143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 name="Google Shape;65;p40"/>
          <p:cNvSpPr txBox="1"/>
          <p:nvPr/>
        </p:nvSpPr>
        <p:spPr>
          <a:xfrm>
            <a:off x="0" y="1600200"/>
            <a:ext cx="1295400" cy="990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 name="Google Shape;66;p40"/>
          <p:cNvSpPr txBox="1"/>
          <p:nvPr/>
        </p:nvSpPr>
        <p:spPr>
          <a:xfrm>
            <a:off x="1371600" y="1600200"/>
            <a:ext cx="7772400" cy="990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 name="Google Shape;67;p40"/>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68" name="Google Shape;68;p40"/>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69" name="Google Shape;69;p40"/>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40"/>
          <p:cNvSpPr txBox="1"/>
          <p:nvPr>
            <p:ph idx="12" type="sldNum"/>
          </p:nvPr>
        </p:nvSpPr>
        <p:spPr>
          <a:xfrm>
            <a:off x="0" y="1752600"/>
            <a:ext cx="1295400" cy="7016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
        <p:nvSpPr>
          <p:cNvPr id="71" name="Google Shape;71;p40"/>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42"/>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 name="Google Shape;80;p42"/>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 name="Google Shape;81;p42"/>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 name="Google Shape;82;p42"/>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83" name="Google Shape;83;p42"/>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84" name="Google Shape;84;p42"/>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5" name="Google Shape;85;p42"/>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
        <p:nvSpPr>
          <p:cNvPr id="86" name="Google Shape;86;p42"/>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44"/>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 name="Google Shape;96;p44"/>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 name="Google Shape;97;p44"/>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 name="Google Shape;98;p44"/>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99" name="Google Shape;99;p44"/>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0" name="Google Shape;100;p44"/>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1" name="Google Shape;101;p44"/>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
        <p:nvSpPr>
          <p:cNvPr id="102" name="Google Shape;102;p44"/>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6"/>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 name="Google Shape;114;p46"/>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 name="Google Shape;115;p46"/>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 name="Google Shape;116;p46"/>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17" name="Google Shape;117;p46"/>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18" name="Google Shape;118;p46"/>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9" name="Google Shape;119;p46"/>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0" name="Google Shape;120;p46"/>
          <p:cNvSpPr txBox="1"/>
          <p:nvPr>
            <p:ph idx="12" type="sldNum"/>
          </p:nvPr>
        </p:nvSpPr>
        <p:spPr>
          <a:xfrm>
            <a:off x="0" y="6248400"/>
            <a:ext cx="533400" cy="381000"/>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48"/>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 name="Google Shape;127;p48"/>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 name="Google Shape;128;p48"/>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 name="Google Shape;129;p48"/>
          <p:cNvSpPr txBox="1"/>
          <p:nvPr/>
        </p:nvSpPr>
        <p:spPr>
          <a:xfrm>
            <a:off x="-9525" y="4572000"/>
            <a:ext cx="9144000" cy="8874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 name="Google Shape;130;p48"/>
          <p:cNvSpPr txBox="1"/>
          <p:nvPr/>
        </p:nvSpPr>
        <p:spPr>
          <a:xfrm>
            <a:off x="-9525" y="4664075"/>
            <a:ext cx="1463675" cy="7127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 name="Google Shape;131;p48"/>
          <p:cNvSpPr txBox="1"/>
          <p:nvPr/>
        </p:nvSpPr>
        <p:spPr>
          <a:xfrm>
            <a:off x="1544637" y="4654550"/>
            <a:ext cx="7599362" cy="71278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 name="Google Shape;132;p48"/>
          <p:cNvSpPr txBox="1"/>
          <p:nvPr/>
        </p:nvSpPr>
        <p:spPr>
          <a:xfrm>
            <a:off x="1447800" y="0"/>
            <a:ext cx="100012" cy="6867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 name="Google Shape;133;p48"/>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34" name="Google Shape;134;p48"/>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5" name="Google Shape;135;p48"/>
          <p:cNvSpPr txBox="1"/>
          <p:nvPr>
            <p:ph idx="10" type="dt"/>
          </p:nvPr>
        </p:nvSpPr>
        <p:spPr>
          <a:xfrm>
            <a:off x="62484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6" name="Google Shape;136;p48"/>
          <p:cNvSpPr txBox="1"/>
          <p:nvPr>
            <p:ph idx="12" type="sldNum"/>
          </p:nvPr>
        </p:nvSpPr>
        <p:spPr>
          <a:xfrm>
            <a:off x="0" y="4667250"/>
            <a:ext cx="1447800" cy="6635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
        <p:nvSpPr>
          <p:cNvPr id="137" name="Google Shape;137;p48"/>
          <p:cNvSpPr txBox="1"/>
          <p:nvPr>
            <p:ph idx="11" type="ftr"/>
          </p:nvPr>
        </p:nvSpPr>
        <p:spPr>
          <a:xfrm>
            <a:off x="1600200" y="6248400"/>
            <a:ext cx="45720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50"/>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7" name="Google Shape;147;p50"/>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8" name="Google Shape;148;p50"/>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9" name="Google Shape;149;p50"/>
          <p:cNvSpPr txBox="1"/>
          <p:nvPr/>
        </p:nvSpPr>
        <p:spPr>
          <a:xfrm>
            <a:off x="6096000" y="0"/>
            <a:ext cx="32067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0" name="Google Shape;150;p50"/>
          <p:cNvSpPr txBox="1"/>
          <p:nvPr/>
        </p:nvSpPr>
        <p:spPr>
          <a:xfrm>
            <a:off x="6142037" y="609600"/>
            <a:ext cx="228600" cy="6248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1" name="Google Shape;151;p50"/>
          <p:cNvSpPr txBox="1"/>
          <p:nvPr/>
        </p:nvSpPr>
        <p:spPr>
          <a:xfrm>
            <a:off x="6142037" y="0"/>
            <a:ext cx="228600" cy="533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2" name="Google Shape;152;p50"/>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53" name="Google Shape;153;p50"/>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54" name="Google Shape;154;p50"/>
          <p:cNvSpPr txBox="1"/>
          <p:nvPr>
            <p:ph idx="10" type="dt"/>
          </p:nvPr>
        </p:nvSpPr>
        <p:spPr>
          <a:xfrm>
            <a:off x="6553200" y="6248400"/>
            <a:ext cx="2209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5" name="Google Shape;155;p50"/>
          <p:cNvSpPr txBox="1"/>
          <p:nvPr>
            <p:ph idx="11" type="ftr"/>
          </p:nvPr>
        </p:nvSpPr>
        <p:spPr>
          <a:xfrm>
            <a:off x="457200" y="6248400"/>
            <a:ext cx="55737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6" name="Google Shape;156;p50"/>
          <p:cNvSpPr txBox="1"/>
          <p:nvPr>
            <p:ph idx="12" type="sldNum"/>
          </p:nvPr>
        </p:nvSpPr>
        <p:spPr>
          <a:xfrm rot="5400000">
            <a:off x="5989637" y="144462"/>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639D"/>
        </a:solidFill>
      </p:bgPr>
    </p:bg>
    <p:spTree>
      <p:nvGrpSpPr>
        <p:cNvPr id="168" name="Shape 168"/>
        <p:cNvGrpSpPr/>
        <p:nvPr/>
      </p:nvGrpSpPr>
      <p:grpSpPr>
        <a:xfrm>
          <a:off x="0" y="0"/>
          <a:ext cx="0" cy="0"/>
          <a:chOff x="0" y="0"/>
          <a:chExt cx="0" cy="0"/>
        </a:xfrm>
      </p:grpSpPr>
      <p:sp>
        <p:nvSpPr>
          <p:cNvPr id="169" name="Google Shape;169;p1"/>
          <p:cNvSpPr txBox="1"/>
          <p:nvPr>
            <p:ph type="ctrTitle"/>
          </p:nvPr>
        </p:nvSpPr>
        <p:spPr>
          <a:xfrm>
            <a:off x="1828800" y="152400"/>
            <a:ext cx="5867400" cy="990600"/>
          </a:xfrm>
          <a:prstGeom prst="rect">
            <a:avLst/>
          </a:prstGeom>
          <a:noFill/>
          <a:ln>
            <a:noFill/>
          </a:ln>
        </p:spPr>
        <p:txBody>
          <a:bodyPr anchorCtr="0" anchor="b" bIns="45700" lIns="91425" spcFirstLastPara="1" rIns="91425" wrap="square" tIns="45700">
            <a:normAutofit/>
          </a:bodyPr>
          <a:lstStyle/>
          <a:p>
            <a:pPr indent="0" lvl="0" marL="0" rtl="0" algn="just">
              <a:lnSpc>
                <a:spcPct val="100000"/>
              </a:lnSpc>
              <a:spcBef>
                <a:spcPts val="0"/>
              </a:spcBef>
              <a:spcAft>
                <a:spcPts val="0"/>
              </a:spcAft>
              <a:buClr>
                <a:schemeClr val="dk1"/>
              </a:buClr>
              <a:buSzPts val="2900"/>
              <a:buFont typeface="Times New Roman"/>
              <a:buNone/>
            </a:pPr>
            <a:r>
              <a:rPr b="1" i="0" lang="en-US" sz="2900" u="none">
                <a:solidFill>
                  <a:schemeClr val="dk1"/>
                </a:solidFill>
                <a:latin typeface="Times New Roman"/>
                <a:ea typeface="Times New Roman"/>
                <a:cs typeface="Times New Roman"/>
                <a:sym typeface="Times New Roman"/>
              </a:rPr>
              <a:t>ICE-5121: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Support vector machines (SVMs) </a:t>
            </a:r>
            <a:endParaRPr/>
          </a:p>
        </p:txBody>
      </p:sp>
      <p:sp>
        <p:nvSpPr>
          <p:cNvPr id="177" name="Google Shape;177;p2"/>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440"/>
              <a:buFont typeface="Noto Sans Symbols"/>
              <a:buChar char="❑"/>
            </a:pPr>
            <a:r>
              <a:rPr b="0" i="0" lang="en-US" sz="2400" u="none" cap="none" strike="noStrike">
                <a:solidFill>
                  <a:schemeClr val="dk1"/>
                </a:solidFill>
                <a:latin typeface="Times New Roman"/>
                <a:ea typeface="Times New Roman"/>
                <a:cs typeface="Times New Roman"/>
                <a:sym typeface="Times New Roman"/>
              </a:rPr>
              <a:t>“Support Vector Machine” (SVM) is a supervised learning machine learning algorithm that can be used for both classification or regression challenges. However, it is mostly used in classification problems, such as text classification. In the SVM algorithm, we plot each data item as a point in n-dimensional space (where n is the number of features you have). The objective of the support vector machine algorithm is to find a hyperplane in an N-dimensional space(N — the number of features) that distinctly classifies the data points.</a:t>
            </a:r>
            <a:endParaRPr/>
          </a:p>
        </p:txBody>
      </p:sp>
      <p:sp>
        <p:nvSpPr>
          <p:cNvPr id="178" name="Google Shape;178;p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pic>
        <p:nvPicPr>
          <p:cNvPr id="179" name="Google Shape;179;p2"/>
          <p:cNvPicPr preferRelativeResize="0"/>
          <p:nvPr/>
        </p:nvPicPr>
        <p:blipFill rotWithShape="1">
          <a:blip r:embed="rId3">
            <a:alphaModFix/>
          </a:blip>
          <a:srcRect b="0" l="0" r="0" t="0"/>
          <a:stretch/>
        </p:blipFill>
        <p:spPr>
          <a:xfrm>
            <a:off x="1165650" y="4981825"/>
            <a:ext cx="2059475" cy="1647575"/>
          </a:xfrm>
          <a:prstGeom prst="rect">
            <a:avLst/>
          </a:prstGeom>
          <a:noFill/>
          <a:ln>
            <a:noFill/>
          </a:ln>
        </p:spPr>
      </p:pic>
      <p:pic>
        <p:nvPicPr>
          <p:cNvPr id="180" name="Google Shape;180;p2"/>
          <p:cNvPicPr preferRelativeResize="0"/>
          <p:nvPr/>
        </p:nvPicPr>
        <p:blipFill rotWithShape="1">
          <a:blip r:embed="rId4">
            <a:alphaModFix/>
          </a:blip>
          <a:srcRect b="0" l="0" r="0" t="0"/>
          <a:stretch/>
        </p:blipFill>
        <p:spPr>
          <a:xfrm>
            <a:off x="5046700" y="4981825"/>
            <a:ext cx="2231450" cy="1472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Support vector machines (SVMs) </a:t>
            </a:r>
            <a:endParaRPr/>
          </a:p>
        </p:txBody>
      </p:sp>
      <p:sp>
        <p:nvSpPr>
          <p:cNvPr id="188" name="Google Shape;188;p3"/>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440"/>
              <a:buFont typeface="Noto Sans Symbols"/>
              <a:buChar char="❑"/>
            </a:pPr>
            <a:r>
              <a:rPr b="0" i="0" lang="en-US" sz="2400" u="none" cap="none" strike="noStrike">
                <a:solidFill>
                  <a:schemeClr val="dk1"/>
                </a:solidFill>
                <a:latin typeface="Times New Roman"/>
                <a:ea typeface="Times New Roman"/>
                <a:cs typeface="Times New Roman"/>
                <a:sym typeface="Times New Roman"/>
              </a:rPr>
              <a:t>To separate the two classes of data points, there are many possible hyperplanes that could be chosen. Our objective is to find a plane that has the maximum margin, i.e the maximum distance between data points of both classes. Maximizing the margin distance provides some reinforcement so that future data points can be classified with more confidence.</a:t>
            </a:r>
            <a:endParaRPr/>
          </a:p>
        </p:txBody>
      </p:sp>
      <p:sp>
        <p:nvSpPr>
          <p:cNvPr id="189" name="Google Shape;189;p3"/>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pic>
        <p:nvPicPr>
          <p:cNvPr id="190" name="Google Shape;190;p3"/>
          <p:cNvPicPr preferRelativeResize="0"/>
          <p:nvPr/>
        </p:nvPicPr>
        <p:blipFill rotWithShape="1">
          <a:blip r:embed="rId3">
            <a:alphaModFix/>
          </a:blip>
          <a:srcRect b="0" l="0" r="0" t="0"/>
          <a:stretch/>
        </p:blipFill>
        <p:spPr>
          <a:xfrm>
            <a:off x="723900" y="4114800"/>
            <a:ext cx="3543300" cy="2514600"/>
          </a:xfrm>
          <a:prstGeom prst="rect">
            <a:avLst/>
          </a:prstGeom>
          <a:noFill/>
          <a:ln>
            <a:noFill/>
          </a:ln>
        </p:spPr>
      </p:pic>
      <p:pic>
        <p:nvPicPr>
          <p:cNvPr id="191" name="Google Shape;191;p3"/>
          <p:cNvPicPr preferRelativeResize="0"/>
          <p:nvPr/>
        </p:nvPicPr>
        <p:blipFill rotWithShape="1">
          <a:blip r:embed="rId4">
            <a:alphaModFix/>
          </a:blip>
          <a:srcRect b="0" l="0" r="0" t="0"/>
          <a:stretch/>
        </p:blipFill>
        <p:spPr>
          <a:xfrm>
            <a:off x="4724400" y="4038600"/>
            <a:ext cx="3543300" cy="259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4"/>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Support vector machines (SVMs) </a:t>
            </a:r>
            <a:endParaRPr/>
          </a:p>
        </p:txBody>
      </p:sp>
      <p:sp>
        <p:nvSpPr>
          <p:cNvPr id="199" name="Google Shape;199;p4"/>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a:t>
            </a:r>
            <a:endParaRPr/>
          </a:p>
        </p:txBody>
      </p:sp>
      <p:sp>
        <p:nvSpPr>
          <p:cNvPr id="200" name="Google Shape;200;p4"/>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pic>
        <p:nvPicPr>
          <p:cNvPr id="201" name="Google Shape;201;p4"/>
          <p:cNvPicPr preferRelativeResize="0"/>
          <p:nvPr/>
        </p:nvPicPr>
        <p:blipFill rotWithShape="1">
          <a:blip r:embed="rId3">
            <a:alphaModFix/>
          </a:blip>
          <a:srcRect b="0" l="0" r="0" t="0"/>
          <a:stretch/>
        </p:blipFill>
        <p:spPr>
          <a:xfrm>
            <a:off x="1066800" y="2590800"/>
            <a:ext cx="6400800" cy="342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5"/>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Support vector machines (SVMs) </a:t>
            </a:r>
            <a:endParaRPr/>
          </a:p>
        </p:txBody>
      </p:sp>
      <p:sp>
        <p:nvSpPr>
          <p:cNvPr id="209" name="Google Shape;209;p5"/>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10" name="Google Shape;210;p5"/>
          <p:cNvSpPr txBox="1"/>
          <p:nvPr>
            <p:ph idx="1" type="body"/>
          </p:nvPr>
        </p:nvSpPr>
        <p:spPr>
          <a:xfrm>
            <a:off x="612775" y="1600200"/>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l">
              <a:lnSpc>
                <a:spcPct val="100000"/>
              </a:lnSpc>
              <a:spcBef>
                <a:spcPts val="0"/>
              </a:spcBef>
              <a:spcAft>
                <a:spcPts val="0"/>
              </a:spcAft>
              <a:buClr>
                <a:schemeClr val="accent2"/>
              </a:buClr>
              <a:buSzPts val="1740"/>
              <a:buFont typeface="Noto Sans Symbols"/>
              <a:buChar char="◻"/>
            </a:pPr>
            <a:r>
              <a:rPr b="0" i="0" lang="en-US" sz="2900" u="none" cap="none" strike="noStrike">
                <a:solidFill>
                  <a:schemeClr val="dk1"/>
                </a:solidFill>
                <a:latin typeface="Times New Roman"/>
                <a:ea typeface="Times New Roman"/>
                <a:cs typeface="Times New Roman"/>
                <a:sym typeface="Times New Roman"/>
              </a:rPr>
              <a:t>The followings are important concepts in SVM: </a:t>
            </a:r>
            <a:endParaRPr/>
          </a:p>
          <a:p>
            <a:pPr indent="-319087" lvl="0" marL="319087" marR="0" rtl="0" algn="l">
              <a:lnSpc>
                <a:spcPct val="100000"/>
              </a:lnSpc>
              <a:spcBef>
                <a:spcPts val="700"/>
              </a:spcBef>
              <a:spcAft>
                <a:spcPts val="0"/>
              </a:spcAft>
              <a:buClr>
                <a:schemeClr val="accent2"/>
              </a:buClr>
              <a:buSzPts val="1260"/>
              <a:buFont typeface="Noto Sans Symbols"/>
              <a:buChar char="◻"/>
            </a:pPr>
            <a:r>
              <a:rPr b="1" i="0" lang="en-US" sz="2100" u="none" cap="none" strike="noStrike">
                <a:solidFill>
                  <a:schemeClr val="dk1"/>
                </a:solidFill>
                <a:latin typeface="Times New Roman"/>
                <a:ea typeface="Times New Roman"/>
                <a:cs typeface="Times New Roman"/>
                <a:sym typeface="Times New Roman"/>
              </a:rPr>
              <a:t>Support Vectors </a:t>
            </a:r>
            <a:r>
              <a:rPr b="0" i="0" lang="en-US" sz="2100" u="none" cap="none" strike="noStrike">
                <a:solidFill>
                  <a:schemeClr val="dk1"/>
                </a:solidFill>
                <a:latin typeface="Times New Roman"/>
                <a:ea typeface="Times New Roman"/>
                <a:cs typeface="Times New Roman"/>
                <a:sym typeface="Times New Roman"/>
              </a:rPr>
              <a:t>− Datapoints that are closest to the hyperplane is called support vectors. Separating line will be defined with the help of these data points.</a:t>
            </a:r>
            <a:endParaRPr/>
          </a:p>
          <a:p>
            <a:pPr indent="-319087" lvl="0" marL="319087" marR="0" rtl="0" algn="l">
              <a:lnSpc>
                <a:spcPct val="100000"/>
              </a:lnSpc>
              <a:spcBef>
                <a:spcPts val="700"/>
              </a:spcBef>
              <a:spcAft>
                <a:spcPts val="0"/>
              </a:spcAft>
              <a:buClr>
                <a:schemeClr val="accent2"/>
              </a:buClr>
              <a:buSzPts val="1260"/>
              <a:buFont typeface="Noto Sans Symbols"/>
              <a:buChar char="◻"/>
            </a:pPr>
            <a:r>
              <a:rPr b="1" i="0" lang="en-US" sz="2100" u="none" cap="none" strike="noStrike">
                <a:solidFill>
                  <a:schemeClr val="dk1"/>
                </a:solidFill>
                <a:latin typeface="Times New Roman"/>
                <a:ea typeface="Times New Roman"/>
                <a:cs typeface="Times New Roman"/>
                <a:sym typeface="Times New Roman"/>
              </a:rPr>
              <a:t>Hyperplane </a:t>
            </a:r>
            <a:r>
              <a:rPr b="0" i="0" lang="en-US" sz="2100" u="none" cap="none" strike="noStrike">
                <a:solidFill>
                  <a:schemeClr val="dk1"/>
                </a:solidFill>
                <a:latin typeface="Times New Roman"/>
                <a:ea typeface="Times New Roman"/>
                <a:cs typeface="Times New Roman"/>
                <a:sym typeface="Times New Roman"/>
              </a:rPr>
              <a:t>− As we can see in the above figure, it is a decision plane or space which is divided between a set of objects having different classes.</a:t>
            </a:r>
            <a:endParaRPr/>
          </a:p>
          <a:p>
            <a:pPr indent="-319087" lvl="0" marL="319087" marR="0" rtl="0" algn="l">
              <a:lnSpc>
                <a:spcPct val="100000"/>
              </a:lnSpc>
              <a:spcBef>
                <a:spcPts val="700"/>
              </a:spcBef>
              <a:spcAft>
                <a:spcPts val="0"/>
              </a:spcAft>
              <a:buClr>
                <a:schemeClr val="accent2"/>
              </a:buClr>
              <a:buSzPts val="1260"/>
              <a:buFont typeface="Noto Sans Symbols"/>
              <a:buChar char="◻"/>
            </a:pPr>
            <a:r>
              <a:rPr b="1" i="0" lang="en-US" sz="2100" u="none" cap="none" strike="noStrike">
                <a:solidFill>
                  <a:schemeClr val="dk1"/>
                </a:solidFill>
                <a:latin typeface="Times New Roman"/>
                <a:ea typeface="Times New Roman"/>
                <a:cs typeface="Times New Roman"/>
                <a:sym typeface="Times New Roman"/>
              </a:rPr>
              <a:t>Margin </a:t>
            </a:r>
            <a:r>
              <a:rPr b="0" i="0" lang="en-US" sz="2100" u="none" cap="none" strike="noStrike">
                <a:solidFill>
                  <a:schemeClr val="dk1"/>
                </a:solidFill>
                <a:latin typeface="Times New Roman"/>
                <a:ea typeface="Times New Roman"/>
                <a:cs typeface="Times New Roman"/>
                <a:sym typeface="Times New Roman"/>
              </a:rPr>
              <a:t>− It may be defined as the gap between two lines on the close data points of different classes. It can be calculated as the perpendicular distance from the line to the support vectors. Large margin is considered as a good margin and small margin is considered as a bad margin.</a:t>
            </a:r>
            <a:endParaRPr/>
          </a:p>
          <a:p>
            <a:pPr indent="-319087" lvl="0" marL="319087" marR="0" rtl="0" algn="l">
              <a:lnSpc>
                <a:spcPct val="100000"/>
              </a:lnSpc>
              <a:spcBef>
                <a:spcPts val="700"/>
              </a:spcBef>
              <a:spcAft>
                <a:spcPts val="0"/>
              </a:spcAft>
              <a:buClr>
                <a:schemeClr val="accent2"/>
              </a:buClr>
              <a:buSzPts val="1260"/>
              <a:buFont typeface="Noto Sans Symbols"/>
              <a:buChar char="◻"/>
            </a:pPr>
            <a:r>
              <a:rPr b="0" i="0" lang="en-US" sz="2100" u="none" cap="none" strike="noStrike">
                <a:solidFill>
                  <a:srgbClr val="333333"/>
                </a:solidFill>
                <a:latin typeface="Times New Roman"/>
                <a:ea typeface="Times New Roman"/>
                <a:cs typeface="Times New Roman"/>
                <a:sym typeface="Times New Roman"/>
              </a:rPr>
              <a:t>The goal of SVM is to maximize this margin. The </a:t>
            </a:r>
            <a:r>
              <a:rPr b="1" i="0" lang="en-US" sz="2100" u="none" cap="none" strike="noStrike">
                <a:solidFill>
                  <a:srgbClr val="333333"/>
                </a:solidFill>
                <a:latin typeface="Times New Roman"/>
                <a:ea typeface="Times New Roman"/>
                <a:cs typeface="Times New Roman"/>
                <a:sym typeface="Times New Roman"/>
              </a:rPr>
              <a:t>hyperplane</a:t>
            </a:r>
            <a:r>
              <a:rPr b="0" i="0" lang="en-US" sz="2100" u="none" cap="none" strike="noStrike">
                <a:solidFill>
                  <a:srgbClr val="333333"/>
                </a:solidFill>
                <a:latin typeface="Times New Roman"/>
                <a:ea typeface="Times New Roman"/>
                <a:cs typeface="Times New Roman"/>
                <a:sym typeface="Times New Roman"/>
              </a:rPr>
              <a:t> with maximum margin is called the </a:t>
            </a:r>
            <a:r>
              <a:rPr b="1" i="0" lang="en-US" sz="2100" u="none" cap="none" strike="noStrike">
                <a:solidFill>
                  <a:srgbClr val="333333"/>
                </a:solidFill>
                <a:latin typeface="Times New Roman"/>
                <a:ea typeface="Times New Roman"/>
                <a:cs typeface="Times New Roman"/>
                <a:sym typeface="Times New Roman"/>
              </a:rPr>
              <a:t>optimal hyperplane</a:t>
            </a:r>
            <a:r>
              <a:rPr b="0" i="0" lang="en-US" sz="2100" u="none" cap="none" strike="noStrike">
                <a:solidFill>
                  <a:srgbClr val="333333"/>
                </a:solidFill>
                <a:latin typeface="Times New Roman"/>
                <a:ea typeface="Times New Roman"/>
                <a:cs typeface="Times New Roman"/>
                <a:sym typeface="Times New Roman"/>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6"/>
          <p:cNvSpPr txBox="1"/>
          <p:nvPr>
            <p:ph type="title"/>
          </p:nvPr>
        </p:nvSpPr>
        <p:spPr>
          <a:xfrm>
            <a:off x="612775" y="2286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Types of SVMs</a:t>
            </a:r>
            <a:endParaRPr/>
          </a:p>
        </p:txBody>
      </p:sp>
      <p:sp>
        <p:nvSpPr>
          <p:cNvPr id="218" name="Google Shape;218;p6"/>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19" name="Google Shape;219;p6"/>
          <p:cNvSpPr txBox="1"/>
          <p:nvPr>
            <p:ph idx="1" type="body"/>
          </p:nvPr>
        </p:nvSpPr>
        <p:spPr>
          <a:xfrm>
            <a:off x="612775" y="1600200"/>
            <a:ext cx="8153400" cy="4781550"/>
          </a:xfrm>
          <a:prstGeom prst="rect">
            <a:avLst/>
          </a:prstGeom>
          <a:noFill/>
          <a:ln>
            <a:noFill/>
          </a:ln>
        </p:spPr>
        <p:txBody>
          <a:bodyPr anchorCtr="0" anchor="t" bIns="45700" lIns="91425" spcFirstLastPara="1" rIns="91425" wrap="square" tIns="45700">
            <a:normAutofit/>
          </a:bodyPr>
          <a:lstStyle/>
          <a:p>
            <a:pPr indent="0" lvl="0" marL="0" marR="0" rtl="0" algn="just">
              <a:lnSpc>
                <a:spcPct val="100000"/>
              </a:lnSpc>
              <a:spcBef>
                <a:spcPts val="0"/>
              </a:spcBef>
              <a:spcAft>
                <a:spcPts val="0"/>
              </a:spcAft>
              <a:buClr>
                <a:schemeClr val="accent2"/>
              </a:buClr>
              <a:buSzPts val="1320"/>
              <a:buFont typeface="Noto Sans Symbols"/>
              <a:buNone/>
            </a:pPr>
            <a:r>
              <a:rPr b="0" i="0" lang="en-US" sz="2200" u="none" cap="none" strike="noStrike">
                <a:solidFill>
                  <a:schemeClr val="dk1"/>
                </a:solidFill>
                <a:latin typeface="Times New Roman"/>
                <a:ea typeface="Times New Roman"/>
                <a:cs typeface="Times New Roman"/>
                <a:sym typeface="Times New Roman"/>
              </a:rPr>
              <a:t>There are two different types of SVMs, each used for different things:</a:t>
            </a:r>
            <a:endParaRPr/>
          </a:p>
          <a:p>
            <a:pPr indent="0" lvl="0" marL="0" marR="0" rtl="0" algn="just">
              <a:lnSpc>
                <a:spcPct val="100000"/>
              </a:lnSpc>
              <a:spcBef>
                <a:spcPts val="700"/>
              </a:spcBef>
              <a:spcAft>
                <a:spcPts val="0"/>
              </a:spcAft>
              <a:buClr>
                <a:schemeClr val="accent2"/>
              </a:buClr>
              <a:buSzPts val="1320"/>
              <a:buFont typeface="Noto Sans Symbols"/>
              <a:buNone/>
            </a:pPr>
            <a:r>
              <a:rPr b="1" i="0" lang="en-US" sz="2200" u="none" cap="none" strike="noStrike">
                <a:solidFill>
                  <a:schemeClr val="dk1"/>
                </a:solidFill>
                <a:latin typeface="Times New Roman"/>
                <a:ea typeface="Times New Roman"/>
                <a:cs typeface="Times New Roman"/>
                <a:sym typeface="Times New Roman"/>
              </a:rPr>
              <a:t>Linear SVM / Simple SVM: </a:t>
            </a:r>
            <a:r>
              <a:rPr b="0" i="0" lang="en-US" sz="2200" u="none" cap="none" strike="noStrike">
                <a:solidFill>
                  <a:schemeClr val="dk1"/>
                </a:solidFill>
                <a:latin typeface="Times New Roman"/>
                <a:ea typeface="Times New Roman"/>
                <a:cs typeface="Times New Roman"/>
                <a:sym typeface="Times New Roman"/>
              </a:rPr>
              <a:t>Linear SVM is used for linearly separable data, which means if a dataset can be classified into two classes by using a single straight line, then such data is termed as linearly separable data, and classifier is used called as Linear SVM classifier.</a:t>
            </a:r>
            <a:endParaRPr/>
          </a:p>
          <a:p>
            <a:pPr indent="0" lvl="0" marL="0" marR="0" rtl="0" algn="just">
              <a:lnSpc>
                <a:spcPct val="100000"/>
              </a:lnSpc>
              <a:spcBef>
                <a:spcPts val="700"/>
              </a:spcBef>
              <a:spcAft>
                <a:spcPts val="0"/>
              </a:spcAft>
              <a:buClr>
                <a:schemeClr val="accent2"/>
              </a:buClr>
              <a:buSzPts val="1320"/>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320"/>
              <a:buFont typeface="Noto Sans Symbols"/>
              <a:buNone/>
            </a:pPr>
            <a:r>
              <a:rPr b="1" i="0" lang="en-US" sz="2200" u="none" cap="none" strike="noStrike">
                <a:solidFill>
                  <a:schemeClr val="dk1"/>
                </a:solidFill>
                <a:latin typeface="Times New Roman"/>
                <a:ea typeface="Times New Roman"/>
                <a:cs typeface="Times New Roman"/>
                <a:sym typeface="Times New Roman"/>
              </a:rPr>
              <a:t>Non-linear SVM / Kernel SVM: </a:t>
            </a:r>
            <a:r>
              <a:rPr b="0" i="0" lang="en-US" sz="2200" u="none" cap="none" strike="noStrike">
                <a:solidFill>
                  <a:schemeClr val="dk1"/>
                </a:solidFill>
                <a:latin typeface="Times New Roman"/>
                <a:ea typeface="Times New Roman"/>
                <a:cs typeface="Times New Roman"/>
                <a:sym typeface="Times New Roman"/>
              </a:rPr>
              <a:t>Non-Linear SVM is used for non-linearly separated data, which means if a dataset cannot be classified by using a straight line, then such data is termed as non-linear data and classifier used is called as Non-linear SVM classifier. Example of kernel: Linear Kernel, Polynomial Kernel, Radial Basis Function (RBF) Kernel.</a:t>
            </a:r>
            <a:endParaRPr/>
          </a:p>
          <a:p>
            <a:pPr indent="0" lvl="0" marL="0" marR="0" rtl="0" algn="just">
              <a:lnSpc>
                <a:spcPct val="100000"/>
              </a:lnSpc>
              <a:spcBef>
                <a:spcPts val="700"/>
              </a:spcBef>
              <a:spcAft>
                <a:spcPts val="0"/>
              </a:spcAft>
              <a:buClr>
                <a:schemeClr val="accent2"/>
              </a:buClr>
              <a:buSzPts val="1560"/>
              <a:buFont typeface="Noto Sans Symbols"/>
              <a:buNone/>
            </a:pPr>
            <a:r>
              <a:t/>
            </a:r>
            <a:endParaRPr b="0" i="0" sz="2600" u="none" cap="none" strike="noStrike">
              <a:solidFill>
                <a:schemeClr val="dk1"/>
              </a:solidFill>
              <a:latin typeface="Times New Roman"/>
              <a:ea typeface="Times New Roman"/>
              <a:cs typeface="Times New Roman"/>
              <a:sym typeface="Times New Roman"/>
            </a:endParaRPr>
          </a:p>
          <a:p>
            <a:pPr indent="-220028" lvl="0" marL="319088" marR="0" rtl="0" algn="l">
              <a:spcBef>
                <a:spcPts val="700"/>
              </a:spcBef>
              <a:spcAft>
                <a:spcPts val="0"/>
              </a:spcAft>
              <a:buClr>
                <a:schemeClr val="accent2"/>
              </a:buClr>
              <a:buSzPts val="1560"/>
              <a:buFont typeface="Noto Sans Symbols"/>
              <a:buNone/>
            </a:pPr>
            <a:r>
              <a:t/>
            </a:r>
            <a:endParaRPr b="0" i="0" sz="26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7"/>
          <p:cNvSpPr txBox="1"/>
          <p:nvPr>
            <p:ph type="title"/>
          </p:nvPr>
        </p:nvSpPr>
        <p:spPr>
          <a:xfrm>
            <a:off x="612775" y="2286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Types of SVMs</a:t>
            </a:r>
            <a:endParaRPr/>
          </a:p>
        </p:txBody>
      </p:sp>
      <p:sp>
        <p:nvSpPr>
          <p:cNvPr id="227" name="Google Shape;227;p7"/>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28" name="Google Shape;228;p7"/>
          <p:cNvSpPr txBox="1"/>
          <p:nvPr>
            <p:ph idx="1" type="body"/>
          </p:nvPr>
        </p:nvSpPr>
        <p:spPr>
          <a:xfrm>
            <a:off x="612775" y="1600200"/>
            <a:ext cx="8153400" cy="478155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440"/>
              <a:buFont typeface="Noto Sans Symbols"/>
              <a:buNone/>
            </a:pPr>
            <a:r>
              <a:rPr b="0" i="0" lang="en-US" sz="2400" u="none">
                <a:solidFill>
                  <a:schemeClr val="dk1"/>
                </a:solidFill>
                <a:latin typeface="Times New Roman"/>
                <a:ea typeface="Times New Roman"/>
                <a:cs typeface="Times New Roman"/>
                <a:sym typeface="Times New Roman"/>
              </a:rPr>
              <a:t>There are two different types of SVMs, each used for different things:</a:t>
            </a:r>
            <a:endParaRPr/>
          </a:p>
          <a:p>
            <a:pPr indent="0" lvl="0" marL="0" marR="0" rtl="0" algn="just">
              <a:lnSpc>
                <a:spcPct val="100000"/>
              </a:lnSpc>
              <a:spcBef>
                <a:spcPts val="700"/>
              </a:spcBef>
              <a:spcAft>
                <a:spcPts val="0"/>
              </a:spcAft>
              <a:buClr>
                <a:schemeClr val="accent2"/>
              </a:buClr>
              <a:buSzPts val="1440"/>
              <a:buFont typeface="Noto Sans Symbols"/>
              <a:buNone/>
            </a:pPr>
            <a:r>
              <a:rPr b="1" i="0" lang="en-US" sz="2400" u="none">
                <a:solidFill>
                  <a:schemeClr val="dk1"/>
                </a:solidFill>
                <a:latin typeface="Times New Roman"/>
                <a:ea typeface="Times New Roman"/>
                <a:cs typeface="Times New Roman"/>
                <a:sym typeface="Times New Roman"/>
              </a:rPr>
              <a:t>Linear SVM / Simple SVM: </a:t>
            </a:r>
            <a:r>
              <a:rPr b="0" i="0" lang="en-US" sz="2400" u="none">
                <a:solidFill>
                  <a:schemeClr val="dk1"/>
                </a:solidFill>
                <a:latin typeface="Times New Roman"/>
                <a:ea typeface="Times New Roman"/>
                <a:cs typeface="Times New Roman"/>
                <a:sym typeface="Times New Roman"/>
              </a:rPr>
              <a:t>Linear SVM is used for linearly separable data, which means if a dataset can be classified into two classes by using a single straight line, then such data is termed as linearly separable data, and classifier is used called as Linear SVM classifier.</a:t>
            </a:r>
            <a:endParaRPr/>
          </a:p>
          <a:p>
            <a:pPr indent="0" lvl="0" marL="0"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8" lvl="0" marL="319088" marR="0" rtl="0" algn="l">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8"/>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236" name="Google Shape;236;p8"/>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37" name="Google Shape;237;p8"/>
          <p:cNvSpPr txBox="1"/>
          <p:nvPr>
            <p:ph idx="1" type="body"/>
          </p:nvPr>
        </p:nvSpPr>
        <p:spPr>
          <a:xfrm>
            <a:off x="612775" y="1600200"/>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How can we identify the right hyper-plane?</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Identify the right hyper-plane (Scenario-1): Here, we have three hyper-planes (A, B, and C). Now, identify the right hyper-plane to classify stars and circles.</a:t>
            </a:r>
            <a:endParaRPr/>
          </a:p>
          <a:p>
            <a:pPr indent="-239076" lvl="0" marL="319087" marR="0" rtl="0" algn="l">
              <a:lnSpc>
                <a:spcPct val="100000"/>
              </a:lnSpc>
              <a:spcBef>
                <a:spcPts val="700"/>
              </a:spcBef>
              <a:spcAft>
                <a:spcPts val="0"/>
              </a:spcAft>
              <a:buClr>
                <a:schemeClr val="accent2"/>
              </a:buClr>
              <a:buSzPts val="1260"/>
              <a:buFont typeface="Noto Sans Symbols"/>
              <a:buNone/>
            </a:pPr>
            <a:r>
              <a:t/>
            </a:r>
            <a:endParaRPr b="0" i="0" sz="2100" u="none">
              <a:solidFill>
                <a:schemeClr val="dk1"/>
              </a:solidFill>
              <a:latin typeface="Times New Roman"/>
              <a:ea typeface="Times New Roman"/>
              <a:cs typeface="Times New Roman"/>
              <a:sym typeface="Times New Roman"/>
            </a:endParaRPr>
          </a:p>
          <a:p>
            <a:pPr indent="-239078" lvl="0" marL="319088" marR="0" rtl="0" algn="l">
              <a:spcBef>
                <a:spcPts val="700"/>
              </a:spcBef>
              <a:spcAft>
                <a:spcPts val="0"/>
              </a:spcAft>
              <a:buClr>
                <a:schemeClr val="accent2"/>
              </a:buClr>
              <a:buSzPts val="1260"/>
              <a:buFont typeface="Noto Sans Symbols"/>
              <a:buNone/>
            </a:pPr>
            <a:r>
              <a:t/>
            </a:r>
            <a:endParaRPr b="0" i="0" sz="2100" u="none">
              <a:solidFill>
                <a:schemeClr val="dk1"/>
              </a:solidFill>
              <a:latin typeface="Times New Roman"/>
              <a:ea typeface="Times New Roman"/>
              <a:cs typeface="Times New Roman"/>
              <a:sym typeface="Times New Roman"/>
            </a:endParaRPr>
          </a:p>
        </p:txBody>
      </p:sp>
      <p:pic>
        <p:nvPicPr>
          <p:cNvPr id="238" name="Google Shape;238;p8"/>
          <p:cNvPicPr preferRelativeResize="0"/>
          <p:nvPr/>
        </p:nvPicPr>
        <p:blipFill rotWithShape="1">
          <a:blip r:embed="rId3">
            <a:alphaModFix/>
          </a:blip>
          <a:srcRect b="0" l="0" r="0" t="0"/>
          <a:stretch/>
        </p:blipFill>
        <p:spPr>
          <a:xfrm>
            <a:off x="1447800" y="3552825"/>
            <a:ext cx="5791200" cy="3276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9"/>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246" name="Google Shape;246;p9"/>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47" name="Google Shape;247;p9"/>
          <p:cNvSpPr txBox="1"/>
          <p:nvPr>
            <p:ph idx="1" type="body"/>
          </p:nvPr>
        </p:nvSpPr>
        <p:spPr>
          <a:xfrm>
            <a:off x="612775" y="1600200"/>
            <a:ext cx="8153400" cy="51816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Identify the right hyper-plane (Scenario-2): Here, we have three hyper-planes (A, B, and C), and all segregate the classes well. Now, How can we identify the right hyper-plane?</a:t>
            </a:r>
            <a:endParaRPr b="0" i="0" sz="2100" u="none">
              <a:solidFill>
                <a:schemeClr val="dk1"/>
              </a:solidFill>
              <a:latin typeface="Times New Roman"/>
              <a:ea typeface="Times New Roman"/>
              <a:cs typeface="Times New Roman"/>
              <a:sym typeface="Times New Roman"/>
            </a:endParaRPr>
          </a:p>
          <a:p>
            <a:pPr indent="-239078" lvl="0" marL="319088" marR="0" rtl="0" algn="l">
              <a:spcBef>
                <a:spcPts val="700"/>
              </a:spcBef>
              <a:spcAft>
                <a:spcPts val="0"/>
              </a:spcAft>
              <a:buClr>
                <a:schemeClr val="accent2"/>
              </a:buClr>
              <a:buSzPts val="1260"/>
              <a:buFont typeface="Noto Sans Symbols"/>
              <a:buNone/>
            </a:pPr>
            <a:r>
              <a:t/>
            </a:r>
            <a:endParaRPr b="0" i="0" sz="2100" u="none">
              <a:solidFill>
                <a:schemeClr val="dk1"/>
              </a:solidFill>
              <a:latin typeface="Times New Roman"/>
              <a:ea typeface="Times New Roman"/>
              <a:cs typeface="Times New Roman"/>
              <a:sym typeface="Times New Roman"/>
            </a:endParaRPr>
          </a:p>
        </p:txBody>
      </p:sp>
      <p:pic>
        <p:nvPicPr>
          <p:cNvPr id="248" name="Google Shape;248;p9"/>
          <p:cNvPicPr preferRelativeResize="0"/>
          <p:nvPr/>
        </p:nvPicPr>
        <p:blipFill rotWithShape="1">
          <a:blip r:embed="rId3">
            <a:alphaModFix/>
          </a:blip>
          <a:srcRect b="0" l="0" r="0" t="0"/>
          <a:stretch/>
        </p:blipFill>
        <p:spPr>
          <a:xfrm>
            <a:off x="838200" y="2971800"/>
            <a:ext cx="7315200" cy="3695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0"/>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256" name="Google Shape;256;p10"/>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57" name="Google Shape;257;p10"/>
          <p:cNvSpPr txBox="1"/>
          <p:nvPr>
            <p:ph idx="1" type="body"/>
          </p:nvPr>
        </p:nvSpPr>
        <p:spPr>
          <a:xfrm>
            <a:off x="612775" y="1600200"/>
            <a:ext cx="8153400" cy="51816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Identify the right hyper-plane (Scenario-3):</a:t>
            </a:r>
            <a:endParaRPr/>
          </a:p>
        </p:txBody>
      </p:sp>
      <p:pic>
        <p:nvPicPr>
          <p:cNvPr id="258" name="Google Shape;258;p10"/>
          <p:cNvPicPr preferRelativeResize="0"/>
          <p:nvPr/>
        </p:nvPicPr>
        <p:blipFill rotWithShape="1">
          <a:blip r:embed="rId3">
            <a:alphaModFix/>
          </a:blip>
          <a:srcRect b="0" l="0" r="0" t="0"/>
          <a:stretch/>
        </p:blipFill>
        <p:spPr>
          <a:xfrm>
            <a:off x="612775" y="2362200"/>
            <a:ext cx="7083425" cy="3981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1"/>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266" name="Google Shape;266;p11"/>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67" name="Google Shape;267;p11"/>
          <p:cNvSpPr txBox="1"/>
          <p:nvPr>
            <p:ph idx="1" type="body"/>
          </p:nvPr>
        </p:nvSpPr>
        <p:spPr>
          <a:xfrm>
            <a:off x="377825" y="1676400"/>
            <a:ext cx="8153400" cy="51816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Can we classify two classes (Scenario-4)?</a:t>
            </a:r>
            <a:endParaRPr/>
          </a:p>
        </p:txBody>
      </p:sp>
      <p:pic>
        <p:nvPicPr>
          <p:cNvPr id="268" name="Google Shape;268;p11"/>
          <p:cNvPicPr preferRelativeResize="0"/>
          <p:nvPr/>
        </p:nvPicPr>
        <p:blipFill rotWithShape="1">
          <a:blip r:embed="rId3">
            <a:alphaModFix/>
          </a:blip>
          <a:srcRect b="0" l="0" r="0" t="0"/>
          <a:stretch/>
        </p:blipFill>
        <p:spPr>
          <a:xfrm>
            <a:off x="914400" y="2133600"/>
            <a:ext cx="6705600" cy="4572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2"/>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276" name="Google Shape;276;p1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77" name="Google Shape;277;p12"/>
          <p:cNvSpPr txBox="1"/>
          <p:nvPr>
            <p:ph idx="1" type="body"/>
          </p:nvPr>
        </p:nvSpPr>
        <p:spPr>
          <a:xfrm>
            <a:off x="377825" y="1676400"/>
            <a:ext cx="8153400" cy="51816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Can we classify two classes (Scenario-4)?</a:t>
            </a:r>
            <a:endParaRPr/>
          </a:p>
        </p:txBody>
      </p:sp>
      <p:pic>
        <p:nvPicPr>
          <p:cNvPr id="278" name="Google Shape;278;p12"/>
          <p:cNvPicPr preferRelativeResize="0"/>
          <p:nvPr/>
        </p:nvPicPr>
        <p:blipFill rotWithShape="1">
          <a:blip r:embed="rId3">
            <a:alphaModFix/>
          </a:blip>
          <a:srcRect b="0" l="0" r="0" t="0"/>
          <a:stretch/>
        </p:blipFill>
        <p:spPr>
          <a:xfrm>
            <a:off x="1524000" y="2438400"/>
            <a:ext cx="5486400" cy="4267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3"/>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286" name="Google Shape;286;p13"/>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87" name="Google Shape;287;p13"/>
          <p:cNvSpPr txBox="1"/>
          <p:nvPr>
            <p:ph idx="1" type="body"/>
          </p:nvPr>
        </p:nvSpPr>
        <p:spPr>
          <a:xfrm>
            <a:off x="377825" y="1676400"/>
            <a:ext cx="8153400" cy="51816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Find the hyper-plane to segregate to classes (Scenario-5):</a:t>
            </a:r>
            <a:endParaRPr/>
          </a:p>
        </p:txBody>
      </p:sp>
      <p:pic>
        <p:nvPicPr>
          <p:cNvPr id="288" name="Google Shape;288;p13"/>
          <p:cNvPicPr preferRelativeResize="0"/>
          <p:nvPr/>
        </p:nvPicPr>
        <p:blipFill rotWithShape="1">
          <a:blip r:embed="rId3">
            <a:alphaModFix/>
          </a:blip>
          <a:srcRect b="0" l="0" r="0" t="0"/>
          <a:stretch/>
        </p:blipFill>
        <p:spPr>
          <a:xfrm>
            <a:off x="838200" y="2771775"/>
            <a:ext cx="6858000" cy="3886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4"/>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296" name="Google Shape;296;p14"/>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97" name="Google Shape;297;p14"/>
          <p:cNvSpPr txBox="1"/>
          <p:nvPr>
            <p:ph idx="1" type="body"/>
          </p:nvPr>
        </p:nvSpPr>
        <p:spPr>
          <a:xfrm>
            <a:off x="377825" y="1676400"/>
            <a:ext cx="8153400" cy="51816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SVM can solve this problem. Easily! It solves this problem by introducing additional features. Here, we will add a new feature, z=x^2+y^2. Now, let’s plot the data points on axis x and z:</a:t>
            </a:r>
            <a:endParaRPr/>
          </a:p>
        </p:txBody>
      </p:sp>
      <p:pic>
        <p:nvPicPr>
          <p:cNvPr id="298" name="Google Shape;298;p14"/>
          <p:cNvPicPr preferRelativeResize="0"/>
          <p:nvPr/>
        </p:nvPicPr>
        <p:blipFill rotWithShape="1">
          <a:blip r:embed="rId3">
            <a:alphaModFix/>
          </a:blip>
          <a:srcRect b="0" l="0" r="0" t="0"/>
          <a:stretch/>
        </p:blipFill>
        <p:spPr>
          <a:xfrm>
            <a:off x="990600" y="3429000"/>
            <a:ext cx="6705600" cy="3209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5"/>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Does a Support Vector Machine / SVM Work?</a:t>
            </a:r>
            <a:endParaRPr/>
          </a:p>
        </p:txBody>
      </p:sp>
      <p:sp>
        <p:nvSpPr>
          <p:cNvPr id="306" name="Google Shape;306;p15"/>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07" name="Google Shape;307;p15"/>
          <p:cNvSpPr txBox="1"/>
          <p:nvPr>
            <p:ph idx="1" type="body"/>
          </p:nvPr>
        </p:nvSpPr>
        <p:spPr>
          <a:xfrm>
            <a:off x="377825" y="1676400"/>
            <a:ext cx="8153400" cy="51816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Non-linear SVM / Kernel SVM: Non-Linear SVM is used for non-linearly separated data, which means if a dataset cannot be classified by using a straight line, then such data is termed as non-linear data and classifier used is called as Non-linear SVM classifier. Example of kernel: Linear Kernel, Polynomial Kernel, Radial Basis Function (RBF) Kernel.</a:t>
            </a:r>
            <a:endParaRPr/>
          </a:p>
        </p:txBody>
      </p:sp>
      <p:pic>
        <p:nvPicPr>
          <p:cNvPr id="308" name="Google Shape;308;p15"/>
          <p:cNvPicPr preferRelativeResize="0"/>
          <p:nvPr/>
        </p:nvPicPr>
        <p:blipFill rotWithShape="1">
          <a:blip r:embed="rId3">
            <a:alphaModFix/>
          </a:blip>
          <a:srcRect b="0" l="0" r="0" t="0"/>
          <a:stretch/>
        </p:blipFill>
        <p:spPr>
          <a:xfrm>
            <a:off x="1444625" y="4191000"/>
            <a:ext cx="6019800" cy="2552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6"/>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200"/>
              <a:buFont typeface="Times New Roman"/>
              <a:buNone/>
            </a:pPr>
            <a:br>
              <a:rPr b="0" i="0" lang="en-US" sz="3200" u="none">
                <a:solidFill>
                  <a:schemeClr val="dk2"/>
                </a:solidFill>
                <a:latin typeface="Times New Roman"/>
                <a:ea typeface="Times New Roman"/>
                <a:cs typeface="Times New Roman"/>
                <a:sym typeface="Times New Roman"/>
              </a:rPr>
            </a:br>
            <a:r>
              <a:rPr b="0" i="0" lang="en-US" sz="3200" u="none">
                <a:solidFill>
                  <a:schemeClr val="dk2"/>
                </a:solidFill>
                <a:latin typeface="Times New Roman"/>
                <a:ea typeface="Times New Roman"/>
                <a:cs typeface="Times New Roman"/>
                <a:sym typeface="Times New Roman"/>
              </a:rPr>
              <a:t>Linearly Separable Data VS Non-Linearly Separable Data</a:t>
            </a:r>
            <a:br>
              <a:rPr b="0" i="0" lang="en-US" sz="4400" u="none">
                <a:solidFill>
                  <a:schemeClr val="dk2"/>
                </a:solidFill>
                <a:latin typeface="Twentieth Century"/>
                <a:ea typeface="Twentieth Century"/>
                <a:cs typeface="Twentieth Century"/>
                <a:sym typeface="Twentieth Century"/>
              </a:rPr>
            </a:br>
            <a:r>
              <a:rPr b="0" i="0" lang="en-US" sz="4400" u="none">
                <a:solidFill>
                  <a:schemeClr val="dk2"/>
                </a:solidFill>
                <a:latin typeface="Twentieth Century"/>
                <a:ea typeface="Twentieth Century"/>
                <a:cs typeface="Twentieth Century"/>
                <a:sym typeface="Twentieth Century"/>
              </a:rPr>
              <a:t> </a:t>
            </a:r>
            <a:endParaRPr/>
          </a:p>
        </p:txBody>
      </p:sp>
      <p:sp>
        <p:nvSpPr>
          <p:cNvPr id="316" name="Google Shape;316;p16"/>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720"/>
              <a:buFont typeface="Noto Sans Symbols"/>
              <a:buNone/>
            </a:pPr>
            <a:br>
              <a:rPr b="0" i="0" lang="en-US" sz="1200" u="none">
                <a:solidFill>
                  <a:schemeClr val="dk1"/>
                </a:solidFill>
                <a:latin typeface="Twentieth Century"/>
                <a:ea typeface="Twentieth Century"/>
                <a:cs typeface="Twentieth Century"/>
                <a:sym typeface="Twentieth Century"/>
              </a:rPr>
            </a:br>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720"/>
              <a:buFont typeface="Noto Sans Symbols"/>
              <a:buNone/>
            </a:pPr>
            <a:r>
              <a:t/>
            </a:r>
            <a:endParaRPr b="0" i="0" sz="1200" u="none">
              <a:solidFill>
                <a:schemeClr val="dk1"/>
              </a:solidFill>
              <a:latin typeface="Times New Roman"/>
              <a:ea typeface="Times New Roman"/>
              <a:cs typeface="Times New Roman"/>
              <a:sym typeface="Times New Roman"/>
            </a:endParaRPr>
          </a:p>
          <a:p>
            <a:pPr indent="0" lvl="0" marL="0" marR="0" rtl="0" algn="l">
              <a:lnSpc>
                <a:spcPct val="100000"/>
              </a:lnSpc>
              <a:spcBef>
                <a:spcPts val="700"/>
              </a:spcBef>
              <a:spcAft>
                <a:spcPts val="0"/>
              </a:spcAft>
              <a:buClr>
                <a:schemeClr val="accent2"/>
              </a:buClr>
              <a:buSzPts val="1200"/>
              <a:buFont typeface="Noto Sans Symbols"/>
              <a:buNone/>
            </a:pPr>
            <a:r>
              <a:rPr b="0" i="0" lang="en-US" sz="2000" u="none">
                <a:solidFill>
                  <a:schemeClr val="dk1"/>
                </a:solidFill>
                <a:latin typeface="Times New Roman"/>
                <a:ea typeface="Times New Roman"/>
                <a:cs typeface="Times New Roman"/>
                <a:sym typeface="Times New Roman"/>
              </a:rPr>
              <a:t>Fig 2 : Linearly Separable Data                Fig 3 : Non-Linearly Separable Data</a:t>
            </a:r>
            <a:endParaRPr/>
          </a:p>
        </p:txBody>
      </p:sp>
      <p:sp>
        <p:nvSpPr>
          <p:cNvPr id="317" name="Google Shape;317;p16"/>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pic>
        <p:nvPicPr>
          <p:cNvPr id="318" name="Google Shape;318;p16"/>
          <p:cNvPicPr preferRelativeResize="0"/>
          <p:nvPr/>
        </p:nvPicPr>
        <p:blipFill rotWithShape="1">
          <a:blip r:embed="rId3">
            <a:alphaModFix/>
          </a:blip>
          <a:srcRect b="0" l="0" r="0" t="0"/>
          <a:stretch/>
        </p:blipFill>
        <p:spPr>
          <a:xfrm>
            <a:off x="685800" y="1558925"/>
            <a:ext cx="7845425" cy="3740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7"/>
          <p:cNvSpPr txBox="1"/>
          <p:nvPr>
            <p:ph idx="1" type="body"/>
          </p:nvPr>
        </p:nvSpPr>
        <p:spPr>
          <a:xfrm>
            <a:off x="395287" y="1516062"/>
            <a:ext cx="8153400" cy="491648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740"/>
              <a:buFont typeface="Noto Sans Symbols"/>
              <a:buChar char="❑"/>
            </a:pPr>
            <a:r>
              <a:rPr b="1" i="0" lang="en-US" sz="2900" u="none">
                <a:solidFill>
                  <a:schemeClr val="dk1"/>
                </a:solidFill>
                <a:latin typeface="Times New Roman"/>
                <a:ea typeface="Times New Roman"/>
                <a:cs typeface="Times New Roman"/>
                <a:sym typeface="Times New Roman"/>
              </a:rPr>
              <a:t>Linear SVM: </a:t>
            </a:r>
            <a:r>
              <a:rPr b="0" i="0" lang="en-US" sz="2400" u="none">
                <a:solidFill>
                  <a:schemeClr val="dk1"/>
                </a:solidFill>
                <a:latin typeface="Times New Roman"/>
                <a:ea typeface="Times New Roman"/>
                <a:cs typeface="Times New Roman"/>
                <a:sym typeface="Times New Roman"/>
              </a:rPr>
              <a:t>Suppose we have a dataset that has two tags (green and blue), and the dataset has two features x1 and x2. We want a classifier that can classify the pair(x1, x2) of coordinates in either green or blue. Consider the below image:</a:t>
            </a:r>
            <a:endParaRPr/>
          </a:p>
          <a:p>
            <a:pPr indent="-227648" lvl="0" marL="319088" marR="0" rtl="0" algn="l">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p:txBody>
      </p:sp>
      <p:sp>
        <p:nvSpPr>
          <p:cNvPr id="326" name="Google Shape;326;p17"/>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27" name="Google Shape;327;p17"/>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a:solidFill>
                  <a:schemeClr val="dk1"/>
                </a:solidFill>
                <a:latin typeface="Times New Roman"/>
                <a:ea typeface="Times New Roman"/>
                <a:cs typeface="Times New Roman"/>
                <a:sym typeface="Times New Roman"/>
              </a:rPr>
              <a:t>How does SVM works?</a:t>
            </a:r>
            <a:endParaRPr/>
          </a:p>
        </p:txBody>
      </p:sp>
      <p:pic>
        <p:nvPicPr>
          <p:cNvPr id="328" name="Google Shape;328;p17"/>
          <p:cNvPicPr preferRelativeResize="0"/>
          <p:nvPr/>
        </p:nvPicPr>
        <p:blipFill rotWithShape="1">
          <a:blip r:embed="rId3">
            <a:alphaModFix/>
          </a:blip>
          <a:srcRect b="0" l="0" r="0" t="0"/>
          <a:stretch/>
        </p:blipFill>
        <p:spPr>
          <a:xfrm>
            <a:off x="1905000" y="3581400"/>
            <a:ext cx="4800600" cy="2971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8"/>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How does SVM works?</a:t>
            </a:r>
            <a:endParaRPr/>
          </a:p>
        </p:txBody>
      </p:sp>
      <p:sp>
        <p:nvSpPr>
          <p:cNvPr id="336" name="Google Shape;336;p18"/>
          <p:cNvSpPr txBox="1"/>
          <p:nvPr>
            <p:ph idx="1" type="body"/>
          </p:nvPr>
        </p:nvSpPr>
        <p:spPr>
          <a:xfrm>
            <a:off x="612775" y="1516062"/>
            <a:ext cx="8153400" cy="53419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440"/>
              <a:buFont typeface="Noto Sans Symbols"/>
              <a:buChar char="❑"/>
            </a:pPr>
            <a:r>
              <a:rPr b="0" i="0" lang="en-US" sz="2400" u="none">
                <a:solidFill>
                  <a:srgbClr val="000000"/>
                </a:solidFill>
                <a:latin typeface="Times New Roman"/>
                <a:ea typeface="Times New Roman"/>
                <a:cs typeface="Times New Roman"/>
                <a:sym typeface="Times New Roman"/>
              </a:rPr>
              <a:t>So as it is 2-d space so by just using a straight line, we can easily separate these two classes. But there can be multiple lines that can separate these classes. Consider the below image:</a:t>
            </a:r>
            <a:endParaRPr/>
          </a:p>
          <a:p>
            <a:pPr indent="-212407" lvl="0" marL="319087" marR="0" rtl="0" algn="just">
              <a:lnSpc>
                <a:spcPct val="100000"/>
              </a:lnSpc>
              <a:spcBef>
                <a:spcPts val="700"/>
              </a:spcBef>
              <a:spcAft>
                <a:spcPts val="0"/>
              </a:spcAft>
              <a:buClr>
                <a:srgbClr val="00B0F0"/>
              </a:buClr>
              <a:buSzPts val="1680"/>
              <a:buFont typeface="Noto Sans Symbols"/>
              <a:buNone/>
            </a:pPr>
            <a:r>
              <a:t/>
            </a:r>
            <a:endParaRPr b="1" i="0" sz="2800" u="none">
              <a:solidFill>
                <a:schemeClr val="dk1"/>
              </a:solidFill>
              <a:latin typeface="Times New Roman"/>
              <a:ea typeface="Times New Roman"/>
              <a:cs typeface="Times New Roman"/>
              <a:sym typeface="Times New Roman"/>
            </a:endParaRPr>
          </a:p>
          <a:p>
            <a:pPr indent="-212407" lvl="0" marL="319087" marR="0" rtl="0" algn="just">
              <a:lnSpc>
                <a:spcPct val="100000"/>
              </a:lnSpc>
              <a:spcBef>
                <a:spcPts val="700"/>
              </a:spcBef>
              <a:spcAft>
                <a:spcPts val="0"/>
              </a:spcAft>
              <a:buClr>
                <a:srgbClr val="00B0F0"/>
              </a:buClr>
              <a:buSzPts val="1680"/>
              <a:buFont typeface="Noto Sans Symbols"/>
              <a:buNone/>
            </a:pPr>
            <a:r>
              <a:t/>
            </a:r>
            <a:endParaRPr b="1" i="0" sz="28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680"/>
              <a:buFont typeface="Noto Sans Symbols"/>
              <a:buNone/>
            </a:pPr>
            <a:r>
              <a:t/>
            </a:r>
            <a:endParaRPr b="1" i="0" sz="28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rgbClr val="00B0F0"/>
              </a:buClr>
              <a:buSzPts val="1320"/>
              <a:buFont typeface="Noto Sans Symbols"/>
              <a:buChar char="❑"/>
            </a:pPr>
            <a:r>
              <a:rPr b="0" i="0" lang="en-US" sz="2200" u="none">
                <a:solidFill>
                  <a:schemeClr val="dk1"/>
                </a:solidFill>
                <a:latin typeface="Times New Roman"/>
                <a:ea typeface="Times New Roman"/>
                <a:cs typeface="Times New Roman"/>
                <a:sym typeface="Times New Roman"/>
              </a:rPr>
              <a:t>Hence, the SVM algorithm helps to find the best line or decision boundary/hyperplane. SVM algorithm finds the closest point of the lines from both the classes. These points are called support vectors. The distance between the vectors and the hyperplane is called as margin. And the goal of SVM is to maximize this margin. The hyperplane with maximum margin is called the optimal hyperplane.</a:t>
            </a:r>
            <a:endParaRPr/>
          </a:p>
        </p:txBody>
      </p:sp>
      <p:sp>
        <p:nvSpPr>
          <p:cNvPr id="337" name="Google Shape;337;p18"/>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pic>
        <p:nvPicPr>
          <p:cNvPr id="338" name="Google Shape;338;p18"/>
          <p:cNvPicPr preferRelativeResize="0"/>
          <p:nvPr/>
        </p:nvPicPr>
        <p:blipFill rotWithShape="1">
          <a:blip r:embed="rId3">
            <a:alphaModFix/>
          </a:blip>
          <a:srcRect b="0" l="0" r="0" t="0"/>
          <a:stretch/>
        </p:blipFill>
        <p:spPr>
          <a:xfrm>
            <a:off x="1676400" y="2865437"/>
            <a:ext cx="5067300" cy="178276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9"/>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How does SVM works?</a:t>
            </a:r>
            <a:endParaRPr/>
          </a:p>
        </p:txBody>
      </p:sp>
      <p:sp>
        <p:nvSpPr>
          <p:cNvPr id="346" name="Google Shape;346;p19"/>
          <p:cNvSpPr txBox="1"/>
          <p:nvPr>
            <p:ph idx="1" type="body"/>
          </p:nvPr>
        </p:nvSpPr>
        <p:spPr>
          <a:xfrm>
            <a:off x="612775" y="1600200"/>
            <a:ext cx="8153400" cy="4876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440"/>
              <a:buFont typeface="Noto Sans Symbols"/>
              <a:buChar char="❑"/>
            </a:pPr>
            <a:r>
              <a:rPr b="1" i="0" lang="en-US" sz="2400" u="none">
                <a:solidFill>
                  <a:schemeClr val="dk1"/>
                </a:solidFill>
                <a:latin typeface="Times New Roman"/>
                <a:ea typeface="Times New Roman"/>
                <a:cs typeface="Times New Roman"/>
                <a:sym typeface="Times New Roman"/>
              </a:rPr>
              <a:t>Non-Linear SVM: </a:t>
            </a:r>
            <a:r>
              <a:rPr b="0" i="0" lang="en-US" sz="2400" u="none">
                <a:solidFill>
                  <a:srgbClr val="333333"/>
                </a:solidFill>
                <a:latin typeface="Times New Roman"/>
                <a:ea typeface="Times New Roman"/>
                <a:cs typeface="Times New Roman"/>
                <a:sym typeface="Times New Roman"/>
              </a:rPr>
              <a:t>For non-linear data, we cannot draw a single straight line. Consider the below image:</a:t>
            </a:r>
            <a:endParaRPr/>
          </a:p>
          <a:p>
            <a:pPr indent="-227647" lvl="0" marL="319087" marR="0" rtl="0" algn="just">
              <a:lnSpc>
                <a:spcPct val="100000"/>
              </a:lnSpc>
              <a:spcBef>
                <a:spcPts val="700"/>
              </a:spcBef>
              <a:spcAft>
                <a:spcPts val="0"/>
              </a:spcAft>
              <a:buClr>
                <a:srgbClr val="00B0F0"/>
              </a:buClr>
              <a:buSzPts val="1440"/>
              <a:buFont typeface="Noto Sans Symbols"/>
              <a:buNone/>
            </a:pPr>
            <a:r>
              <a:t/>
            </a:r>
            <a:endParaRPr b="0" i="0" sz="2400" u="none">
              <a:solidFill>
                <a:srgbClr val="333333"/>
              </a:solidFill>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rgbClr val="00B0F0"/>
              </a:buClr>
              <a:buSzPts val="1440"/>
              <a:buFont typeface="Noto Sans Symbols"/>
              <a:buNone/>
            </a:pPr>
            <a:r>
              <a:t/>
            </a:r>
            <a:endParaRPr b="1" i="0" sz="2400" u="none">
              <a:solidFill>
                <a:srgbClr val="333333"/>
              </a:solidFill>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rgbClr val="00B0F0"/>
              </a:buClr>
              <a:buSzPts val="1440"/>
              <a:buFont typeface="Noto Sans Symbols"/>
              <a:buNone/>
            </a:pPr>
            <a:r>
              <a:t/>
            </a:r>
            <a:endParaRPr b="1" i="0" sz="2400" u="none">
              <a:solidFill>
                <a:srgbClr val="333333"/>
              </a:solidFill>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rgbClr val="00B0F0"/>
              </a:buClr>
              <a:buSzPts val="1440"/>
              <a:buFont typeface="Noto Sans Symbols"/>
              <a:buNone/>
            </a:pPr>
            <a:r>
              <a:t/>
            </a:r>
            <a:endParaRPr b="1" i="0" sz="2400" u="none">
              <a:solidFill>
                <a:srgbClr val="333333"/>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440"/>
              <a:buFont typeface="Noto Sans Symbols"/>
              <a:buNone/>
            </a:pPr>
            <a:r>
              <a:t/>
            </a:r>
            <a:endParaRPr b="1" i="0" sz="2400" u="none">
              <a:solidFill>
                <a:srgbClr val="333333"/>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rgbClr val="00B0F0"/>
              </a:buClr>
              <a:buSzPts val="1440"/>
              <a:buFont typeface="Noto Sans Symbols"/>
              <a:buChar char="❑"/>
            </a:pPr>
            <a:r>
              <a:rPr b="0" i="0" lang="en-US" sz="2400" u="none">
                <a:solidFill>
                  <a:schemeClr val="dk1"/>
                </a:solidFill>
                <a:latin typeface="Times New Roman"/>
                <a:ea typeface="Times New Roman"/>
                <a:cs typeface="Times New Roman"/>
                <a:sym typeface="Times New Roman"/>
              </a:rPr>
              <a:t>So to separate these data points, we need to add one more dimension. For linear data, we have used two dimensions x and y, so for non-linear data, we will add a third dimension z. It can be calculated as:                     </a:t>
            </a:r>
            <a:r>
              <a:rPr b="0" i="0" lang="en-US" sz="2000" u="none">
                <a:solidFill>
                  <a:schemeClr val="dk1"/>
                </a:solidFill>
                <a:latin typeface="Times New Roman"/>
                <a:ea typeface="Times New Roman"/>
                <a:cs typeface="Times New Roman"/>
                <a:sym typeface="Times New Roman"/>
              </a:rPr>
              <a:t>(</a:t>
            </a:r>
            <a:r>
              <a:rPr b="0" i="0" lang="en-US" sz="2000" u="none">
                <a:solidFill>
                  <a:srgbClr val="2B3E51"/>
                </a:solidFill>
                <a:latin typeface="Times New Roman"/>
                <a:ea typeface="Times New Roman"/>
                <a:cs typeface="Times New Roman"/>
                <a:sym typeface="Times New Roman"/>
              </a:rPr>
              <a:t>You’ll notice that’s the equation for a circle).</a:t>
            </a:r>
            <a:endParaRPr b="1" i="0" sz="2000" u="none">
              <a:solidFill>
                <a:schemeClr val="dk1"/>
              </a:solidFill>
              <a:latin typeface="Times New Roman"/>
              <a:ea typeface="Times New Roman"/>
              <a:cs typeface="Times New Roman"/>
              <a:sym typeface="Times New Roman"/>
            </a:endParaRPr>
          </a:p>
          <a:p>
            <a:pPr indent="-242888" lvl="0" marL="319088" marR="0" rtl="0" algn="l">
              <a:spcBef>
                <a:spcPts val="700"/>
              </a:spcBef>
              <a:spcAft>
                <a:spcPts val="0"/>
              </a:spcAft>
              <a:buClr>
                <a:schemeClr val="accent2"/>
              </a:buClr>
              <a:buSzPts val="1200"/>
              <a:buFont typeface="Noto Sans Symbols"/>
              <a:buNone/>
            </a:pPr>
            <a:r>
              <a:t/>
            </a:r>
            <a:endParaRPr b="1" i="0" sz="2000" u="none">
              <a:solidFill>
                <a:schemeClr val="dk1"/>
              </a:solidFill>
              <a:latin typeface="Times New Roman"/>
              <a:ea typeface="Times New Roman"/>
              <a:cs typeface="Times New Roman"/>
              <a:sym typeface="Times New Roman"/>
            </a:endParaRPr>
          </a:p>
        </p:txBody>
      </p:sp>
      <p:sp>
        <p:nvSpPr>
          <p:cNvPr id="347" name="Google Shape;347;p19"/>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48" name="Google Shape;348;p19"/>
          <p:cNvSpPr txBox="1"/>
          <p:nvPr/>
        </p:nvSpPr>
        <p:spPr>
          <a:xfrm>
            <a:off x="0" y="6477000"/>
            <a:ext cx="9144000" cy="3810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9" name="Google Shape;349;p19"/>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50" name="Google Shape;350;p19"/>
          <p:cNvPicPr preferRelativeResize="0"/>
          <p:nvPr/>
        </p:nvPicPr>
        <p:blipFill rotWithShape="1">
          <a:blip r:embed="rId3">
            <a:alphaModFix/>
          </a:blip>
          <a:srcRect b="0" l="0" r="0" t="0"/>
          <a:stretch/>
        </p:blipFill>
        <p:spPr>
          <a:xfrm>
            <a:off x="1447800" y="2438400"/>
            <a:ext cx="4648200" cy="2438400"/>
          </a:xfrm>
          <a:prstGeom prst="rect">
            <a:avLst/>
          </a:prstGeom>
          <a:noFill/>
          <a:ln>
            <a:noFill/>
          </a:ln>
        </p:spPr>
      </p:pic>
      <p:pic>
        <p:nvPicPr>
          <p:cNvPr id="351" name="Google Shape;351;p19"/>
          <p:cNvPicPr preferRelativeResize="0"/>
          <p:nvPr/>
        </p:nvPicPr>
        <p:blipFill rotWithShape="1">
          <a:blip r:embed="rId4">
            <a:alphaModFix/>
          </a:blip>
          <a:srcRect b="0" l="0" r="0" t="0"/>
          <a:stretch/>
        </p:blipFill>
        <p:spPr>
          <a:xfrm>
            <a:off x="4267200" y="5876925"/>
            <a:ext cx="1711325" cy="584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0"/>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How does SVM works?</a:t>
            </a:r>
            <a:endParaRPr/>
          </a:p>
        </p:txBody>
      </p:sp>
      <p:sp>
        <p:nvSpPr>
          <p:cNvPr id="359" name="Google Shape;359;p20"/>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60" name="Google Shape;360;p20"/>
          <p:cNvSpPr txBox="1"/>
          <p:nvPr/>
        </p:nvSpPr>
        <p:spPr>
          <a:xfrm>
            <a:off x="0" y="6477000"/>
            <a:ext cx="9144000" cy="3810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1" name="Google Shape;361;p20"/>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62" name="Google Shape;362;p20"/>
          <p:cNvPicPr preferRelativeResize="0"/>
          <p:nvPr>
            <p:ph idx="1" type="body"/>
          </p:nvPr>
        </p:nvPicPr>
        <p:blipFill rotWithShape="1">
          <a:blip r:embed="rId3">
            <a:alphaModFix/>
          </a:blip>
          <a:srcRect b="0" l="0" r="0" t="0"/>
          <a:stretch/>
        </p:blipFill>
        <p:spPr>
          <a:xfrm>
            <a:off x="2555875" y="1943100"/>
            <a:ext cx="4267200" cy="3810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1"/>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Mathematical Interpretation of Optimal Hyperplane</a:t>
            </a:r>
            <a:endParaRPr/>
          </a:p>
        </p:txBody>
      </p:sp>
      <p:sp>
        <p:nvSpPr>
          <p:cNvPr id="370" name="Google Shape;370;p21"/>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71" name="Google Shape;371;p21"/>
          <p:cNvSpPr txBox="1"/>
          <p:nvPr/>
        </p:nvSpPr>
        <p:spPr>
          <a:xfrm>
            <a:off x="0" y="6477000"/>
            <a:ext cx="9144000" cy="3810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2" name="Google Shape;372;p21"/>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73" name="Google Shape;373;p21"/>
          <p:cNvPicPr preferRelativeResize="0"/>
          <p:nvPr>
            <p:ph idx="1" type="body"/>
          </p:nvPr>
        </p:nvPicPr>
        <p:blipFill rotWithShape="1">
          <a:blip r:embed="rId3">
            <a:alphaModFix/>
          </a:blip>
          <a:srcRect b="0" l="0" r="0" t="0"/>
          <a:stretch/>
        </p:blipFill>
        <p:spPr>
          <a:xfrm>
            <a:off x="1143000" y="2105025"/>
            <a:ext cx="6629400" cy="4143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2"/>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Mathematical Interpretation of Optimal Hyperplane</a:t>
            </a:r>
            <a:endParaRPr/>
          </a:p>
        </p:txBody>
      </p:sp>
      <p:sp>
        <p:nvSpPr>
          <p:cNvPr id="381" name="Google Shape;381;p2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82" name="Google Shape;382;p22"/>
          <p:cNvSpPr txBox="1"/>
          <p:nvPr/>
        </p:nvSpPr>
        <p:spPr>
          <a:xfrm>
            <a:off x="0" y="6477000"/>
            <a:ext cx="9144000" cy="3810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3" name="Google Shape;383;p22"/>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4" name="Google Shape;384;p22"/>
          <p:cNvSpPr txBox="1"/>
          <p:nvPr>
            <p:ph idx="1" type="body"/>
          </p:nvPr>
        </p:nvSpPr>
        <p:spPr>
          <a:xfrm>
            <a:off x="612775" y="1600200"/>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740"/>
              <a:buFont typeface="Noto Sans Symbols"/>
              <a:buChar char="◻"/>
            </a:pPr>
            <a:r>
              <a:rPr b="0" i="0" lang="en-US" sz="2900" u="none">
                <a:solidFill>
                  <a:schemeClr val="dk1"/>
                </a:solidFill>
                <a:latin typeface="Times New Roman"/>
                <a:ea typeface="Times New Roman"/>
                <a:cs typeface="Times New Roman"/>
                <a:sym typeface="Times New Roman"/>
              </a:rPr>
              <a:t>we have l training examples where each example x are of D dimension and each have labels of either y=+1 or y= -1 class, and our examples are linearly separable.</a:t>
            </a:r>
            <a:endParaRPr/>
          </a:p>
          <a:p>
            <a:pPr indent="-319087" lvl="0" marL="319087" marR="0" rtl="0" algn="just">
              <a:lnSpc>
                <a:spcPct val="100000"/>
              </a:lnSpc>
              <a:spcBef>
                <a:spcPts val="700"/>
              </a:spcBef>
              <a:spcAft>
                <a:spcPts val="0"/>
              </a:spcAft>
              <a:buClr>
                <a:schemeClr val="accent2"/>
              </a:buClr>
              <a:buSzPts val="1740"/>
              <a:buFont typeface="Noto Sans Symbols"/>
              <a:buChar char="◻"/>
            </a:pPr>
            <a:r>
              <a:rPr b="0" i="0" lang="en-US" sz="2900" u="none">
                <a:solidFill>
                  <a:schemeClr val="dk1"/>
                </a:solidFill>
                <a:latin typeface="Times New Roman"/>
                <a:ea typeface="Times New Roman"/>
                <a:cs typeface="Times New Roman"/>
                <a:sym typeface="Times New Roman"/>
              </a:rPr>
              <a:t>From the above Fig , SVM problem can be formulated as</a:t>
            </a:r>
            <a:endParaRPr/>
          </a:p>
          <a:p>
            <a:pPr indent="-208598" lvl="0" marL="319088" marR="0" rtl="0" algn="l">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p:txBody>
      </p:sp>
      <p:pic>
        <p:nvPicPr>
          <p:cNvPr id="385" name="Google Shape;385;p22"/>
          <p:cNvPicPr preferRelativeResize="0"/>
          <p:nvPr/>
        </p:nvPicPr>
        <p:blipFill rotWithShape="1">
          <a:blip r:embed="rId3">
            <a:alphaModFix/>
          </a:blip>
          <a:srcRect b="0" l="0" r="0" t="0"/>
          <a:stretch/>
        </p:blipFill>
        <p:spPr>
          <a:xfrm>
            <a:off x="2362200" y="4657725"/>
            <a:ext cx="4829175" cy="1628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3"/>
          <p:cNvSpPr txBox="1"/>
          <p:nvPr>
            <p:ph type="title"/>
          </p:nvPr>
        </p:nvSpPr>
        <p:spPr>
          <a:xfrm>
            <a:off x="606425" y="119062"/>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The pros and cons for using SVMs</a:t>
            </a:r>
            <a:endParaRPr/>
          </a:p>
        </p:txBody>
      </p:sp>
      <p:sp>
        <p:nvSpPr>
          <p:cNvPr id="393" name="Google Shape;393;p23"/>
          <p:cNvSpPr txBox="1"/>
          <p:nvPr>
            <p:ph idx="1" type="body"/>
          </p:nvPr>
        </p:nvSpPr>
        <p:spPr>
          <a:xfrm>
            <a:off x="612775" y="1409700"/>
            <a:ext cx="8153400" cy="49911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440"/>
              <a:buFont typeface="Noto Sans Symbols"/>
              <a:buChar char="❑"/>
            </a:pPr>
            <a:r>
              <a:rPr b="1" i="0" lang="en-US" sz="2400" u="none">
                <a:solidFill>
                  <a:schemeClr val="dk1"/>
                </a:solidFill>
                <a:latin typeface="Times New Roman"/>
                <a:ea typeface="Times New Roman"/>
                <a:cs typeface="Times New Roman"/>
                <a:sym typeface="Times New Roman"/>
              </a:rPr>
              <a:t>Pros</a:t>
            </a:r>
            <a:endParaRPr/>
          </a:p>
          <a:p>
            <a:pPr indent="-319087" lvl="0" marL="319087" marR="0" rtl="0" algn="just">
              <a:lnSpc>
                <a:spcPct val="100000"/>
              </a:lnSpc>
              <a:spcBef>
                <a:spcPts val="700"/>
              </a:spcBef>
              <a:spcAft>
                <a:spcPts val="0"/>
              </a:spcAft>
              <a:buClr>
                <a:srgbClr val="00B0F0"/>
              </a:buClr>
              <a:buSzPts val="1080"/>
              <a:buFont typeface="Twentieth Century"/>
              <a:buAutoNum type="arabicPeriod"/>
            </a:pPr>
            <a:r>
              <a:rPr b="0" i="0" lang="en-US" sz="1800" u="none">
                <a:solidFill>
                  <a:schemeClr val="dk1"/>
                </a:solidFill>
                <a:latin typeface="Times New Roman"/>
                <a:ea typeface="Times New Roman"/>
                <a:cs typeface="Times New Roman"/>
                <a:sym typeface="Times New Roman"/>
              </a:rPr>
              <a:t>Effective on datasets with multiple features, like financial or medical data.</a:t>
            </a:r>
            <a:endParaRPr/>
          </a:p>
          <a:p>
            <a:pPr indent="-319087" lvl="0" marL="319087" marR="0" rtl="0" algn="just">
              <a:lnSpc>
                <a:spcPct val="100000"/>
              </a:lnSpc>
              <a:spcBef>
                <a:spcPts val="700"/>
              </a:spcBef>
              <a:spcAft>
                <a:spcPts val="0"/>
              </a:spcAft>
              <a:buClr>
                <a:srgbClr val="00B0F0"/>
              </a:buClr>
              <a:buSzPts val="1080"/>
              <a:buFont typeface="Twentieth Century"/>
              <a:buAutoNum type="arabicPeriod"/>
            </a:pPr>
            <a:r>
              <a:rPr b="0" i="0" lang="en-US" sz="1800" u="none">
                <a:solidFill>
                  <a:schemeClr val="dk1"/>
                </a:solidFill>
                <a:latin typeface="Times New Roman"/>
                <a:ea typeface="Times New Roman"/>
                <a:cs typeface="Times New Roman"/>
                <a:sym typeface="Times New Roman"/>
              </a:rPr>
              <a:t>Effective in cases where number of features is greater than the number of data points.</a:t>
            </a:r>
            <a:endParaRPr/>
          </a:p>
          <a:p>
            <a:pPr indent="-319087" lvl="0" marL="319087" marR="0" rtl="0" algn="just">
              <a:lnSpc>
                <a:spcPct val="100000"/>
              </a:lnSpc>
              <a:spcBef>
                <a:spcPts val="700"/>
              </a:spcBef>
              <a:spcAft>
                <a:spcPts val="0"/>
              </a:spcAft>
              <a:buClr>
                <a:srgbClr val="00B0F0"/>
              </a:buClr>
              <a:buSzPts val="1080"/>
              <a:buFont typeface="Twentieth Century"/>
              <a:buAutoNum type="arabicPeriod"/>
            </a:pPr>
            <a:r>
              <a:rPr b="0" i="0" lang="en-US" sz="1800" u="none">
                <a:solidFill>
                  <a:schemeClr val="dk1"/>
                </a:solidFill>
                <a:latin typeface="Times New Roman"/>
                <a:ea typeface="Times New Roman"/>
                <a:cs typeface="Times New Roman"/>
                <a:sym typeface="Times New Roman"/>
              </a:rPr>
              <a:t>Uses a subset of training points in the decision function called support vectors which makes it memory efficient.</a:t>
            </a:r>
            <a:endParaRPr/>
          </a:p>
          <a:p>
            <a:pPr indent="-319087" lvl="0" marL="319087" marR="0" rtl="0" algn="just">
              <a:lnSpc>
                <a:spcPct val="100000"/>
              </a:lnSpc>
              <a:spcBef>
                <a:spcPts val="700"/>
              </a:spcBef>
              <a:spcAft>
                <a:spcPts val="0"/>
              </a:spcAft>
              <a:buClr>
                <a:srgbClr val="00B0F0"/>
              </a:buClr>
              <a:buSzPts val="1080"/>
              <a:buFont typeface="Twentieth Century"/>
              <a:buAutoNum type="arabicPeriod"/>
            </a:pPr>
            <a:r>
              <a:rPr b="0" i="0" lang="en-US" sz="1800" u="none">
                <a:solidFill>
                  <a:schemeClr val="dk1"/>
                </a:solidFill>
                <a:latin typeface="Times New Roman"/>
                <a:ea typeface="Times New Roman"/>
                <a:cs typeface="Times New Roman"/>
                <a:sym typeface="Times New Roman"/>
              </a:rPr>
              <a:t>Different kernel functions can be specified for the decision function. You can use common kernels, but it's also possible to specify custom kernels.</a:t>
            </a:r>
            <a:endParaRPr/>
          </a:p>
          <a:p>
            <a:pPr indent="-319087" lvl="0" marL="319087" marR="0" rtl="0" algn="just">
              <a:lnSpc>
                <a:spcPct val="100000"/>
              </a:lnSpc>
              <a:spcBef>
                <a:spcPts val="700"/>
              </a:spcBef>
              <a:spcAft>
                <a:spcPts val="0"/>
              </a:spcAft>
              <a:buClr>
                <a:srgbClr val="00B0F0"/>
              </a:buClr>
              <a:buSzPts val="1440"/>
              <a:buFont typeface="Noto Sans Symbols"/>
              <a:buChar char="❑"/>
            </a:pPr>
            <a:r>
              <a:rPr b="1" i="0" lang="en-US" sz="2400" u="none">
                <a:solidFill>
                  <a:schemeClr val="dk1"/>
                </a:solidFill>
                <a:latin typeface="Times New Roman"/>
                <a:ea typeface="Times New Roman"/>
                <a:cs typeface="Times New Roman"/>
                <a:sym typeface="Times New Roman"/>
              </a:rPr>
              <a:t>Cons</a:t>
            </a:r>
            <a:endParaRPr/>
          </a:p>
          <a:p>
            <a:pPr indent="-319087" lvl="0" marL="319087" marR="0" rtl="0" algn="just">
              <a:lnSpc>
                <a:spcPct val="100000"/>
              </a:lnSpc>
              <a:spcBef>
                <a:spcPts val="700"/>
              </a:spcBef>
              <a:spcAft>
                <a:spcPts val="0"/>
              </a:spcAft>
              <a:buClr>
                <a:srgbClr val="00B0F0"/>
              </a:buClr>
              <a:buSzPts val="1080"/>
              <a:buFont typeface="Twentieth Century"/>
              <a:buAutoNum type="arabicPeriod"/>
            </a:pPr>
            <a:r>
              <a:rPr b="0" i="0" lang="en-US" sz="1800" u="none">
                <a:solidFill>
                  <a:schemeClr val="dk1"/>
                </a:solidFill>
                <a:latin typeface="Times New Roman"/>
                <a:ea typeface="Times New Roman"/>
                <a:cs typeface="Times New Roman"/>
                <a:sym typeface="Times New Roman"/>
              </a:rPr>
              <a:t>If the number of features is a lot bigger than the number of data points, avoiding over-fitting when choosing kernel functions and regularization term is crucial.</a:t>
            </a:r>
            <a:endParaRPr/>
          </a:p>
          <a:p>
            <a:pPr indent="-319087" lvl="0" marL="319087" marR="0" rtl="0" algn="just">
              <a:lnSpc>
                <a:spcPct val="100000"/>
              </a:lnSpc>
              <a:spcBef>
                <a:spcPts val="700"/>
              </a:spcBef>
              <a:spcAft>
                <a:spcPts val="0"/>
              </a:spcAft>
              <a:buClr>
                <a:srgbClr val="00B0F0"/>
              </a:buClr>
              <a:buSzPts val="1080"/>
              <a:buFont typeface="Twentieth Century"/>
              <a:buAutoNum type="arabicPeriod"/>
            </a:pPr>
            <a:r>
              <a:rPr b="0" i="0" lang="en-US" sz="1800" u="none">
                <a:solidFill>
                  <a:schemeClr val="dk1"/>
                </a:solidFill>
                <a:latin typeface="Times New Roman"/>
                <a:ea typeface="Times New Roman"/>
                <a:cs typeface="Times New Roman"/>
                <a:sym typeface="Times New Roman"/>
              </a:rPr>
              <a:t>SVMs don't directly provide probability estimates. Those are calculated using an expensive five-fold cross-validation.</a:t>
            </a:r>
            <a:endParaRPr/>
          </a:p>
          <a:p>
            <a:pPr indent="-319087" lvl="0" marL="319087" marR="0" rtl="0" algn="just">
              <a:lnSpc>
                <a:spcPct val="100000"/>
              </a:lnSpc>
              <a:spcBef>
                <a:spcPts val="700"/>
              </a:spcBef>
              <a:spcAft>
                <a:spcPts val="0"/>
              </a:spcAft>
              <a:buClr>
                <a:srgbClr val="00B0F0"/>
              </a:buClr>
              <a:buSzPts val="1080"/>
              <a:buFont typeface="Twentieth Century"/>
              <a:buAutoNum type="arabicPeriod"/>
            </a:pPr>
            <a:r>
              <a:rPr b="0" i="0" lang="en-US" sz="1800" u="none">
                <a:solidFill>
                  <a:schemeClr val="dk1"/>
                </a:solidFill>
                <a:latin typeface="Times New Roman"/>
                <a:ea typeface="Times New Roman"/>
                <a:cs typeface="Times New Roman"/>
                <a:sym typeface="Times New Roman"/>
              </a:rPr>
              <a:t>Works best on small sample sets because of its high training time.</a:t>
            </a:r>
            <a:endParaRPr/>
          </a:p>
        </p:txBody>
      </p:sp>
      <p:sp>
        <p:nvSpPr>
          <p:cNvPr id="394" name="Google Shape;394;p23"/>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95" name="Google Shape;395;p23"/>
          <p:cNvSpPr txBox="1"/>
          <p:nvPr/>
        </p:nvSpPr>
        <p:spPr>
          <a:xfrm>
            <a:off x="0" y="6400800"/>
            <a:ext cx="9144000" cy="4572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6" name="Google Shape;396;p23"/>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4"/>
          <p:cNvSpPr txBox="1"/>
          <p:nvPr>
            <p:ph type="title"/>
          </p:nvPr>
        </p:nvSpPr>
        <p:spPr>
          <a:xfrm>
            <a:off x="533400" y="1270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K-Nearest Neighbor(KNN) Algorithm</a:t>
            </a:r>
            <a:endParaRPr/>
          </a:p>
        </p:txBody>
      </p:sp>
      <p:sp>
        <p:nvSpPr>
          <p:cNvPr id="404" name="Google Shape;404;p24"/>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05" name="Google Shape;405;p24"/>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06" name="Google Shape;406;p24"/>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07" name="Google Shape;407;p24"/>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08" name="Google Shape;408;p24"/>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09" name="Google Shape;409;p24"/>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10" name="Google Shape;410;p24"/>
          <p:cNvSpPr txBox="1"/>
          <p:nvPr>
            <p:ph idx="1" type="body"/>
          </p:nvPr>
        </p:nvSpPr>
        <p:spPr>
          <a:xfrm>
            <a:off x="533400" y="1539875"/>
            <a:ext cx="8153400" cy="4495800"/>
          </a:xfrm>
          <a:prstGeom prst="rect">
            <a:avLst/>
          </a:prstGeom>
          <a:noFill/>
          <a:ln>
            <a:noFill/>
          </a:ln>
        </p:spPr>
        <p:txBody>
          <a:bodyPr anchorCtr="0" anchor="t" bIns="45700" lIns="91425" spcFirstLastPara="1" rIns="91425" wrap="square" tIns="45700">
            <a:norm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K-nearest neighbors (KNN) algorithm is a type of supervised ML algorithm. It works by calculating the distance of each test observation from the K nearest neighbors of it. There are several types of distance measures techniques but we only use some of them and they are listed below:</a:t>
            </a:r>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8" lvl="0" marL="319088" marR="0" rtl="0" algn="l">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p:txBody>
      </p:sp>
      <p:pic>
        <p:nvPicPr>
          <p:cNvPr id="411" name="Google Shape;411;p24"/>
          <p:cNvPicPr preferRelativeResize="0"/>
          <p:nvPr/>
        </p:nvPicPr>
        <p:blipFill rotWithShape="1">
          <a:blip r:embed="rId3">
            <a:alphaModFix/>
          </a:blip>
          <a:srcRect b="0" l="0" r="0" t="0"/>
          <a:stretch/>
        </p:blipFill>
        <p:spPr>
          <a:xfrm>
            <a:off x="1752600" y="3767137"/>
            <a:ext cx="4187825" cy="2698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2000"/>
                                        <p:tgtEl>
                                          <p:spTgt spid="406"/>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05"/>
                                        </p:tgtEl>
                                        <p:attrNameLst>
                                          <p:attrName>style.visibility</p:attrName>
                                        </p:attrNameLst>
                                      </p:cBhvr>
                                      <p:to>
                                        <p:strVal val="visible"/>
                                      </p:to>
                                    </p:set>
                                    <p:animEffect filter="fade" transition="in">
                                      <p:cBhvr>
                                        <p:cTn dur="2000"/>
                                        <p:tgtEl>
                                          <p:spTgt spid="405"/>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07"/>
                                        </p:tgtEl>
                                        <p:attrNameLst>
                                          <p:attrName>style.visibility</p:attrName>
                                        </p:attrNameLst>
                                      </p:cBhvr>
                                      <p:to>
                                        <p:strVal val="visible"/>
                                      </p:to>
                                    </p:set>
                                    <p:animEffect filter="fade" transition="in">
                                      <p:cBhvr>
                                        <p:cTn dur="2000"/>
                                        <p:tgtEl>
                                          <p:spTgt spid="407"/>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2000"/>
                                        <p:tgtEl>
                                          <p:spTgt spid="408"/>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2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5"/>
          <p:cNvSpPr txBox="1"/>
          <p:nvPr>
            <p:ph type="title"/>
          </p:nvPr>
        </p:nvSpPr>
        <p:spPr>
          <a:xfrm>
            <a:off x="612775" y="2286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How does K-NN work?</a:t>
            </a:r>
            <a:endParaRPr/>
          </a:p>
        </p:txBody>
      </p:sp>
      <p:sp>
        <p:nvSpPr>
          <p:cNvPr id="419" name="Google Shape;419;p25"/>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20" name="Google Shape;420;p25"/>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21" name="Google Shape;421;p25"/>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22" name="Google Shape;422;p25"/>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23" name="Google Shape;423;p25"/>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24" name="Google Shape;424;p25"/>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25" name="Google Shape;425;p25"/>
          <p:cNvSpPr txBox="1"/>
          <p:nvPr>
            <p:ph idx="1" type="body"/>
          </p:nvPr>
        </p:nvSpPr>
        <p:spPr>
          <a:xfrm>
            <a:off x="533400" y="1539875"/>
            <a:ext cx="8153400" cy="5089525"/>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rgbClr val="333333"/>
                </a:solidFill>
                <a:latin typeface="Times New Roman"/>
                <a:ea typeface="Times New Roman"/>
                <a:cs typeface="Times New Roman"/>
                <a:sym typeface="Times New Roman"/>
              </a:rPr>
              <a:t>The K-NN working can be explained on the basis of the below algorithm:</a:t>
            </a:r>
            <a:endParaRPr/>
          </a:p>
          <a:p>
            <a:pPr indent="-319087" lvl="0" marL="319087" marR="0" rtl="0" algn="just">
              <a:lnSpc>
                <a:spcPct val="100000"/>
              </a:lnSpc>
              <a:spcBef>
                <a:spcPts val="700"/>
              </a:spcBef>
              <a:spcAft>
                <a:spcPts val="0"/>
              </a:spcAft>
              <a:buClr>
                <a:schemeClr val="accent2"/>
              </a:buClr>
              <a:buSzPts val="1440"/>
              <a:buFont typeface="Arial"/>
              <a:buChar char="•"/>
            </a:pPr>
            <a:r>
              <a:rPr b="1" i="0" lang="en-US" sz="2400" u="none">
                <a:solidFill>
                  <a:srgbClr val="000000"/>
                </a:solidFill>
                <a:latin typeface="Times New Roman"/>
                <a:ea typeface="Times New Roman"/>
                <a:cs typeface="Times New Roman"/>
                <a:sym typeface="Times New Roman"/>
              </a:rPr>
              <a:t>Step-1:</a:t>
            </a:r>
            <a:r>
              <a:rPr b="0" i="0" lang="en-US" sz="2400" u="none">
                <a:solidFill>
                  <a:srgbClr val="000000"/>
                </a:solidFill>
                <a:latin typeface="Times New Roman"/>
                <a:ea typeface="Times New Roman"/>
                <a:cs typeface="Times New Roman"/>
                <a:sym typeface="Times New Roman"/>
              </a:rPr>
              <a:t> Select the number K of the neighbors</a:t>
            </a:r>
            <a:endParaRPr/>
          </a:p>
          <a:p>
            <a:pPr indent="-319087" lvl="0" marL="319087" marR="0" rtl="0" algn="just">
              <a:lnSpc>
                <a:spcPct val="100000"/>
              </a:lnSpc>
              <a:spcBef>
                <a:spcPts val="700"/>
              </a:spcBef>
              <a:spcAft>
                <a:spcPts val="0"/>
              </a:spcAft>
              <a:buClr>
                <a:schemeClr val="accent2"/>
              </a:buClr>
              <a:buSzPts val="1440"/>
              <a:buFont typeface="Arial"/>
              <a:buChar char="•"/>
            </a:pPr>
            <a:r>
              <a:rPr b="1" i="0" lang="en-US" sz="2400" u="none">
                <a:solidFill>
                  <a:srgbClr val="000000"/>
                </a:solidFill>
                <a:latin typeface="Times New Roman"/>
                <a:ea typeface="Times New Roman"/>
                <a:cs typeface="Times New Roman"/>
                <a:sym typeface="Times New Roman"/>
              </a:rPr>
              <a:t>Step-2:</a:t>
            </a:r>
            <a:r>
              <a:rPr b="0" i="0" lang="en-US" sz="2400" u="none">
                <a:solidFill>
                  <a:srgbClr val="000000"/>
                </a:solidFill>
                <a:latin typeface="Times New Roman"/>
                <a:ea typeface="Times New Roman"/>
                <a:cs typeface="Times New Roman"/>
                <a:sym typeface="Times New Roman"/>
              </a:rPr>
              <a:t> Calculate the Euclidean distance of </a:t>
            </a:r>
            <a:r>
              <a:rPr b="1" i="0" lang="en-US" sz="2400" u="none">
                <a:solidFill>
                  <a:srgbClr val="000000"/>
                </a:solidFill>
                <a:latin typeface="Times New Roman"/>
                <a:ea typeface="Times New Roman"/>
                <a:cs typeface="Times New Roman"/>
                <a:sym typeface="Times New Roman"/>
              </a:rPr>
              <a:t>K number of neighbors</a:t>
            </a:r>
            <a:endParaRPr b="0" i="0" sz="2400" u="none">
              <a:solidFill>
                <a:srgbClr val="000000"/>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440"/>
              <a:buFont typeface="Arial"/>
              <a:buChar char="•"/>
            </a:pPr>
            <a:r>
              <a:rPr b="1" i="0" lang="en-US" sz="2400" u="none">
                <a:solidFill>
                  <a:srgbClr val="000000"/>
                </a:solidFill>
                <a:latin typeface="Times New Roman"/>
                <a:ea typeface="Times New Roman"/>
                <a:cs typeface="Times New Roman"/>
                <a:sym typeface="Times New Roman"/>
              </a:rPr>
              <a:t>Step-3:</a:t>
            </a:r>
            <a:r>
              <a:rPr b="0" i="0" lang="en-US" sz="2400" u="none">
                <a:solidFill>
                  <a:srgbClr val="000000"/>
                </a:solidFill>
                <a:latin typeface="Times New Roman"/>
                <a:ea typeface="Times New Roman"/>
                <a:cs typeface="Times New Roman"/>
                <a:sym typeface="Times New Roman"/>
              </a:rPr>
              <a:t> Take the K nearest neighbors as per the calculated Euclidean distance.</a:t>
            </a:r>
            <a:endParaRPr/>
          </a:p>
          <a:p>
            <a:pPr indent="-319087" lvl="0" marL="319087" marR="0" rtl="0" algn="just">
              <a:lnSpc>
                <a:spcPct val="100000"/>
              </a:lnSpc>
              <a:spcBef>
                <a:spcPts val="700"/>
              </a:spcBef>
              <a:spcAft>
                <a:spcPts val="0"/>
              </a:spcAft>
              <a:buClr>
                <a:schemeClr val="accent2"/>
              </a:buClr>
              <a:buSzPts val="1440"/>
              <a:buFont typeface="Arial"/>
              <a:buChar char="•"/>
            </a:pPr>
            <a:r>
              <a:rPr b="1" i="0" lang="en-US" sz="2400" u="none">
                <a:solidFill>
                  <a:srgbClr val="000000"/>
                </a:solidFill>
                <a:latin typeface="Times New Roman"/>
                <a:ea typeface="Times New Roman"/>
                <a:cs typeface="Times New Roman"/>
                <a:sym typeface="Times New Roman"/>
              </a:rPr>
              <a:t>Step-4:</a:t>
            </a:r>
            <a:r>
              <a:rPr b="0" i="0" lang="en-US" sz="2400" u="none">
                <a:solidFill>
                  <a:srgbClr val="000000"/>
                </a:solidFill>
                <a:latin typeface="Times New Roman"/>
                <a:ea typeface="Times New Roman"/>
                <a:cs typeface="Times New Roman"/>
                <a:sym typeface="Times New Roman"/>
              </a:rPr>
              <a:t> Among these k neighbors, count the number of the data points in each category.</a:t>
            </a:r>
            <a:endParaRPr/>
          </a:p>
          <a:p>
            <a:pPr indent="-319087" lvl="0" marL="319087" marR="0" rtl="0" algn="just">
              <a:lnSpc>
                <a:spcPct val="100000"/>
              </a:lnSpc>
              <a:spcBef>
                <a:spcPts val="700"/>
              </a:spcBef>
              <a:spcAft>
                <a:spcPts val="0"/>
              </a:spcAft>
              <a:buClr>
                <a:schemeClr val="accent2"/>
              </a:buClr>
              <a:buSzPts val="1440"/>
              <a:buFont typeface="Arial"/>
              <a:buChar char="•"/>
            </a:pPr>
            <a:r>
              <a:rPr b="1" i="0" lang="en-US" sz="2400" u="none">
                <a:solidFill>
                  <a:srgbClr val="000000"/>
                </a:solidFill>
                <a:latin typeface="Times New Roman"/>
                <a:ea typeface="Times New Roman"/>
                <a:cs typeface="Times New Roman"/>
                <a:sym typeface="Times New Roman"/>
              </a:rPr>
              <a:t>Step-5:</a:t>
            </a:r>
            <a:r>
              <a:rPr b="0" i="0" lang="en-US" sz="2400" u="none">
                <a:solidFill>
                  <a:srgbClr val="000000"/>
                </a:solidFill>
                <a:latin typeface="Times New Roman"/>
                <a:ea typeface="Times New Roman"/>
                <a:cs typeface="Times New Roman"/>
                <a:sym typeface="Times New Roman"/>
              </a:rPr>
              <a:t> Assign the new data points to that category for which the number of the neighbor is maximum.</a:t>
            </a:r>
            <a:endParaRPr/>
          </a:p>
          <a:p>
            <a:pPr indent="-319087" lvl="0" marL="319087" marR="0" rtl="0" algn="just">
              <a:lnSpc>
                <a:spcPct val="100000"/>
              </a:lnSpc>
              <a:spcBef>
                <a:spcPts val="700"/>
              </a:spcBef>
              <a:spcAft>
                <a:spcPts val="0"/>
              </a:spcAft>
              <a:buClr>
                <a:schemeClr val="accent2"/>
              </a:buClr>
              <a:buSzPts val="1440"/>
              <a:buFont typeface="Arial"/>
              <a:buChar char="•"/>
            </a:pPr>
            <a:r>
              <a:rPr b="1" i="0" lang="en-US" sz="2400" u="none">
                <a:solidFill>
                  <a:srgbClr val="000000"/>
                </a:solidFill>
                <a:latin typeface="Times New Roman"/>
                <a:ea typeface="Times New Roman"/>
                <a:cs typeface="Times New Roman"/>
                <a:sym typeface="Times New Roman"/>
              </a:rPr>
              <a:t>Step-6:</a:t>
            </a:r>
            <a:r>
              <a:rPr b="0" i="0" lang="en-US" sz="2400" u="none">
                <a:solidFill>
                  <a:srgbClr val="000000"/>
                </a:solidFill>
                <a:latin typeface="Times New Roman"/>
                <a:ea typeface="Times New Roman"/>
                <a:cs typeface="Times New Roman"/>
                <a:sym typeface="Times New Roman"/>
              </a:rPr>
              <a:t> Our model is ready.</a:t>
            </a:r>
            <a:endParaRPr/>
          </a:p>
          <a:p>
            <a:pPr indent="-227648" lvl="0" marL="319088" marR="0" rtl="0" algn="l">
              <a:spcBef>
                <a:spcPts val="700"/>
              </a:spcBef>
              <a:spcAft>
                <a:spcPts val="0"/>
              </a:spcAft>
              <a:buClr>
                <a:schemeClr val="accent2"/>
              </a:buClr>
              <a:buSzPts val="1440"/>
              <a:buFont typeface="Noto Sans Symbols"/>
              <a:buNone/>
            </a:pPr>
            <a:r>
              <a:t/>
            </a:r>
            <a:endParaRPr b="0" i="0" sz="2400" u="non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2000"/>
                                        <p:tgtEl>
                                          <p:spTgt spid="421"/>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20"/>
                                        </p:tgtEl>
                                        <p:attrNameLst>
                                          <p:attrName>style.visibility</p:attrName>
                                        </p:attrNameLst>
                                      </p:cBhvr>
                                      <p:to>
                                        <p:strVal val="visible"/>
                                      </p:to>
                                    </p:set>
                                    <p:animEffect filter="fade" transition="in">
                                      <p:cBhvr>
                                        <p:cTn dur="2000"/>
                                        <p:tgtEl>
                                          <p:spTgt spid="420"/>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22"/>
                                        </p:tgtEl>
                                        <p:attrNameLst>
                                          <p:attrName>style.visibility</p:attrName>
                                        </p:attrNameLst>
                                      </p:cBhvr>
                                      <p:to>
                                        <p:strVal val="visible"/>
                                      </p:to>
                                    </p:set>
                                    <p:animEffect filter="fade" transition="in">
                                      <p:cBhvr>
                                        <p:cTn dur="2000"/>
                                        <p:tgtEl>
                                          <p:spTgt spid="422"/>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2000"/>
                                        <p:tgtEl>
                                          <p:spTgt spid="423"/>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2000"/>
                                        <p:tgtEl>
                                          <p:spTgt spid="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6"/>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How does K-NN work?</a:t>
            </a:r>
            <a:endParaRPr/>
          </a:p>
        </p:txBody>
      </p:sp>
      <p:sp>
        <p:nvSpPr>
          <p:cNvPr id="433" name="Google Shape;433;p26"/>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34" name="Google Shape;434;p26"/>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35" name="Google Shape;435;p26"/>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36" name="Google Shape;436;p26"/>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37" name="Google Shape;437;p26"/>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38" name="Google Shape;438;p26"/>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39" name="Google Shape;439;p26"/>
          <p:cNvSpPr txBox="1"/>
          <p:nvPr>
            <p:ph idx="1" type="body"/>
          </p:nvPr>
        </p:nvSpPr>
        <p:spPr>
          <a:xfrm>
            <a:off x="533400" y="1539875"/>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680"/>
              <a:buFont typeface="Noto Sans Symbols"/>
              <a:buChar char="❑"/>
            </a:pPr>
            <a:r>
              <a:rPr b="0" i="0" lang="en-US" sz="2800" u="none">
                <a:solidFill>
                  <a:schemeClr val="dk1"/>
                </a:solidFill>
                <a:latin typeface="Times New Roman"/>
                <a:ea typeface="Times New Roman"/>
                <a:cs typeface="Times New Roman"/>
                <a:sym typeface="Times New Roman"/>
              </a:rPr>
              <a:t>Suppose we have a new data point and we need to put it in the required category. Consider the below image:</a:t>
            </a:r>
            <a:endParaRPr/>
          </a:p>
          <a:p>
            <a:pPr indent="-212408" lvl="0" marL="319088" marR="0" rtl="0" algn="l">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pic>
        <p:nvPicPr>
          <p:cNvPr id="440" name="Google Shape;440;p26"/>
          <p:cNvPicPr preferRelativeResize="0"/>
          <p:nvPr/>
        </p:nvPicPr>
        <p:blipFill rotWithShape="1">
          <a:blip r:embed="rId3">
            <a:alphaModFix/>
          </a:blip>
          <a:srcRect b="0" l="0" r="0" t="0"/>
          <a:stretch/>
        </p:blipFill>
        <p:spPr>
          <a:xfrm>
            <a:off x="1820862" y="3213100"/>
            <a:ext cx="4762500" cy="3143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2000"/>
                                        <p:tgtEl>
                                          <p:spTgt spid="435"/>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34"/>
                                        </p:tgtEl>
                                        <p:attrNameLst>
                                          <p:attrName>style.visibility</p:attrName>
                                        </p:attrNameLst>
                                      </p:cBhvr>
                                      <p:to>
                                        <p:strVal val="visible"/>
                                      </p:to>
                                    </p:set>
                                    <p:animEffect filter="fade" transition="in">
                                      <p:cBhvr>
                                        <p:cTn dur="2000"/>
                                        <p:tgtEl>
                                          <p:spTgt spid="434"/>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36"/>
                                        </p:tgtEl>
                                        <p:attrNameLst>
                                          <p:attrName>style.visibility</p:attrName>
                                        </p:attrNameLst>
                                      </p:cBhvr>
                                      <p:to>
                                        <p:strVal val="visible"/>
                                      </p:to>
                                    </p:set>
                                    <p:animEffect filter="fade" transition="in">
                                      <p:cBhvr>
                                        <p:cTn dur="2000"/>
                                        <p:tgtEl>
                                          <p:spTgt spid="43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2000"/>
                                        <p:tgtEl>
                                          <p:spTgt spid="437"/>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2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7"/>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How does K-NN work?</a:t>
            </a:r>
            <a:endParaRPr/>
          </a:p>
        </p:txBody>
      </p:sp>
      <p:sp>
        <p:nvSpPr>
          <p:cNvPr id="448" name="Google Shape;448;p27"/>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49" name="Google Shape;449;p27"/>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50" name="Google Shape;450;p27"/>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51" name="Google Shape;451;p27"/>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52" name="Google Shape;452;p27"/>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53" name="Google Shape;453;p27"/>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54" name="Google Shape;454;p27"/>
          <p:cNvSpPr txBox="1"/>
          <p:nvPr>
            <p:ph idx="1" type="body"/>
          </p:nvPr>
        </p:nvSpPr>
        <p:spPr>
          <a:xfrm>
            <a:off x="612775" y="1600200"/>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l">
              <a:lnSpc>
                <a:spcPct val="100000"/>
              </a:lnSpc>
              <a:spcBef>
                <a:spcPts val="0"/>
              </a:spcBef>
              <a:spcAft>
                <a:spcPts val="0"/>
              </a:spcAft>
              <a:buClr>
                <a:schemeClr val="accent2"/>
              </a:buClr>
              <a:buSzPts val="1200"/>
              <a:buFont typeface="Noto Sans Symbols"/>
              <a:buChar char="◻"/>
            </a:pPr>
            <a:r>
              <a:rPr b="0" i="0" lang="en-US" sz="2000" u="none">
                <a:solidFill>
                  <a:schemeClr val="dk1"/>
                </a:solidFill>
                <a:latin typeface="Times New Roman"/>
                <a:ea typeface="Times New Roman"/>
                <a:cs typeface="Times New Roman"/>
                <a:sym typeface="Times New Roman"/>
              </a:rPr>
              <a:t>Firstly, we will choose the number of neighbors, so we will choose the k=5.</a:t>
            </a:r>
            <a:endParaRPr/>
          </a:p>
          <a:p>
            <a:pPr indent="-319087" lvl="0" marL="319087" marR="0" rtl="0" algn="l">
              <a:lnSpc>
                <a:spcPct val="100000"/>
              </a:lnSpc>
              <a:spcBef>
                <a:spcPts val="700"/>
              </a:spcBef>
              <a:spcAft>
                <a:spcPts val="0"/>
              </a:spcAft>
              <a:buClr>
                <a:schemeClr val="accent2"/>
              </a:buClr>
              <a:buSzPts val="1200"/>
              <a:buFont typeface="Noto Sans Symbols"/>
              <a:buChar char="◻"/>
            </a:pPr>
            <a:r>
              <a:rPr b="0" i="0" lang="en-US" sz="2000" u="none">
                <a:solidFill>
                  <a:schemeClr val="dk1"/>
                </a:solidFill>
                <a:latin typeface="Times New Roman"/>
                <a:ea typeface="Times New Roman"/>
                <a:cs typeface="Times New Roman"/>
                <a:sym typeface="Times New Roman"/>
              </a:rPr>
              <a:t>Next, we will calculate the Euclidean distance between the data points. The Euclidean distance is the distance between two points, which we have already studied in geometry. It can be calculated as:</a:t>
            </a:r>
            <a:endParaRPr/>
          </a:p>
        </p:txBody>
      </p:sp>
      <p:pic>
        <p:nvPicPr>
          <p:cNvPr id="455" name="Google Shape;455;p27"/>
          <p:cNvPicPr preferRelativeResize="0"/>
          <p:nvPr/>
        </p:nvPicPr>
        <p:blipFill rotWithShape="1">
          <a:blip r:embed="rId3">
            <a:alphaModFix/>
          </a:blip>
          <a:srcRect b="0" l="0" r="0" t="0"/>
          <a:stretch/>
        </p:blipFill>
        <p:spPr>
          <a:xfrm>
            <a:off x="1951037" y="3335337"/>
            <a:ext cx="4762500" cy="32559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2000"/>
                                        <p:tgtEl>
                                          <p:spTgt spid="450"/>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49"/>
                                        </p:tgtEl>
                                        <p:attrNameLst>
                                          <p:attrName>style.visibility</p:attrName>
                                        </p:attrNameLst>
                                      </p:cBhvr>
                                      <p:to>
                                        <p:strVal val="visible"/>
                                      </p:to>
                                    </p:set>
                                    <p:animEffect filter="fade" transition="in">
                                      <p:cBhvr>
                                        <p:cTn dur="2000"/>
                                        <p:tgtEl>
                                          <p:spTgt spid="449"/>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51"/>
                                        </p:tgtEl>
                                        <p:attrNameLst>
                                          <p:attrName>style.visibility</p:attrName>
                                        </p:attrNameLst>
                                      </p:cBhvr>
                                      <p:to>
                                        <p:strVal val="visible"/>
                                      </p:to>
                                    </p:set>
                                    <p:animEffect filter="fade" transition="in">
                                      <p:cBhvr>
                                        <p:cTn dur="2000"/>
                                        <p:tgtEl>
                                          <p:spTgt spid="451"/>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2000"/>
                                        <p:tgtEl>
                                          <p:spTgt spid="452"/>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2000"/>
                                        <p:tgtEl>
                                          <p:spTgt spid="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8"/>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How does K-NN work?</a:t>
            </a:r>
            <a:endParaRPr/>
          </a:p>
        </p:txBody>
      </p:sp>
      <p:sp>
        <p:nvSpPr>
          <p:cNvPr id="463" name="Google Shape;463;p28"/>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64" name="Google Shape;464;p28"/>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65" name="Google Shape;465;p28"/>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66" name="Google Shape;466;p28"/>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67" name="Google Shape;467;p28"/>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68" name="Google Shape;468;p28"/>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69" name="Google Shape;469;p28"/>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200"/>
              <a:buFont typeface="Noto Sans Symbols"/>
              <a:buChar char="◻"/>
            </a:pPr>
            <a:r>
              <a:rPr b="0" i="0" lang="en-US" sz="2000" u="none">
                <a:solidFill>
                  <a:schemeClr val="dk1"/>
                </a:solidFill>
                <a:latin typeface="Times New Roman"/>
                <a:ea typeface="Times New Roman"/>
                <a:cs typeface="Times New Roman"/>
                <a:sym typeface="Times New Roman"/>
              </a:rPr>
              <a:t>By calculating the Euclidean distance we got the nearest neighbors, as three nearest neighbors in category A and two nearest neighbors in category B. Consider the below image:</a:t>
            </a:r>
            <a:endParaRPr/>
          </a:p>
          <a:p>
            <a:pPr indent="-208597" lvl="0" marL="319087" marR="0" rtl="0" algn="just">
              <a:lnSpc>
                <a:spcPct val="100000"/>
              </a:lnSpc>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a:p>
            <a:pPr indent="-208597" lvl="0" marL="319087" marR="0" rtl="0" algn="just">
              <a:lnSpc>
                <a:spcPct val="100000"/>
              </a:lnSpc>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a:p>
            <a:pPr indent="-208597" lvl="0" marL="319087" marR="0" rtl="0" algn="just">
              <a:lnSpc>
                <a:spcPct val="100000"/>
              </a:lnSpc>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a:p>
            <a:pPr indent="-208597" lvl="0" marL="319087" marR="0" rtl="0" algn="just">
              <a:lnSpc>
                <a:spcPct val="100000"/>
              </a:lnSpc>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a:p>
            <a:pPr indent="-208597" lvl="0" marL="319087" marR="0" rtl="0" algn="just">
              <a:lnSpc>
                <a:spcPct val="100000"/>
              </a:lnSpc>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a:p>
            <a:pPr indent="-242886" lvl="0" marL="319087" marR="0" rtl="0" algn="just">
              <a:lnSpc>
                <a:spcPct val="100000"/>
              </a:lnSpc>
              <a:spcBef>
                <a:spcPts val="700"/>
              </a:spcBef>
              <a:spcAft>
                <a:spcPts val="0"/>
              </a:spcAft>
              <a:buClr>
                <a:schemeClr val="accent2"/>
              </a:buClr>
              <a:buSzPts val="1200"/>
              <a:buFont typeface="Noto Sans Symbols"/>
              <a:buNone/>
            </a:pPr>
            <a:r>
              <a:t/>
            </a:r>
            <a:endParaRPr b="0" i="0" sz="20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200"/>
              <a:buFont typeface="Noto Sans Symbols"/>
              <a:buChar char="◻"/>
            </a:pPr>
            <a:r>
              <a:rPr b="0" i="0" lang="en-US" sz="2000" u="none">
                <a:solidFill>
                  <a:schemeClr val="dk1"/>
                </a:solidFill>
                <a:latin typeface="Times New Roman"/>
                <a:ea typeface="Times New Roman"/>
                <a:cs typeface="Times New Roman"/>
                <a:sym typeface="Times New Roman"/>
              </a:rPr>
              <a:t>As we can see the 3 nearest neighbors are from category A, hence this new data point must belong to category A.</a:t>
            </a:r>
            <a:endParaRPr/>
          </a:p>
        </p:txBody>
      </p:sp>
      <p:pic>
        <p:nvPicPr>
          <p:cNvPr id="470" name="Google Shape;470;p28"/>
          <p:cNvPicPr preferRelativeResize="0"/>
          <p:nvPr/>
        </p:nvPicPr>
        <p:blipFill rotWithShape="1">
          <a:blip r:embed="rId3">
            <a:alphaModFix/>
          </a:blip>
          <a:srcRect b="0" l="0" r="0" t="0"/>
          <a:stretch/>
        </p:blipFill>
        <p:spPr>
          <a:xfrm>
            <a:off x="1476375" y="2667000"/>
            <a:ext cx="4762500" cy="2895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2000"/>
                                        <p:tgtEl>
                                          <p:spTgt spid="465"/>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64"/>
                                        </p:tgtEl>
                                        <p:attrNameLst>
                                          <p:attrName>style.visibility</p:attrName>
                                        </p:attrNameLst>
                                      </p:cBhvr>
                                      <p:to>
                                        <p:strVal val="visible"/>
                                      </p:to>
                                    </p:set>
                                    <p:animEffect filter="fade" transition="in">
                                      <p:cBhvr>
                                        <p:cTn dur="2000"/>
                                        <p:tgtEl>
                                          <p:spTgt spid="464"/>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66"/>
                                        </p:tgtEl>
                                        <p:attrNameLst>
                                          <p:attrName>style.visibility</p:attrName>
                                        </p:attrNameLst>
                                      </p:cBhvr>
                                      <p:to>
                                        <p:strVal val="visible"/>
                                      </p:to>
                                    </p:set>
                                    <p:animEffect filter="fade" transition="in">
                                      <p:cBhvr>
                                        <p:cTn dur="2000"/>
                                        <p:tgtEl>
                                          <p:spTgt spid="46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2000"/>
                                        <p:tgtEl>
                                          <p:spTgt spid="467"/>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20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9"/>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to select the value of K in the K-NN Algorithm?</a:t>
            </a:r>
            <a:endParaRPr/>
          </a:p>
        </p:txBody>
      </p:sp>
      <p:sp>
        <p:nvSpPr>
          <p:cNvPr id="478" name="Google Shape;478;p29"/>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79" name="Google Shape;479;p29"/>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80" name="Google Shape;480;p29"/>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81" name="Google Shape;481;p29"/>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82" name="Google Shape;482;p29"/>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83" name="Google Shape;483;p29"/>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84" name="Google Shape;484;p29"/>
          <p:cNvSpPr txBox="1"/>
          <p:nvPr>
            <p:ph idx="1" type="body"/>
          </p:nvPr>
        </p:nvSpPr>
        <p:spPr>
          <a:xfrm>
            <a:off x="612775" y="1600200"/>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l">
              <a:lnSpc>
                <a:spcPct val="100000"/>
              </a:lnSpc>
              <a:spcBef>
                <a:spcPts val="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K-value indicates the count of the nearest neighbors.</a:t>
            </a:r>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19087" lvl="0" marL="319087" marR="0" rtl="0" algn="l">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As you can verify from the above image, if we proceed with K=3, then we predict that test input belongs to class B, and if we continue with K=7, then we predict that test input belongs to class A.</a:t>
            </a:r>
            <a:endParaRPr/>
          </a:p>
        </p:txBody>
      </p:sp>
      <p:pic>
        <p:nvPicPr>
          <p:cNvPr id="485" name="Google Shape;485;p29"/>
          <p:cNvPicPr preferRelativeResize="0"/>
          <p:nvPr/>
        </p:nvPicPr>
        <p:blipFill rotWithShape="1">
          <a:blip r:embed="rId3">
            <a:alphaModFix/>
          </a:blip>
          <a:srcRect b="0" l="0" r="0" t="0"/>
          <a:stretch/>
        </p:blipFill>
        <p:spPr>
          <a:xfrm>
            <a:off x="1563687" y="2455862"/>
            <a:ext cx="5599112" cy="28781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2000"/>
                                        <p:tgtEl>
                                          <p:spTgt spid="480"/>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79"/>
                                        </p:tgtEl>
                                        <p:attrNameLst>
                                          <p:attrName>style.visibility</p:attrName>
                                        </p:attrNameLst>
                                      </p:cBhvr>
                                      <p:to>
                                        <p:strVal val="visible"/>
                                      </p:to>
                                    </p:set>
                                    <p:animEffect filter="fade" transition="in">
                                      <p:cBhvr>
                                        <p:cTn dur="2000"/>
                                        <p:tgtEl>
                                          <p:spTgt spid="479"/>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81"/>
                                        </p:tgtEl>
                                        <p:attrNameLst>
                                          <p:attrName>style.visibility</p:attrName>
                                        </p:attrNameLst>
                                      </p:cBhvr>
                                      <p:to>
                                        <p:strVal val="visible"/>
                                      </p:to>
                                    </p:set>
                                    <p:animEffect filter="fade" transition="in">
                                      <p:cBhvr>
                                        <p:cTn dur="2000"/>
                                        <p:tgtEl>
                                          <p:spTgt spid="481"/>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2000"/>
                                        <p:tgtEl>
                                          <p:spTgt spid="482"/>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2000"/>
                                        <p:tgtEl>
                                          <p:spTgt spid="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0"/>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to select the value of K in the K-NN Algorithm?</a:t>
            </a:r>
            <a:endParaRPr/>
          </a:p>
        </p:txBody>
      </p:sp>
      <p:sp>
        <p:nvSpPr>
          <p:cNvPr id="493" name="Google Shape;493;p30"/>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94" name="Google Shape;494;p30"/>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95" name="Google Shape;495;p30"/>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96" name="Google Shape;496;p30"/>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97" name="Google Shape;497;p30"/>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98" name="Google Shape;498;p30"/>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99" name="Google Shape;499;p30"/>
          <p:cNvSpPr txBox="1"/>
          <p:nvPr>
            <p:ph idx="1" type="body"/>
          </p:nvPr>
        </p:nvSpPr>
        <p:spPr>
          <a:xfrm>
            <a:off x="612775" y="1600200"/>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In KNN, finding the value of k is not easy. A small value of k means that noise will have a higher influence on the result and a large value make it computationally expensive. Data scientists usually choose as an odd number if the number of classes is 2 and another simple approach to select k is set </a:t>
            </a:r>
            <a:r>
              <a:rPr b="1" i="0" lang="en-US" sz="2800" u="none">
                <a:solidFill>
                  <a:schemeClr val="dk1"/>
                </a:solidFill>
                <a:latin typeface="Times New Roman"/>
                <a:ea typeface="Times New Roman"/>
                <a:cs typeface="Times New Roman"/>
                <a:sym typeface="Times New Roman"/>
              </a:rPr>
              <a:t>k=sqrt(n).</a:t>
            </a:r>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8" lvl="0" marL="319088" marR="0" rtl="0" algn="l">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2000"/>
                                        <p:tgtEl>
                                          <p:spTgt spid="495"/>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94"/>
                                        </p:tgtEl>
                                        <p:attrNameLst>
                                          <p:attrName>style.visibility</p:attrName>
                                        </p:attrNameLst>
                                      </p:cBhvr>
                                      <p:to>
                                        <p:strVal val="visible"/>
                                      </p:to>
                                    </p:set>
                                    <p:animEffect filter="fade" transition="in">
                                      <p:cBhvr>
                                        <p:cTn dur="2000"/>
                                        <p:tgtEl>
                                          <p:spTgt spid="494"/>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96"/>
                                        </p:tgtEl>
                                        <p:attrNameLst>
                                          <p:attrName>style.visibility</p:attrName>
                                        </p:attrNameLst>
                                      </p:cBhvr>
                                      <p:to>
                                        <p:strVal val="visible"/>
                                      </p:to>
                                    </p:set>
                                    <p:animEffect filter="fade" transition="in">
                                      <p:cBhvr>
                                        <p:cTn dur="2000"/>
                                        <p:tgtEl>
                                          <p:spTgt spid="49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2000"/>
                                        <p:tgtEl>
                                          <p:spTgt spid="497"/>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2000"/>
                                        <p:tgtEl>
                                          <p:spTgt spid="4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1"/>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How to select the value of K in the K-NN Algorithm?</a:t>
            </a:r>
            <a:endParaRPr/>
          </a:p>
        </p:txBody>
      </p:sp>
      <p:sp>
        <p:nvSpPr>
          <p:cNvPr id="507" name="Google Shape;507;p31"/>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508" name="Google Shape;508;p31"/>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509" name="Google Shape;509;p31"/>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510" name="Google Shape;510;p31"/>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511" name="Google Shape;511;p31"/>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512" name="Google Shape;512;p31"/>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513" name="Google Shape;513;p31"/>
          <p:cNvSpPr txBox="1"/>
          <p:nvPr>
            <p:ph idx="1" type="body"/>
          </p:nvPr>
        </p:nvSpPr>
        <p:spPr>
          <a:xfrm>
            <a:off x="612775" y="1600200"/>
            <a:ext cx="8153400" cy="5257800"/>
          </a:xfrm>
          <a:prstGeom prst="rect">
            <a:avLst/>
          </a:prstGeom>
          <a:noFill/>
          <a:ln>
            <a:noFill/>
          </a:ln>
        </p:spPr>
        <p:txBody>
          <a:bodyPr anchorCtr="0" anchor="t" bIns="45700" lIns="91425" spcFirstLastPara="1" rIns="91425" wrap="square" tIns="45700">
            <a:noAutofit/>
          </a:bodyPr>
          <a:lstStyle/>
          <a:p>
            <a:pPr indent="-319087" lvl="0" marL="319087" marR="0" rtl="0" algn="l">
              <a:lnSpc>
                <a:spcPct val="100000"/>
              </a:lnSpc>
              <a:spcBef>
                <a:spcPts val="0"/>
              </a:spcBef>
              <a:spcAft>
                <a:spcPts val="0"/>
              </a:spcAft>
              <a:buClr>
                <a:schemeClr val="accent2"/>
              </a:buClr>
              <a:buSzPts val="1680"/>
              <a:buFont typeface="Noto Sans Symbols"/>
              <a:buChar char="◻"/>
            </a:pPr>
            <a:r>
              <a:rPr b="1" i="0" lang="en-US" sz="2800" u="none">
                <a:solidFill>
                  <a:srgbClr val="292929"/>
                </a:solidFill>
                <a:latin typeface="Times New Roman"/>
                <a:ea typeface="Times New Roman"/>
                <a:cs typeface="Times New Roman"/>
                <a:sym typeface="Times New Roman"/>
              </a:rPr>
              <a:t>Then how to select the optimal K value?</a:t>
            </a:r>
            <a:endParaRPr/>
          </a:p>
          <a:p>
            <a:pPr indent="-319087" lvl="0" marL="319087" marR="0" rtl="0" algn="l">
              <a:lnSpc>
                <a:spcPct val="100000"/>
              </a:lnSpc>
              <a:spcBef>
                <a:spcPts val="700"/>
              </a:spcBef>
              <a:spcAft>
                <a:spcPts val="0"/>
              </a:spcAft>
              <a:buClr>
                <a:schemeClr val="accent2"/>
              </a:buClr>
              <a:buSzPts val="1680"/>
              <a:buFont typeface="Arial"/>
              <a:buChar char="•"/>
            </a:pPr>
            <a:r>
              <a:rPr b="0" i="0" lang="en-US" sz="2800" u="none">
                <a:solidFill>
                  <a:srgbClr val="292929"/>
                </a:solidFill>
                <a:latin typeface="Times New Roman"/>
                <a:ea typeface="Times New Roman"/>
                <a:cs typeface="Times New Roman"/>
                <a:sym typeface="Times New Roman"/>
              </a:rPr>
              <a:t>There are no pre-defined statistical methods to find the most favorable value of K.</a:t>
            </a:r>
            <a:endParaRPr/>
          </a:p>
          <a:p>
            <a:pPr indent="-319087" lvl="0" marL="319087" marR="0" rtl="0" algn="l">
              <a:lnSpc>
                <a:spcPct val="100000"/>
              </a:lnSpc>
              <a:spcBef>
                <a:spcPts val="700"/>
              </a:spcBef>
              <a:spcAft>
                <a:spcPts val="0"/>
              </a:spcAft>
              <a:buClr>
                <a:schemeClr val="accent2"/>
              </a:buClr>
              <a:buSzPts val="1680"/>
              <a:buFont typeface="Arial"/>
              <a:buChar char="•"/>
            </a:pPr>
            <a:r>
              <a:rPr b="0" i="0" lang="en-US" sz="2800" u="none">
                <a:solidFill>
                  <a:srgbClr val="292929"/>
                </a:solidFill>
                <a:latin typeface="Times New Roman"/>
                <a:ea typeface="Times New Roman"/>
                <a:cs typeface="Times New Roman"/>
                <a:sym typeface="Times New Roman"/>
              </a:rPr>
              <a:t>Initialize a random K value and start computing.</a:t>
            </a:r>
            <a:endParaRPr/>
          </a:p>
          <a:p>
            <a:pPr indent="-319087" lvl="0" marL="319087" marR="0" rtl="0" algn="l">
              <a:lnSpc>
                <a:spcPct val="100000"/>
              </a:lnSpc>
              <a:spcBef>
                <a:spcPts val="700"/>
              </a:spcBef>
              <a:spcAft>
                <a:spcPts val="0"/>
              </a:spcAft>
              <a:buClr>
                <a:schemeClr val="accent2"/>
              </a:buClr>
              <a:buSzPts val="1680"/>
              <a:buFont typeface="Arial"/>
              <a:buChar char="•"/>
            </a:pPr>
            <a:r>
              <a:rPr b="0" i="0" lang="en-US" sz="2800" u="none">
                <a:solidFill>
                  <a:srgbClr val="292929"/>
                </a:solidFill>
                <a:latin typeface="Times New Roman"/>
                <a:ea typeface="Times New Roman"/>
                <a:cs typeface="Times New Roman"/>
                <a:sym typeface="Times New Roman"/>
              </a:rPr>
              <a:t>Choosing a small value of K leads to unstable decision boundaries.</a:t>
            </a:r>
            <a:endParaRPr/>
          </a:p>
          <a:p>
            <a:pPr indent="-319087" lvl="0" marL="319087" marR="0" rtl="0" algn="l">
              <a:lnSpc>
                <a:spcPct val="100000"/>
              </a:lnSpc>
              <a:spcBef>
                <a:spcPts val="700"/>
              </a:spcBef>
              <a:spcAft>
                <a:spcPts val="0"/>
              </a:spcAft>
              <a:buClr>
                <a:schemeClr val="accent2"/>
              </a:buClr>
              <a:buSzPts val="1680"/>
              <a:buFont typeface="Arial"/>
              <a:buChar char="•"/>
            </a:pPr>
            <a:r>
              <a:rPr b="0" i="0" lang="en-US" sz="2800" u="none">
                <a:solidFill>
                  <a:srgbClr val="292929"/>
                </a:solidFill>
                <a:latin typeface="Times New Roman"/>
                <a:ea typeface="Times New Roman"/>
                <a:cs typeface="Times New Roman"/>
                <a:sym typeface="Times New Roman"/>
              </a:rPr>
              <a:t>The substantial K value is better for classification as it leads to smoothening the decision boundaries.</a:t>
            </a:r>
            <a:endParaRPr/>
          </a:p>
          <a:p>
            <a:pPr indent="-319087" lvl="0" marL="319087" marR="0" rtl="0" algn="l">
              <a:lnSpc>
                <a:spcPct val="100000"/>
              </a:lnSpc>
              <a:spcBef>
                <a:spcPts val="700"/>
              </a:spcBef>
              <a:spcAft>
                <a:spcPts val="0"/>
              </a:spcAft>
              <a:buClr>
                <a:schemeClr val="accent2"/>
              </a:buClr>
              <a:buSzPts val="1680"/>
              <a:buFont typeface="Arial"/>
              <a:buChar char="•"/>
            </a:pPr>
            <a:r>
              <a:rPr b="0" i="0" lang="en-US" sz="2800" u="none">
                <a:solidFill>
                  <a:srgbClr val="292929"/>
                </a:solidFill>
                <a:latin typeface="Times New Roman"/>
                <a:ea typeface="Times New Roman"/>
                <a:cs typeface="Times New Roman"/>
                <a:sym typeface="Times New Roman"/>
              </a:rPr>
              <a:t>Derive a plot between error rate and K denoting values in a defined range. Then choose the K value as having a minimum error rate.</a:t>
            </a:r>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8" lvl="0" marL="319088" marR="0" rtl="0" algn="l">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2000"/>
                                        <p:tgtEl>
                                          <p:spTgt spid="509"/>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508"/>
                                        </p:tgtEl>
                                        <p:attrNameLst>
                                          <p:attrName>style.visibility</p:attrName>
                                        </p:attrNameLst>
                                      </p:cBhvr>
                                      <p:to>
                                        <p:strVal val="visible"/>
                                      </p:to>
                                    </p:set>
                                    <p:animEffect filter="fade" transition="in">
                                      <p:cBhvr>
                                        <p:cTn dur="2000"/>
                                        <p:tgtEl>
                                          <p:spTgt spid="508"/>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510"/>
                                        </p:tgtEl>
                                        <p:attrNameLst>
                                          <p:attrName>style.visibility</p:attrName>
                                        </p:attrNameLst>
                                      </p:cBhvr>
                                      <p:to>
                                        <p:strVal val="visible"/>
                                      </p:to>
                                    </p:set>
                                    <p:animEffect filter="fade" transition="in">
                                      <p:cBhvr>
                                        <p:cTn dur="2000"/>
                                        <p:tgtEl>
                                          <p:spTgt spid="510"/>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2000"/>
                                        <p:tgtEl>
                                          <p:spTgt spid="511"/>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20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2"/>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Pros and Cons of KNN</a:t>
            </a:r>
            <a:endParaRPr/>
          </a:p>
        </p:txBody>
      </p:sp>
      <p:sp>
        <p:nvSpPr>
          <p:cNvPr id="521" name="Google Shape;521;p3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522" name="Google Shape;522;p32"/>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523" name="Google Shape;523;p32"/>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524" name="Google Shape;524;p32"/>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525" name="Google Shape;525;p32"/>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526" name="Google Shape;526;p32"/>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527" name="Google Shape;527;p32"/>
          <p:cNvSpPr txBox="1"/>
          <p:nvPr>
            <p:ph idx="1" type="body"/>
          </p:nvPr>
        </p:nvSpPr>
        <p:spPr>
          <a:xfrm>
            <a:off x="612775" y="1516062"/>
            <a:ext cx="8153400" cy="5341937"/>
          </a:xfrm>
          <a:prstGeom prst="rect">
            <a:avLst/>
          </a:prstGeom>
          <a:noFill/>
          <a:ln>
            <a:noFill/>
          </a:ln>
        </p:spPr>
        <p:txBody>
          <a:bodyPr anchorCtr="0" anchor="t" bIns="45700" lIns="91425" spcFirstLastPara="1" rIns="91425" wrap="square" tIns="45700">
            <a:noAutofit/>
          </a:bodyPr>
          <a:lstStyle/>
          <a:p>
            <a:pPr indent="-319087" lvl="0" marL="319087" marR="0" rtl="0" algn="l">
              <a:lnSpc>
                <a:spcPct val="100000"/>
              </a:lnSpc>
              <a:spcBef>
                <a:spcPts val="0"/>
              </a:spcBef>
              <a:spcAft>
                <a:spcPts val="0"/>
              </a:spcAft>
              <a:buClr>
                <a:schemeClr val="accent2"/>
              </a:buClr>
              <a:buSzPts val="1920"/>
              <a:buFont typeface="Noto Sans Symbols"/>
              <a:buChar char="❑"/>
            </a:pPr>
            <a:r>
              <a:rPr b="1" i="0" lang="en-US" sz="3200" u="none">
                <a:solidFill>
                  <a:srgbClr val="292929"/>
                </a:solidFill>
                <a:latin typeface="Times New Roman"/>
                <a:ea typeface="Times New Roman"/>
                <a:cs typeface="Times New Roman"/>
                <a:sym typeface="Times New Roman"/>
              </a:rPr>
              <a:t>Pros</a:t>
            </a:r>
            <a:endParaRPr/>
          </a:p>
          <a:p>
            <a:pPr indent="-319087" lvl="0" marL="319087" marR="0" rtl="0" algn="l">
              <a:lnSpc>
                <a:spcPct val="100000"/>
              </a:lnSpc>
              <a:spcBef>
                <a:spcPts val="700"/>
              </a:spcBef>
              <a:spcAft>
                <a:spcPts val="0"/>
              </a:spcAft>
              <a:buClr>
                <a:schemeClr val="accent2"/>
              </a:buClr>
              <a:buSzPts val="1680"/>
              <a:buFont typeface="Twentieth Century"/>
              <a:buAutoNum type="arabicPeriod"/>
            </a:pPr>
            <a:r>
              <a:rPr b="0" i="0" lang="en-US" sz="2800" u="none">
                <a:solidFill>
                  <a:srgbClr val="292929"/>
                </a:solidFill>
                <a:latin typeface="Times New Roman"/>
                <a:ea typeface="Times New Roman"/>
                <a:cs typeface="Times New Roman"/>
                <a:sym typeface="Times New Roman"/>
              </a:rPr>
              <a:t>It is simple to implement.</a:t>
            </a:r>
            <a:endParaRPr/>
          </a:p>
          <a:p>
            <a:pPr indent="-319087" lvl="0" marL="319087" marR="0" rtl="0" algn="l">
              <a:lnSpc>
                <a:spcPct val="100000"/>
              </a:lnSpc>
              <a:spcBef>
                <a:spcPts val="700"/>
              </a:spcBef>
              <a:spcAft>
                <a:spcPts val="0"/>
              </a:spcAft>
              <a:buClr>
                <a:schemeClr val="accent2"/>
              </a:buClr>
              <a:buSzPts val="1680"/>
              <a:buFont typeface="Twentieth Century"/>
              <a:buAutoNum type="arabicPeriod"/>
            </a:pPr>
            <a:r>
              <a:rPr b="0" i="0" lang="en-US" sz="2800" u="none">
                <a:solidFill>
                  <a:srgbClr val="292929"/>
                </a:solidFill>
                <a:latin typeface="Times New Roman"/>
                <a:ea typeface="Times New Roman"/>
                <a:cs typeface="Times New Roman"/>
                <a:sym typeface="Times New Roman"/>
              </a:rPr>
              <a:t>It is robust to the noisy training data</a:t>
            </a:r>
            <a:endParaRPr/>
          </a:p>
          <a:p>
            <a:pPr indent="-319087" lvl="0" marL="319087" marR="0" rtl="0" algn="l">
              <a:lnSpc>
                <a:spcPct val="100000"/>
              </a:lnSpc>
              <a:spcBef>
                <a:spcPts val="700"/>
              </a:spcBef>
              <a:spcAft>
                <a:spcPts val="0"/>
              </a:spcAft>
              <a:buClr>
                <a:schemeClr val="accent2"/>
              </a:buClr>
              <a:buSzPts val="1680"/>
              <a:buFont typeface="Twentieth Century"/>
              <a:buAutoNum type="arabicPeriod"/>
            </a:pPr>
            <a:r>
              <a:rPr b="0" i="0" lang="en-US" sz="2800" u="none">
                <a:solidFill>
                  <a:srgbClr val="292929"/>
                </a:solidFill>
                <a:latin typeface="Times New Roman"/>
                <a:ea typeface="Times New Roman"/>
                <a:cs typeface="Times New Roman"/>
                <a:sym typeface="Times New Roman"/>
              </a:rPr>
              <a:t>It can be more effective if the training data is large.</a:t>
            </a:r>
            <a:endParaRPr/>
          </a:p>
          <a:p>
            <a:pPr indent="-319087" lvl="0" marL="319087" marR="0" rtl="0" algn="l">
              <a:lnSpc>
                <a:spcPct val="100000"/>
              </a:lnSpc>
              <a:spcBef>
                <a:spcPts val="700"/>
              </a:spcBef>
              <a:spcAft>
                <a:spcPts val="0"/>
              </a:spcAft>
              <a:buClr>
                <a:schemeClr val="accent2"/>
              </a:buClr>
              <a:buSzPts val="1680"/>
              <a:buFont typeface="Noto Sans Symbols"/>
              <a:buChar char="❑"/>
            </a:pPr>
            <a:r>
              <a:rPr b="1" i="0" lang="en-US" sz="2800" u="none">
                <a:solidFill>
                  <a:srgbClr val="292929"/>
                </a:solidFill>
                <a:latin typeface="Times New Roman"/>
                <a:ea typeface="Times New Roman"/>
                <a:cs typeface="Times New Roman"/>
                <a:sym typeface="Times New Roman"/>
              </a:rPr>
              <a:t>Cons</a:t>
            </a:r>
            <a:endParaRPr/>
          </a:p>
          <a:p>
            <a:pPr indent="-319087" lvl="0" marL="319087" marR="0" rtl="0" algn="l">
              <a:lnSpc>
                <a:spcPct val="100000"/>
              </a:lnSpc>
              <a:spcBef>
                <a:spcPts val="700"/>
              </a:spcBef>
              <a:spcAft>
                <a:spcPts val="0"/>
              </a:spcAft>
              <a:buClr>
                <a:schemeClr val="accent2"/>
              </a:buClr>
              <a:buSzPts val="1680"/>
              <a:buFont typeface="Twentieth Century"/>
              <a:buAutoNum type="arabicPeriod"/>
            </a:pPr>
            <a:r>
              <a:rPr b="0" i="0" lang="en-US" sz="2800" u="none">
                <a:solidFill>
                  <a:srgbClr val="292929"/>
                </a:solidFill>
                <a:latin typeface="Times New Roman"/>
                <a:ea typeface="Times New Roman"/>
                <a:cs typeface="Times New Roman"/>
                <a:sym typeface="Times New Roman"/>
              </a:rPr>
              <a:t>Always needs to determine the value of K which may be complex some time.</a:t>
            </a:r>
            <a:endParaRPr/>
          </a:p>
          <a:p>
            <a:pPr indent="-319087" lvl="0" marL="319087" marR="0" rtl="0" algn="l">
              <a:lnSpc>
                <a:spcPct val="100000"/>
              </a:lnSpc>
              <a:spcBef>
                <a:spcPts val="700"/>
              </a:spcBef>
              <a:spcAft>
                <a:spcPts val="0"/>
              </a:spcAft>
              <a:buClr>
                <a:schemeClr val="accent2"/>
              </a:buClr>
              <a:buSzPts val="1680"/>
              <a:buFont typeface="Twentieth Century"/>
              <a:buAutoNum type="arabicPeriod"/>
            </a:pPr>
            <a:r>
              <a:rPr b="0" i="0" lang="en-US" sz="2800" u="none">
                <a:solidFill>
                  <a:srgbClr val="292929"/>
                </a:solidFill>
                <a:latin typeface="Times New Roman"/>
                <a:ea typeface="Times New Roman"/>
                <a:cs typeface="Times New Roman"/>
                <a:sym typeface="Times New Roman"/>
              </a:rPr>
              <a:t>The computation cost is high because of calculating the distance between the data points for all the training samples.</a:t>
            </a:r>
            <a:endParaRPr/>
          </a:p>
          <a:p>
            <a:pPr indent="-319087" lvl="0" marL="319087" marR="0" rtl="0" algn="l">
              <a:lnSpc>
                <a:spcPct val="100000"/>
              </a:lnSpc>
              <a:spcBef>
                <a:spcPts val="700"/>
              </a:spcBef>
              <a:spcAft>
                <a:spcPts val="0"/>
              </a:spcAft>
              <a:buClr>
                <a:schemeClr val="accent2"/>
              </a:buClr>
              <a:buSzPts val="1680"/>
              <a:buFont typeface="Twentieth Century"/>
              <a:buAutoNum type="arabicPeriod"/>
            </a:pPr>
            <a:r>
              <a:rPr b="0" i="0" lang="en-US" sz="2800" u="none">
                <a:solidFill>
                  <a:srgbClr val="292929"/>
                </a:solidFill>
                <a:latin typeface="Times New Roman"/>
                <a:ea typeface="Times New Roman"/>
                <a:cs typeface="Times New Roman"/>
                <a:sym typeface="Times New Roman"/>
              </a:rPr>
              <a:t>Prediction is slow in case of big N.</a:t>
            </a:r>
            <a:endParaRPr b="0" i="0" sz="2800" u="none">
              <a:solidFill>
                <a:schemeClr val="dk1"/>
              </a:solidFill>
              <a:latin typeface="Times New Roman"/>
              <a:ea typeface="Times New Roman"/>
              <a:cs typeface="Times New Roman"/>
              <a:sym typeface="Times New Roman"/>
            </a:endParaRPr>
          </a:p>
          <a:p>
            <a:pPr indent="-212407" lvl="0" marL="319087" marR="0" rtl="0" algn="l">
              <a:lnSpc>
                <a:spcPct val="100000"/>
              </a:lnSpc>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12408" lvl="0" marL="319088" marR="0" rtl="0" algn="l">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2000"/>
                                        <p:tgtEl>
                                          <p:spTgt spid="523"/>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522"/>
                                        </p:tgtEl>
                                        <p:attrNameLst>
                                          <p:attrName>style.visibility</p:attrName>
                                        </p:attrNameLst>
                                      </p:cBhvr>
                                      <p:to>
                                        <p:strVal val="visible"/>
                                      </p:to>
                                    </p:set>
                                    <p:animEffect filter="fade" transition="in">
                                      <p:cBhvr>
                                        <p:cTn dur="2000"/>
                                        <p:tgtEl>
                                          <p:spTgt spid="522"/>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524"/>
                                        </p:tgtEl>
                                        <p:attrNameLst>
                                          <p:attrName>style.visibility</p:attrName>
                                        </p:attrNameLst>
                                      </p:cBhvr>
                                      <p:to>
                                        <p:strVal val="visible"/>
                                      </p:to>
                                    </p:set>
                                    <p:animEffect filter="fade" transition="in">
                                      <p:cBhvr>
                                        <p:cTn dur="2000"/>
                                        <p:tgtEl>
                                          <p:spTgt spid="524"/>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2000"/>
                                        <p:tgtEl>
                                          <p:spTgt spid="525"/>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2000"/>
                                        <p:tgtEl>
                                          <p:spTgt spid="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4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6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7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5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2009-08-22T11:34:21Z</dcterms:created>
  <dc:creator>Weijun</dc:creator>
</cp:coreProperties>
</file>