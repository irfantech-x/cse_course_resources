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88" r:id="rId3"/>
    <p:sldId id="289" r:id="rId4"/>
    <p:sldId id="428" r:id="rId5"/>
    <p:sldId id="297" r:id="rId6"/>
    <p:sldId id="290" r:id="rId7"/>
    <p:sldId id="291" r:id="rId8"/>
    <p:sldId id="298" r:id="rId9"/>
    <p:sldId id="292" r:id="rId10"/>
    <p:sldId id="293" r:id="rId11"/>
    <p:sldId id="429" r:id="rId12"/>
    <p:sldId id="358" r:id="rId13"/>
    <p:sldId id="258" r:id="rId14"/>
    <p:sldId id="356" r:id="rId15"/>
    <p:sldId id="280" r:id="rId16"/>
    <p:sldId id="262" r:id="rId17"/>
    <p:sldId id="359" r:id="rId18"/>
    <p:sldId id="360" r:id="rId19"/>
    <p:sldId id="424" r:id="rId20"/>
    <p:sldId id="365" r:id="rId21"/>
    <p:sldId id="425" r:id="rId22"/>
    <p:sldId id="426" r:id="rId23"/>
    <p:sldId id="376" r:id="rId24"/>
    <p:sldId id="377" r:id="rId25"/>
    <p:sldId id="378" r:id="rId26"/>
    <p:sldId id="381" r:id="rId27"/>
    <p:sldId id="383" r:id="rId28"/>
    <p:sldId id="427" r:id="rId29"/>
    <p:sldId id="388" r:id="rId30"/>
    <p:sldId id="389" r:id="rId31"/>
    <p:sldId id="390" r:id="rId32"/>
    <p:sldId id="391" r:id="rId33"/>
    <p:sldId id="294" r:id="rId34"/>
    <p:sldId id="431" r:id="rId35"/>
    <p:sldId id="432" r:id="rId36"/>
    <p:sldId id="433" r:id="rId37"/>
    <p:sldId id="430" r:id="rId3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7" autoAdjust="0"/>
    <p:restoredTop sz="94660"/>
  </p:normalViewPr>
  <p:slideViewPr>
    <p:cSldViewPr>
      <p:cViewPr varScale="1">
        <p:scale>
          <a:sx n="65" d="100"/>
          <a:sy n="65" d="100"/>
        </p:scale>
        <p:origin x="1062" y="10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3F37B3E0-4136-47F3-8974-C524E284002E}" type="datetimeFigureOut">
              <a:rPr lang="en-US" smtClean="0"/>
              <a:t>11/4/2025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B5CE742-859C-4FC8-B64D-9C2163236036}" type="slidenum">
              <a:rPr lang="en-US" smtClean="0"/>
              <a:t>‹#›</a:t>
            </a:fld>
            <a:endParaRPr lang="en-US"/>
          </a:p>
        </p:txBody>
      </p:sp>
    </p:spTree>
    <p:extLst>
      <p:ext uri="{BB962C8B-B14F-4D97-AF65-F5344CB8AC3E}">
        <p14:creationId xmlns:p14="http://schemas.microsoft.com/office/powerpoint/2010/main" val="937794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3B0A1370-F5B0-4090-95FE-37734A4974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9DF6356-A1F8-4BF2-930B-00E952BEAA0A}" type="slidenum">
              <a:rPr lang="en-US" altLang="en-US"/>
              <a:pPr>
                <a:spcBef>
                  <a:spcPct val="0"/>
                </a:spcBef>
              </a:pPr>
              <a:t>12</a:t>
            </a:fld>
            <a:endParaRPr lang="en-US" altLang="en-US"/>
          </a:p>
        </p:txBody>
      </p:sp>
      <p:sp>
        <p:nvSpPr>
          <p:cNvPr id="9219" name="Rectangle 2">
            <a:extLst>
              <a:ext uri="{FF2B5EF4-FFF2-40B4-BE49-F238E27FC236}">
                <a16:creationId xmlns:a16="http://schemas.microsoft.com/office/drawing/2014/main" id="{94C9D262-F359-454C-9B0E-7C8CF5E57D88}"/>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7E96FDD5-DBB4-4A56-B803-E4A4A69F39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What exactly are Genetic Algorithms?</a:t>
            </a:r>
          </a:p>
          <a:p>
            <a:pPr eaLnBrk="1" hangingPunct="1"/>
            <a:r>
              <a:rPr lang="en-US" altLang="en-US">
                <a:latin typeface="Arial" panose="020B0604020202020204" pitchFamily="34" charset="0"/>
              </a:rPr>
              <a:t>As the name suggests, Genetic Algorithms or Gas borrow their basic working principle from natural genetics.</a:t>
            </a:r>
          </a:p>
          <a:p>
            <a:pPr eaLnBrk="1" hangingPunct="1"/>
            <a:r>
              <a:rPr lang="en-US" altLang="en-US">
                <a:latin typeface="Arial" panose="020B0604020202020204" pitchFamily="34" charset="0"/>
              </a:rPr>
              <a:t>Genetic Algorithms are search and optimization methods based on Darwin’s principle of Natural Selection.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B186BD9F-3D42-42B2-A7FF-716AB57D30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1D98D93-6F29-4FF9-8DEA-57A611FC0954}" type="slidenum">
              <a:rPr lang="en-US" altLang="en-US"/>
              <a:pPr>
                <a:spcBef>
                  <a:spcPct val="0"/>
                </a:spcBef>
              </a:pPr>
              <a:t>13</a:t>
            </a:fld>
            <a:endParaRPr lang="en-US" altLang="en-US"/>
          </a:p>
        </p:txBody>
      </p:sp>
      <p:sp>
        <p:nvSpPr>
          <p:cNvPr id="17411" name="Rectangle 2">
            <a:extLst>
              <a:ext uri="{FF2B5EF4-FFF2-40B4-BE49-F238E27FC236}">
                <a16:creationId xmlns:a16="http://schemas.microsoft.com/office/drawing/2014/main" id="{86DB2503-C099-46AD-8BBC-367CF370A8DD}"/>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90E01E90-D169-4A10-91DD-677BA9386F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GAs implement optimization techniques by simulating this natural law of evolution in the biological world.</a:t>
            </a:r>
          </a:p>
          <a:p>
            <a:pPr eaLnBrk="1" hangingPunct="1"/>
            <a:r>
              <a:rPr lang="en-US" altLang="en-US">
                <a:latin typeface="Arial" panose="020B0604020202020204" pitchFamily="34" charset="0"/>
              </a:rPr>
              <a:t>We start with a population of randomly generated solutions. Each of these solutions is evaluated to determine how good or bad it is.In other words to determine how “fit” that solution is. We then check a terminating condition, to see if our solutions are good enough? If yes, we stop. If not, we have to optimize the solutions.</a:t>
            </a:r>
          </a:p>
          <a:p>
            <a:pPr eaLnBrk="1" hangingPunct="1"/>
            <a:r>
              <a:rPr lang="en-US" altLang="en-US">
                <a:latin typeface="Arial" panose="020B0604020202020204" pitchFamily="34" charset="0"/>
              </a:rPr>
              <a:t>So, we select the best solutions from the initial population (selection). This is similar to “natural selection”.</a:t>
            </a:r>
          </a:p>
          <a:p>
            <a:pPr eaLnBrk="1" hangingPunct="1"/>
            <a:r>
              <a:rPr lang="en-US" altLang="en-US">
                <a:latin typeface="Arial" panose="020B0604020202020204" pitchFamily="34" charset="0"/>
              </a:rPr>
              <a:t>Then we allow these good solutions to exchange their information, in order to get even better solutions. This step is similar to reproduction among animals or crossover among chrmosomes and is called “cross-over”. We may then randomly mutate some small % of the solutions thus obtained after crossover. </a:t>
            </a:r>
          </a:p>
          <a:p>
            <a:pPr eaLnBrk="1" hangingPunct="1"/>
            <a:r>
              <a:rPr lang="en-US" altLang="en-US">
                <a:latin typeface="Arial" panose="020B0604020202020204" pitchFamily="34" charset="0"/>
              </a:rPr>
              <a:t>Mutation is very imp. It could be a bad thing, it could be a good thing. In the boliogical sense it mean, making a small change in a gene. In GAs, it means, making a small change to the solution.</a:t>
            </a:r>
          </a:p>
          <a:p>
            <a:pPr eaLnBrk="1" hangingPunct="1"/>
            <a:r>
              <a:rPr lang="en-US" altLang="en-US">
                <a:latin typeface="Arial" panose="020B0604020202020204" pitchFamily="34" charset="0"/>
              </a:rPr>
              <a:t>Then again, we evaluate each of the sokutions, and check the termination condition. As you see , this is an optmization method.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20D41F8A-0AB7-405A-B1D0-D29CE5A83B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CFFF9FF-4203-4010-B194-FF0E8EB302CE}" type="slidenum">
              <a:rPr lang="en-US" altLang="en-US"/>
              <a:pPr>
                <a:spcBef>
                  <a:spcPct val="0"/>
                </a:spcBef>
              </a:pPr>
              <a:t>16</a:t>
            </a:fld>
            <a:endParaRPr lang="en-US" altLang="en-US"/>
          </a:p>
        </p:txBody>
      </p:sp>
      <p:sp>
        <p:nvSpPr>
          <p:cNvPr id="21507" name="Rectangle 2">
            <a:extLst>
              <a:ext uri="{FF2B5EF4-FFF2-40B4-BE49-F238E27FC236}">
                <a16:creationId xmlns:a16="http://schemas.microsoft.com/office/drawing/2014/main" id="{B0285296-5CDB-47E7-81DB-AB1552D94958}"/>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78A44D97-0363-4A9C-848C-86EBA13D6F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So after this discussion, it should be clear to you that Gas mimic the natural process of evolution to a large extent. To summarize the similarities , I have a slide here.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D76AC5BC-5CA0-49F7-88A7-8B97329086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0D482ED-71A5-4C36-AB73-0871E4CD5D12}" type="slidenum">
              <a:rPr lang="en-US" altLang="en-US"/>
              <a:pPr>
                <a:spcBef>
                  <a:spcPct val="0"/>
                </a:spcBef>
              </a:pPr>
              <a:t>18</a:t>
            </a:fld>
            <a:endParaRPr lang="en-US" altLang="en-US"/>
          </a:p>
        </p:txBody>
      </p:sp>
      <p:sp>
        <p:nvSpPr>
          <p:cNvPr id="25603" name="Rectangle 2">
            <a:extLst>
              <a:ext uri="{FF2B5EF4-FFF2-40B4-BE49-F238E27FC236}">
                <a16:creationId xmlns:a16="http://schemas.microsoft.com/office/drawing/2014/main" id="{B3DBBAD3-14EF-42F8-A233-752692A6D539}"/>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FCFA5F37-00CC-4E78-AE9C-EE63FF02A6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5CE742-859C-4FC8-B64D-9C2163236036}" type="slidenum">
              <a:rPr lang="en-US" smtClean="0"/>
              <a:t>20</a:t>
            </a:fld>
            <a:endParaRPr lang="en-US"/>
          </a:p>
        </p:txBody>
      </p:sp>
    </p:spTree>
    <p:extLst>
      <p:ext uri="{BB962C8B-B14F-4D97-AF65-F5344CB8AC3E}">
        <p14:creationId xmlns:p14="http://schemas.microsoft.com/office/powerpoint/2010/main" val="112357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780714" y="112888"/>
            <a:ext cx="2630571" cy="695960"/>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677108"/>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1600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1600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607A970-C931-4457-A36D-735ACB8F9410}"/>
              </a:ext>
            </a:extLst>
          </p:cNvPr>
          <p:cNvSpPr>
            <a:spLocks noGrp="1" noChangeArrowheads="1"/>
          </p:cNvSpPr>
          <p:nvPr>
            <p:ph type="dt" sz="half" idx="10"/>
          </p:nvPr>
        </p:nvSpPr>
        <p:spPr>
          <a:xfrm>
            <a:off x="609600" y="6377940"/>
            <a:ext cx="2804160" cy="276999"/>
          </a:xfrm>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C7FC8D3E-FA7B-40FD-92AF-22B9CA3FEE18}"/>
              </a:ext>
            </a:extLst>
          </p:cNvPr>
          <p:cNvSpPr>
            <a:spLocks noGrp="1" noChangeArrowheads="1"/>
          </p:cNvSpPr>
          <p:nvPr>
            <p:ph type="ftr" sz="quarter" idx="11"/>
          </p:nvPr>
        </p:nvSpPr>
        <p:spPr>
          <a:xfrm>
            <a:off x="4145280" y="6377940"/>
            <a:ext cx="3901440" cy="276999"/>
          </a:xfrm>
          <a:ln/>
        </p:spPr>
        <p:txBody>
          <a:bodyPr/>
          <a:lstStyle>
            <a:lvl1pPr>
              <a:defRPr/>
            </a:lvl1pPr>
          </a:lstStyle>
          <a:p>
            <a:pPr>
              <a:defRPr/>
            </a:pPr>
            <a:r>
              <a:rPr lang="en-US" altLang="en-US"/>
              <a:t>GAs By Chhavi Kashyap</a:t>
            </a:r>
          </a:p>
        </p:txBody>
      </p:sp>
      <p:sp>
        <p:nvSpPr>
          <p:cNvPr id="7" name="Rectangle 6">
            <a:extLst>
              <a:ext uri="{FF2B5EF4-FFF2-40B4-BE49-F238E27FC236}">
                <a16:creationId xmlns:a16="http://schemas.microsoft.com/office/drawing/2014/main" id="{1CEADEB4-88D7-48BB-B041-20E9125A8239}"/>
              </a:ext>
            </a:extLst>
          </p:cNvPr>
          <p:cNvSpPr>
            <a:spLocks noGrp="1" noChangeArrowheads="1"/>
          </p:cNvSpPr>
          <p:nvPr>
            <p:ph type="sldNum" sz="quarter" idx="12"/>
          </p:nvPr>
        </p:nvSpPr>
        <p:spPr>
          <a:xfrm>
            <a:off x="8778240" y="6377940"/>
            <a:ext cx="2804160" cy="276999"/>
          </a:xfrm>
          <a:ln/>
        </p:spPr>
        <p:txBody>
          <a:bodyPr/>
          <a:lstStyle>
            <a:lvl1pPr>
              <a:defRPr/>
            </a:lvl1pPr>
          </a:lstStyle>
          <a:p>
            <a:fld id="{565BEB24-BF43-430E-8EB1-CEF076E5F6F0}" type="slidenum">
              <a:rPr lang="en-US" altLang="en-US"/>
              <a:pPr/>
              <a:t>‹#›</a:t>
            </a:fld>
            <a:endParaRPr lang="en-US" altLang="en-US"/>
          </a:p>
        </p:txBody>
      </p:sp>
    </p:spTree>
    <p:extLst>
      <p:ext uri="{BB962C8B-B14F-4D97-AF65-F5344CB8AC3E}">
        <p14:creationId xmlns:p14="http://schemas.microsoft.com/office/powerpoint/2010/main" val="2808888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1031243"/>
            <a:ext cx="12192000" cy="60957"/>
          </a:xfrm>
          <a:prstGeom prst="rect">
            <a:avLst/>
          </a:prstGeom>
        </p:spPr>
      </p:pic>
      <p:sp>
        <p:nvSpPr>
          <p:cNvPr id="17" name="bg object 17"/>
          <p:cNvSpPr/>
          <p:nvPr/>
        </p:nvSpPr>
        <p:spPr>
          <a:xfrm>
            <a:off x="0" y="1031242"/>
            <a:ext cx="12192000" cy="60960"/>
          </a:xfrm>
          <a:custGeom>
            <a:avLst/>
            <a:gdLst/>
            <a:ahLst/>
            <a:cxnLst/>
            <a:rect l="l" t="t" r="r" b="b"/>
            <a:pathLst>
              <a:path w="12192000" h="60959">
                <a:moveTo>
                  <a:pt x="0" y="0"/>
                </a:moveTo>
                <a:lnTo>
                  <a:pt x="12192000" y="0"/>
                </a:lnTo>
                <a:lnTo>
                  <a:pt x="12192000" y="60957"/>
                </a:lnTo>
                <a:lnTo>
                  <a:pt x="0" y="60957"/>
                </a:lnTo>
                <a:lnTo>
                  <a:pt x="0" y="0"/>
                </a:lnTo>
                <a:close/>
              </a:path>
            </a:pathLst>
          </a:custGeom>
          <a:ln w="9525">
            <a:solidFill>
              <a:srgbClr val="000000"/>
            </a:solidFill>
          </a:ln>
        </p:spPr>
        <p:txBody>
          <a:bodyPr wrap="square" lIns="0" tIns="0" rIns="0" bIns="0" rtlCol="0"/>
          <a:lstStyle/>
          <a:p>
            <a:endParaRPr/>
          </a:p>
        </p:txBody>
      </p:sp>
      <p:sp>
        <p:nvSpPr>
          <p:cNvPr id="2" name="Holder 2"/>
          <p:cNvSpPr>
            <a:spLocks noGrp="1"/>
          </p:cNvSpPr>
          <p:nvPr>
            <p:ph type="title"/>
          </p:nvPr>
        </p:nvSpPr>
        <p:spPr>
          <a:xfrm>
            <a:off x="135651" y="-144088"/>
            <a:ext cx="11920696" cy="1132840"/>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a:xfrm>
            <a:off x="3264991" y="1226023"/>
            <a:ext cx="5662017" cy="1715770"/>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8"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artificial-intelligence/heuristic-search-techniques-in-ai/"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1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3.wmf"/></Relationships>
</file>

<file path=ppt/slides/_rels/slide2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8.bin"/><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9.bin"/><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EE55DD4D-284D-4238-BAA9-88A0DB91FC53}"/>
              </a:ext>
            </a:extLst>
          </p:cNvPr>
          <p:cNvSpPr txBox="1">
            <a:spLocks noGrp="1"/>
          </p:cNvSpPr>
          <p:nvPr>
            <p:ph type="title"/>
          </p:nvPr>
        </p:nvSpPr>
        <p:spPr>
          <a:xfrm>
            <a:off x="1524000" y="973608"/>
            <a:ext cx="9021861" cy="822962"/>
          </a:xfrm>
          <a:prstGeom prst="rect">
            <a:avLst/>
          </a:prstGeom>
        </p:spPr>
        <p:txBody>
          <a:bodyPr vert="horz" wrap="square" lIns="0" tIns="139702" rIns="0" bIns="0" rtlCol="0">
            <a:spAutoFit/>
          </a:bodyPr>
          <a:lstStyle/>
          <a:p>
            <a:pPr marL="1289050">
              <a:lnSpc>
                <a:spcPct val="100000"/>
              </a:lnSpc>
              <a:spcBef>
                <a:spcPts val="100"/>
              </a:spcBef>
            </a:pPr>
            <a:r>
              <a:rPr lang="en-US" dirty="0">
                <a:solidFill>
                  <a:srgbClr val="002060"/>
                </a:solidFill>
              </a:rPr>
              <a:t>CS</a:t>
            </a:r>
            <a:r>
              <a:rPr lang="en-US" spc="-75" dirty="0">
                <a:solidFill>
                  <a:srgbClr val="002060"/>
                </a:solidFill>
              </a:rPr>
              <a:t>E 315</a:t>
            </a:r>
            <a:r>
              <a:rPr lang="en-US" dirty="0">
                <a:solidFill>
                  <a:srgbClr val="002060"/>
                </a:solidFill>
              </a:rPr>
              <a:t>:</a:t>
            </a:r>
            <a:r>
              <a:rPr lang="en-US" spc="-70" dirty="0">
                <a:solidFill>
                  <a:srgbClr val="002060"/>
                </a:solidFill>
              </a:rPr>
              <a:t> </a:t>
            </a:r>
            <a:r>
              <a:rPr lang="en-US" dirty="0">
                <a:solidFill>
                  <a:srgbClr val="002060"/>
                </a:solidFill>
              </a:rPr>
              <a:t>Artificial</a:t>
            </a:r>
            <a:r>
              <a:rPr lang="en-US" spc="-70" dirty="0">
                <a:solidFill>
                  <a:srgbClr val="002060"/>
                </a:solidFill>
              </a:rPr>
              <a:t> </a:t>
            </a:r>
            <a:r>
              <a:rPr lang="en-US" spc="-10" dirty="0">
                <a:solidFill>
                  <a:srgbClr val="002060"/>
                </a:solidFill>
              </a:rPr>
              <a:t>Intelligence</a:t>
            </a:r>
          </a:p>
        </p:txBody>
      </p:sp>
      <p:sp>
        <p:nvSpPr>
          <p:cNvPr id="9" name="object 3">
            <a:extLst>
              <a:ext uri="{FF2B5EF4-FFF2-40B4-BE49-F238E27FC236}">
                <a16:creationId xmlns:a16="http://schemas.microsoft.com/office/drawing/2014/main" id="{DB8B5938-C29C-4AE0-94D7-4515BF5628EA}"/>
              </a:ext>
            </a:extLst>
          </p:cNvPr>
          <p:cNvSpPr txBox="1"/>
          <p:nvPr/>
        </p:nvSpPr>
        <p:spPr>
          <a:xfrm>
            <a:off x="4572000" y="1832701"/>
            <a:ext cx="3048000" cy="689932"/>
          </a:xfrm>
          <a:prstGeom prst="rect">
            <a:avLst/>
          </a:prstGeom>
        </p:spPr>
        <p:txBody>
          <a:bodyPr vert="horz" wrap="square" lIns="0" tIns="12700" rIns="0" bIns="0" rtlCol="0">
            <a:spAutoFit/>
          </a:bodyPr>
          <a:lstStyle/>
          <a:p>
            <a:pPr marL="12700">
              <a:lnSpc>
                <a:spcPct val="100000"/>
              </a:lnSpc>
              <a:spcBef>
                <a:spcPts val="100"/>
              </a:spcBef>
            </a:pPr>
            <a:r>
              <a:rPr lang="en-US" sz="4400" b="1" spc="-10" dirty="0">
                <a:solidFill>
                  <a:srgbClr val="00B050"/>
                </a:solidFill>
                <a:latin typeface="Calibri"/>
                <a:cs typeface="Calibri"/>
              </a:rPr>
              <a:t>Local Search</a:t>
            </a:r>
          </a:p>
        </p:txBody>
      </p:sp>
      <p:pic>
        <p:nvPicPr>
          <p:cNvPr id="10" name="Picture 2" descr="Green University of Bangladesh - Wikipedia">
            <a:extLst>
              <a:ext uri="{FF2B5EF4-FFF2-40B4-BE49-F238E27FC236}">
                <a16:creationId xmlns:a16="http://schemas.microsoft.com/office/drawing/2014/main" id="{47CF4551-86CE-4B83-BBD8-3C2305A60C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24018"/>
            <a:ext cx="2286000" cy="117138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GUB | Green University of Bangladesh">
            <a:extLst>
              <a:ext uri="{FF2B5EF4-FFF2-40B4-BE49-F238E27FC236}">
                <a16:creationId xmlns:a16="http://schemas.microsoft.com/office/drawing/2014/main" id="{6EB6172C-D77D-4BD6-9DDA-1F58C09291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00" y="193496"/>
            <a:ext cx="1409700" cy="140970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17B67562-B45E-41FF-8B12-94FAE315E217}"/>
              </a:ext>
            </a:extLst>
          </p:cNvPr>
          <p:cNvSpPr txBox="1"/>
          <p:nvPr/>
        </p:nvSpPr>
        <p:spPr>
          <a:xfrm>
            <a:off x="3505200" y="6105894"/>
            <a:ext cx="5434501" cy="584775"/>
          </a:xfrm>
          <a:prstGeom prst="rect">
            <a:avLst/>
          </a:prstGeom>
          <a:noFill/>
        </p:spPr>
        <p:txBody>
          <a:bodyPr wrap="none" rtlCol="0">
            <a:spAutoFit/>
          </a:bodyPr>
          <a:lstStyle/>
          <a:p>
            <a:pPr algn="ctr"/>
            <a:r>
              <a:rPr lang="en-US" sz="3200" dirty="0">
                <a:solidFill>
                  <a:schemeClr val="tx1"/>
                </a:solidFill>
                <a:latin typeface="+mj-lt"/>
              </a:rPr>
              <a:t>Green University of Bangladesh</a:t>
            </a:r>
          </a:p>
        </p:txBody>
      </p:sp>
      <p:pic>
        <p:nvPicPr>
          <p:cNvPr id="12" name="object 3">
            <a:extLst>
              <a:ext uri="{FF2B5EF4-FFF2-40B4-BE49-F238E27FC236}">
                <a16:creationId xmlns:a16="http://schemas.microsoft.com/office/drawing/2014/main" id="{77FF6252-E44D-461B-B20F-BB4599A727DE}"/>
              </a:ext>
            </a:extLst>
          </p:cNvPr>
          <p:cNvPicPr/>
          <p:nvPr/>
        </p:nvPicPr>
        <p:blipFill>
          <a:blip r:embed="rId4" cstate="print"/>
          <a:stretch>
            <a:fillRect/>
          </a:stretch>
        </p:blipFill>
        <p:spPr>
          <a:xfrm>
            <a:off x="3505200" y="2362200"/>
            <a:ext cx="5715000" cy="33514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9676" rIns="0" bIns="0" rtlCol="0">
            <a:spAutoFit/>
          </a:bodyPr>
          <a:lstStyle/>
          <a:p>
            <a:pPr marL="4558665">
              <a:lnSpc>
                <a:spcPct val="100000"/>
              </a:lnSpc>
              <a:spcBef>
                <a:spcPts val="100"/>
              </a:spcBef>
            </a:pPr>
            <a:r>
              <a:rPr dirty="0"/>
              <a:t>Local</a:t>
            </a:r>
            <a:r>
              <a:rPr spc="-145" dirty="0"/>
              <a:t> </a:t>
            </a:r>
            <a:r>
              <a:rPr spc="-10" dirty="0"/>
              <a:t>Search</a:t>
            </a:r>
          </a:p>
        </p:txBody>
      </p:sp>
      <p:sp>
        <p:nvSpPr>
          <p:cNvPr id="3" name="object 3"/>
          <p:cNvSpPr txBox="1"/>
          <p:nvPr/>
        </p:nvSpPr>
        <p:spPr>
          <a:xfrm>
            <a:off x="751433" y="1352293"/>
            <a:ext cx="8987155" cy="1990089"/>
          </a:xfrm>
          <a:prstGeom prst="rect">
            <a:avLst/>
          </a:prstGeom>
        </p:spPr>
        <p:txBody>
          <a:bodyPr vert="horz" wrap="square" lIns="0" tIns="16510" rIns="0" bIns="0" rtlCol="0">
            <a:spAutoFit/>
          </a:bodyPr>
          <a:lstStyle/>
          <a:p>
            <a:pPr marL="12700">
              <a:lnSpc>
                <a:spcPct val="100000"/>
              </a:lnSpc>
              <a:spcBef>
                <a:spcPts val="130"/>
              </a:spcBef>
            </a:pPr>
            <a:r>
              <a:rPr sz="2150" spc="-10" dirty="0">
                <a:solidFill>
                  <a:srgbClr val="333399"/>
                </a:solidFill>
                <a:latin typeface="Calibri"/>
                <a:cs typeface="Calibri"/>
              </a:rPr>
              <a:t>Tree</a:t>
            </a:r>
            <a:r>
              <a:rPr sz="2150" spc="15" dirty="0">
                <a:solidFill>
                  <a:srgbClr val="333399"/>
                </a:solidFill>
                <a:latin typeface="Calibri"/>
                <a:cs typeface="Calibri"/>
              </a:rPr>
              <a:t> </a:t>
            </a:r>
            <a:r>
              <a:rPr sz="2150" dirty="0">
                <a:solidFill>
                  <a:srgbClr val="333399"/>
                </a:solidFill>
                <a:latin typeface="Calibri"/>
                <a:cs typeface="Calibri"/>
              </a:rPr>
              <a:t>search</a:t>
            </a:r>
            <a:r>
              <a:rPr sz="2150" spc="15" dirty="0">
                <a:solidFill>
                  <a:srgbClr val="333399"/>
                </a:solidFill>
                <a:latin typeface="Calibri"/>
                <a:cs typeface="Calibri"/>
              </a:rPr>
              <a:t> </a:t>
            </a:r>
            <a:r>
              <a:rPr sz="2150" dirty="0">
                <a:solidFill>
                  <a:srgbClr val="333399"/>
                </a:solidFill>
                <a:latin typeface="Calibri"/>
                <a:cs typeface="Calibri"/>
              </a:rPr>
              <a:t>keeps</a:t>
            </a:r>
            <a:r>
              <a:rPr sz="2150" spc="15" dirty="0">
                <a:solidFill>
                  <a:srgbClr val="333399"/>
                </a:solidFill>
                <a:latin typeface="Calibri"/>
                <a:cs typeface="Calibri"/>
              </a:rPr>
              <a:t> </a:t>
            </a:r>
            <a:r>
              <a:rPr sz="2150" dirty="0">
                <a:solidFill>
                  <a:srgbClr val="333399"/>
                </a:solidFill>
                <a:latin typeface="Calibri"/>
                <a:cs typeface="Calibri"/>
              </a:rPr>
              <a:t>unexplored</a:t>
            </a:r>
            <a:r>
              <a:rPr sz="2150" spc="15" dirty="0">
                <a:solidFill>
                  <a:srgbClr val="333399"/>
                </a:solidFill>
                <a:latin typeface="Calibri"/>
                <a:cs typeface="Calibri"/>
              </a:rPr>
              <a:t> </a:t>
            </a:r>
            <a:r>
              <a:rPr sz="2150" dirty="0">
                <a:solidFill>
                  <a:srgbClr val="333399"/>
                </a:solidFill>
                <a:latin typeface="Calibri"/>
                <a:cs typeface="Calibri"/>
              </a:rPr>
              <a:t>alternatives</a:t>
            </a:r>
            <a:r>
              <a:rPr sz="2150" spc="15" dirty="0">
                <a:solidFill>
                  <a:srgbClr val="333399"/>
                </a:solidFill>
                <a:latin typeface="Calibri"/>
                <a:cs typeface="Calibri"/>
              </a:rPr>
              <a:t> </a:t>
            </a:r>
            <a:r>
              <a:rPr sz="2150" dirty="0">
                <a:solidFill>
                  <a:srgbClr val="333399"/>
                </a:solidFill>
                <a:latin typeface="Calibri"/>
                <a:cs typeface="Calibri"/>
              </a:rPr>
              <a:t>on</a:t>
            </a:r>
            <a:r>
              <a:rPr sz="2150" spc="15" dirty="0">
                <a:solidFill>
                  <a:srgbClr val="333399"/>
                </a:solidFill>
                <a:latin typeface="Calibri"/>
                <a:cs typeface="Calibri"/>
              </a:rPr>
              <a:t> </a:t>
            </a:r>
            <a:r>
              <a:rPr sz="2150" dirty="0">
                <a:solidFill>
                  <a:srgbClr val="333399"/>
                </a:solidFill>
                <a:latin typeface="Calibri"/>
                <a:cs typeface="Calibri"/>
              </a:rPr>
              <a:t>the</a:t>
            </a:r>
            <a:r>
              <a:rPr sz="2150" spc="15" dirty="0">
                <a:solidFill>
                  <a:srgbClr val="333399"/>
                </a:solidFill>
                <a:latin typeface="Calibri"/>
                <a:cs typeface="Calibri"/>
              </a:rPr>
              <a:t> </a:t>
            </a:r>
            <a:r>
              <a:rPr sz="2150" dirty="0">
                <a:solidFill>
                  <a:srgbClr val="333399"/>
                </a:solidFill>
                <a:latin typeface="Calibri"/>
                <a:cs typeface="Calibri"/>
              </a:rPr>
              <a:t>fringe</a:t>
            </a:r>
            <a:r>
              <a:rPr sz="2150" spc="15" dirty="0">
                <a:solidFill>
                  <a:srgbClr val="333399"/>
                </a:solidFill>
                <a:latin typeface="Calibri"/>
                <a:cs typeface="Calibri"/>
              </a:rPr>
              <a:t> </a:t>
            </a:r>
            <a:r>
              <a:rPr sz="2150" dirty="0">
                <a:solidFill>
                  <a:srgbClr val="333399"/>
                </a:solidFill>
                <a:latin typeface="Calibri"/>
                <a:cs typeface="Calibri"/>
              </a:rPr>
              <a:t>(ensures</a:t>
            </a:r>
            <a:r>
              <a:rPr sz="2150" spc="15" dirty="0">
                <a:solidFill>
                  <a:srgbClr val="333399"/>
                </a:solidFill>
                <a:latin typeface="Calibri"/>
                <a:cs typeface="Calibri"/>
              </a:rPr>
              <a:t> </a:t>
            </a:r>
            <a:r>
              <a:rPr sz="2150" spc="-10" dirty="0">
                <a:solidFill>
                  <a:srgbClr val="333399"/>
                </a:solidFill>
                <a:latin typeface="Calibri"/>
                <a:cs typeface="Calibri"/>
              </a:rPr>
              <a:t>completeness)</a:t>
            </a:r>
            <a:endParaRPr sz="2150" dirty="0">
              <a:latin typeface="Calibri"/>
              <a:cs typeface="Calibri"/>
            </a:endParaRPr>
          </a:p>
          <a:p>
            <a:pPr marL="12700" marR="168275">
              <a:lnSpc>
                <a:spcPts val="6420"/>
              </a:lnSpc>
              <a:spcBef>
                <a:spcPts val="660"/>
              </a:spcBef>
            </a:pPr>
            <a:r>
              <a:rPr sz="2150" dirty="0">
                <a:solidFill>
                  <a:srgbClr val="333399"/>
                </a:solidFill>
                <a:latin typeface="Calibri"/>
                <a:cs typeface="Calibri"/>
              </a:rPr>
              <a:t>Local</a:t>
            </a:r>
            <a:r>
              <a:rPr sz="2150" spc="10" dirty="0">
                <a:solidFill>
                  <a:srgbClr val="333399"/>
                </a:solidFill>
                <a:latin typeface="Calibri"/>
                <a:cs typeface="Calibri"/>
              </a:rPr>
              <a:t> </a:t>
            </a:r>
            <a:r>
              <a:rPr sz="2150" dirty="0">
                <a:solidFill>
                  <a:srgbClr val="333399"/>
                </a:solidFill>
                <a:latin typeface="Calibri"/>
                <a:cs typeface="Calibri"/>
              </a:rPr>
              <a:t>search:</a:t>
            </a:r>
            <a:r>
              <a:rPr sz="2150" spc="20" dirty="0">
                <a:solidFill>
                  <a:srgbClr val="333399"/>
                </a:solidFill>
                <a:latin typeface="Calibri"/>
                <a:cs typeface="Calibri"/>
              </a:rPr>
              <a:t> </a:t>
            </a:r>
            <a:r>
              <a:rPr sz="2150" dirty="0">
                <a:solidFill>
                  <a:srgbClr val="333399"/>
                </a:solidFill>
                <a:latin typeface="Calibri"/>
                <a:cs typeface="Calibri"/>
              </a:rPr>
              <a:t>improve</a:t>
            </a:r>
            <a:r>
              <a:rPr sz="2150" spc="20" dirty="0">
                <a:solidFill>
                  <a:srgbClr val="333399"/>
                </a:solidFill>
                <a:latin typeface="Calibri"/>
                <a:cs typeface="Calibri"/>
              </a:rPr>
              <a:t> </a:t>
            </a:r>
            <a:r>
              <a:rPr sz="2150" dirty="0">
                <a:solidFill>
                  <a:srgbClr val="333399"/>
                </a:solidFill>
                <a:latin typeface="Calibri"/>
                <a:cs typeface="Calibri"/>
              </a:rPr>
              <a:t>a</a:t>
            </a:r>
            <a:r>
              <a:rPr sz="2150" spc="20" dirty="0">
                <a:solidFill>
                  <a:srgbClr val="333399"/>
                </a:solidFill>
                <a:latin typeface="Calibri"/>
                <a:cs typeface="Calibri"/>
              </a:rPr>
              <a:t> </a:t>
            </a:r>
            <a:r>
              <a:rPr sz="2150" dirty="0">
                <a:solidFill>
                  <a:srgbClr val="333399"/>
                </a:solidFill>
                <a:latin typeface="Calibri"/>
                <a:cs typeface="Calibri"/>
              </a:rPr>
              <a:t>single</a:t>
            </a:r>
            <a:r>
              <a:rPr sz="2150" spc="20" dirty="0">
                <a:solidFill>
                  <a:srgbClr val="333399"/>
                </a:solidFill>
                <a:latin typeface="Calibri"/>
                <a:cs typeface="Calibri"/>
              </a:rPr>
              <a:t> </a:t>
            </a:r>
            <a:r>
              <a:rPr sz="2150" dirty="0">
                <a:solidFill>
                  <a:srgbClr val="333399"/>
                </a:solidFill>
                <a:latin typeface="Calibri"/>
                <a:cs typeface="Calibri"/>
              </a:rPr>
              <a:t>option</a:t>
            </a:r>
            <a:r>
              <a:rPr sz="2150" spc="20" dirty="0">
                <a:solidFill>
                  <a:srgbClr val="333399"/>
                </a:solidFill>
                <a:latin typeface="Calibri"/>
                <a:cs typeface="Calibri"/>
              </a:rPr>
              <a:t> </a:t>
            </a:r>
            <a:r>
              <a:rPr sz="2150" dirty="0">
                <a:solidFill>
                  <a:srgbClr val="333399"/>
                </a:solidFill>
                <a:latin typeface="Calibri"/>
                <a:cs typeface="Calibri"/>
              </a:rPr>
              <a:t>until</a:t>
            </a:r>
            <a:r>
              <a:rPr sz="2150" spc="20" dirty="0">
                <a:solidFill>
                  <a:srgbClr val="333399"/>
                </a:solidFill>
                <a:latin typeface="Calibri"/>
                <a:cs typeface="Calibri"/>
              </a:rPr>
              <a:t> </a:t>
            </a:r>
            <a:r>
              <a:rPr sz="2150" dirty="0">
                <a:solidFill>
                  <a:srgbClr val="333399"/>
                </a:solidFill>
                <a:latin typeface="Calibri"/>
                <a:cs typeface="Calibri"/>
              </a:rPr>
              <a:t>you</a:t>
            </a:r>
            <a:r>
              <a:rPr sz="2150" spc="20" dirty="0">
                <a:solidFill>
                  <a:srgbClr val="333399"/>
                </a:solidFill>
                <a:latin typeface="Calibri"/>
                <a:cs typeface="Calibri"/>
              </a:rPr>
              <a:t> </a:t>
            </a:r>
            <a:r>
              <a:rPr sz="2150" dirty="0">
                <a:solidFill>
                  <a:srgbClr val="333399"/>
                </a:solidFill>
                <a:latin typeface="Calibri"/>
                <a:cs typeface="Calibri"/>
              </a:rPr>
              <a:t>can’t</a:t>
            </a:r>
            <a:r>
              <a:rPr sz="2150" spc="20" dirty="0">
                <a:solidFill>
                  <a:srgbClr val="333399"/>
                </a:solidFill>
                <a:latin typeface="Calibri"/>
                <a:cs typeface="Calibri"/>
              </a:rPr>
              <a:t> </a:t>
            </a:r>
            <a:r>
              <a:rPr sz="2150" dirty="0">
                <a:solidFill>
                  <a:srgbClr val="333399"/>
                </a:solidFill>
                <a:latin typeface="Calibri"/>
                <a:cs typeface="Calibri"/>
              </a:rPr>
              <a:t>make</a:t>
            </a:r>
            <a:r>
              <a:rPr sz="2150" spc="20" dirty="0">
                <a:solidFill>
                  <a:srgbClr val="333399"/>
                </a:solidFill>
                <a:latin typeface="Calibri"/>
                <a:cs typeface="Calibri"/>
              </a:rPr>
              <a:t> </a:t>
            </a:r>
            <a:r>
              <a:rPr sz="2150" dirty="0">
                <a:solidFill>
                  <a:srgbClr val="333399"/>
                </a:solidFill>
                <a:latin typeface="Calibri"/>
                <a:cs typeface="Calibri"/>
              </a:rPr>
              <a:t>it</a:t>
            </a:r>
            <a:r>
              <a:rPr sz="2150" spc="20" dirty="0">
                <a:solidFill>
                  <a:srgbClr val="333399"/>
                </a:solidFill>
                <a:latin typeface="Calibri"/>
                <a:cs typeface="Calibri"/>
              </a:rPr>
              <a:t> </a:t>
            </a:r>
            <a:r>
              <a:rPr sz="2150" dirty="0">
                <a:solidFill>
                  <a:srgbClr val="333399"/>
                </a:solidFill>
                <a:latin typeface="Calibri"/>
                <a:cs typeface="Calibri"/>
              </a:rPr>
              <a:t>better</a:t>
            </a:r>
            <a:r>
              <a:rPr sz="2150" spc="20" dirty="0">
                <a:solidFill>
                  <a:srgbClr val="333399"/>
                </a:solidFill>
                <a:latin typeface="Calibri"/>
                <a:cs typeface="Calibri"/>
              </a:rPr>
              <a:t> </a:t>
            </a:r>
            <a:r>
              <a:rPr sz="2150" dirty="0">
                <a:solidFill>
                  <a:srgbClr val="333399"/>
                </a:solidFill>
                <a:latin typeface="Calibri"/>
                <a:cs typeface="Calibri"/>
              </a:rPr>
              <a:t>(no</a:t>
            </a:r>
            <a:r>
              <a:rPr sz="2150" spc="20" dirty="0">
                <a:solidFill>
                  <a:srgbClr val="333399"/>
                </a:solidFill>
                <a:latin typeface="Calibri"/>
                <a:cs typeface="Calibri"/>
              </a:rPr>
              <a:t> </a:t>
            </a:r>
            <a:r>
              <a:rPr sz="2150" spc="-10" dirty="0">
                <a:solidFill>
                  <a:srgbClr val="333399"/>
                </a:solidFill>
                <a:latin typeface="Calibri"/>
                <a:cs typeface="Calibri"/>
              </a:rPr>
              <a:t>fringe!) </a:t>
            </a:r>
            <a:r>
              <a:rPr sz="2150" dirty="0">
                <a:solidFill>
                  <a:srgbClr val="333399"/>
                </a:solidFill>
                <a:latin typeface="Calibri"/>
                <a:cs typeface="Calibri"/>
              </a:rPr>
              <a:t>New</a:t>
            </a:r>
            <a:r>
              <a:rPr sz="2150" spc="50" dirty="0">
                <a:solidFill>
                  <a:srgbClr val="333399"/>
                </a:solidFill>
                <a:latin typeface="Calibri"/>
                <a:cs typeface="Calibri"/>
              </a:rPr>
              <a:t> </a:t>
            </a:r>
            <a:r>
              <a:rPr sz="2150" dirty="0">
                <a:solidFill>
                  <a:srgbClr val="333399"/>
                </a:solidFill>
                <a:latin typeface="Calibri"/>
                <a:cs typeface="Calibri"/>
              </a:rPr>
              <a:t>successor</a:t>
            </a:r>
            <a:r>
              <a:rPr sz="2150" spc="55" dirty="0">
                <a:solidFill>
                  <a:srgbClr val="333399"/>
                </a:solidFill>
                <a:latin typeface="Calibri"/>
                <a:cs typeface="Calibri"/>
              </a:rPr>
              <a:t> </a:t>
            </a:r>
            <a:r>
              <a:rPr sz="2150" dirty="0">
                <a:solidFill>
                  <a:srgbClr val="333399"/>
                </a:solidFill>
                <a:latin typeface="Calibri"/>
                <a:cs typeface="Calibri"/>
              </a:rPr>
              <a:t>function:</a:t>
            </a:r>
            <a:r>
              <a:rPr sz="2150" spc="55" dirty="0">
                <a:solidFill>
                  <a:srgbClr val="333399"/>
                </a:solidFill>
                <a:latin typeface="Calibri"/>
                <a:cs typeface="Calibri"/>
              </a:rPr>
              <a:t> </a:t>
            </a:r>
            <a:r>
              <a:rPr sz="2150" dirty="0">
                <a:solidFill>
                  <a:srgbClr val="333399"/>
                </a:solidFill>
                <a:latin typeface="Calibri"/>
                <a:cs typeface="Calibri"/>
              </a:rPr>
              <a:t>local</a:t>
            </a:r>
            <a:r>
              <a:rPr sz="2150" spc="60" dirty="0">
                <a:solidFill>
                  <a:srgbClr val="333399"/>
                </a:solidFill>
                <a:latin typeface="Calibri"/>
                <a:cs typeface="Calibri"/>
              </a:rPr>
              <a:t> </a:t>
            </a:r>
            <a:r>
              <a:rPr sz="2150" spc="-10" dirty="0">
                <a:solidFill>
                  <a:srgbClr val="333399"/>
                </a:solidFill>
                <a:latin typeface="Calibri"/>
                <a:cs typeface="Calibri"/>
              </a:rPr>
              <a:t>changes</a:t>
            </a:r>
            <a:endParaRPr sz="2150" dirty="0">
              <a:latin typeface="Calibri"/>
              <a:cs typeface="Calibri"/>
            </a:endParaRPr>
          </a:p>
        </p:txBody>
      </p:sp>
      <p:sp>
        <p:nvSpPr>
          <p:cNvPr id="4" name="object 4"/>
          <p:cNvSpPr txBox="1"/>
          <p:nvPr/>
        </p:nvSpPr>
        <p:spPr>
          <a:xfrm>
            <a:off x="751433" y="5475303"/>
            <a:ext cx="9401175" cy="358775"/>
          </a:xfrm>
          <a:prstGeom prst="rect">
            <a:avLst/>
          </a:prstGeom>
        </p:spPr>
        <p:txBody>
          <a:bodyPr vert="horz" wrap="square" lIns="0" tIns="17145" rIns="0" bIns="0" rtlCol="0">
            <a:spAutoFit/>
          </a:bodyPr>
          <a:lstStyle/>
          <a:p>
            <a:pPr marL="12700">
              <a:lnSpc>
                <a:spcPct val="100000"/>
              </a:lnSpc>
              <a:spcBef>
                <a:spcPts val="135"/>
              </a:spcBef>
            </a:pPr>
            <a:r>
              <a:rPr sz="2150" dirty="0">
                <a:solidFill>
                  <a:srgbClr val="333399"/>
                </a:solidFill>
                <a:latin typeface="Calibri"/>
                <a:cs typeface="Calibri"/>
              </a:rPr>
              <a:t>Generally</a:t>
            </a:r>
            <a:r>
              <a:rPr sz="2150" spc="35" dirty="0">
                <a:solidFill>
                  <a:srgbClr val="333399"/>
                </a:solidFill>
                <a:latin typeface="Calibri"/>
                <a:cs typeface="Calibri"/>
              </a:rPr>
              <a:t> </a:t>
            </a:r>
            <a:r>
              <a:rPr sz="2150" dirty="0">
                <a:solidFill>
                  <a:srgbClr val="333399"/>
                </a:solidFill>
                <a:latin typeface="Calibri"/>
                <a:cs typeface="Calibri"/>
              </a:rPr>
              <a:t>much</a:t>
            </a:r>
            <a:r>
              <a:rPr sz="2150" spc="40" dirty="0">
                <a:solidFill>
                  <a:srgbClr val="333399"/>
                </a:solidFill>
                <a:latin typeface="Calibri"/>
                <a:cs typeface="Calibri"/>
              </a:rPr>
              <a:t> </a:t>
            </a:r>
            <a:r>
              <a:rPr sz="2150" dirty="0">
                <a:solidFill>
                  <a:srgbClr val="333399"/>
                </a:solidFill>
                <a:latin typeface="Calibri"/>
                <a:cs typeface="Calibri"/>
              </a:rPr>
              <a:t>faster</a:t>
            </a:r>
            <a:r>
              <a:rPr sz="2150" spc="35" dirty="0">
                <a:solidFill>
                  <a:srgbClr val="333399"/>
                </a:solidFill>
                <a:latin typeface="Calibri"/>
                <a:cs typeface="Calibri"/>
              </a:rPr>
              <a:t> </a:t>
            </a:r>
            <a:r>
              <a:rPr sz="2150" dirty="0">
                <a:solidFill>
                  <a:srgbClr val="333399"/>
                </a:solidFill>
                <a:latin typeface="Calibri"/>
                <a:cs typeface="Calibri"/>
              </a:rPr>
              <a:t>and</a:t>
            </a:r>
            <a:r>
              <a:rPr sz="2150" spc="35" dirty="0">
                <a:solidFill>
                  <a:srgbClr val="333399"/>
                </a:solidFill>
                <a:latin typeface="Calibri"/>
                <a:cs typeface="Calibri"/>
              </a:rPr>
              <a:t> </a:t>
            </a:r>
            <a:r>
              <a:rPr sz="2150" dirty="0">
                <a:solidFill>
                  <a:srgbClr val="333399"/>
                </a:solidFill>
                <a:latin typeface="Calibri"/>
                <a:cs typeface="Calibri"/>
              </a:rPr>
              <a:t>more</a:t>
            </a:r>
            <a:r>
              <a:rPr sz="2150" spc="40" dirty="0">
                <a:solidFill>
                  <a:srgbClr val="333399"/>
                </a:solidFill>
                <a:latin typeface="Calibri"/>
                <a:cs typeface="Calibri"/>
              </a:rPr>
              <a:t> </a:t>
            </a:r>
            <a:r>
              <a:rPr sz="2150" dirty="0">
                <a:solidFill>
                  <a:srgbClr val="333399"/>
                </a:solidFill>
                <a:latin typeface="Calibri"/>
                <a:cs typeface="Calibri"/>
              </a:rPr>
              <a:t>memory</a:t>
            </a:r>
            <a:r>
              <a:rPr sz="2150" spc="35" dirty="0">
                <a:solidFill>
                  <a:srgbClr val="333399"/>
                </a:solidFill>
                <a:latin typeface="Calibri"/>
                <a:cs typeface="Calibri"/>
              </a:rPr>
              <a:t> </a:t>
            </a:r>
            <a:r>
              <a:rPr sz="2150" dirty="0">
                <a:solidFill>
                  <a:srgbClr val="333399"/>
                </a:solidFill>
                <a:latin typeface="Calibri"/>
                <a:cs typeface="Calibri"/>
              </a:rPr>
              <a:t>efficient</a:t>
            </a:r>
            <a:r>
              <a:rPr sz="2150" spc="35" dirty="0">
                <a:solidFill>
                  <a:srgbClr val="333399"/>
                </a:solidFill>
                <a:latin typeface="Calibri"/>
                <a:cs typeface="Calibri"/>
              </a:rPr>
              <a:t> </a:t>
            </a:r>
            <a:r>
              <a:rPr sz="2150" dirty="0">
                <a:solidFill>
                  <a:srgbClr val="333399"/>
                </a:solidFill>
                <a:latin typeface="Calibri"/>
                <a:cs typeface="Calibri"/>
              </a:rPr>
              <a:t>(but</a:t>
            </a:r>
            <a:r>
              <a:rPr sz="2150" spc="40" dirty="0">
                <a:solidFill>
                  <a:srgbClr val="333399"/>
                </a:solidFill>
                <a:latin typeface="Calibri"/>
                <a:cs typeface="Calibri"/>
              </a:rPr>
              <a:t> </a:t>
            </a:r>
            <a:r>
              <a:rPr sz="2150" dirty="0">
                <a:solidFill>
                  <a:srgbClr val="333399"/>
                </a:solidFill>
                <a:latin typeface="Calibri"/>
                <a:cs typeface="Calibri"/>
              </a:rPr>
              <a:t>incomplete</a:t>
            </a:r>
            <a:r>
              <a:rPr sz="2150" spc="35" dirty="0">
                <a:solidFill>
                  <a:srgbClr val="333399"/>
                </a:solidFill>
                <a:latin typeface="Calibri"/>
                <a:cs typeface="Calibri"/>
              </a:rPr>
              <a:t> </a:t>
            </a:r>
            <a:r>
              <a:rPr sz="2150" dirty="0">
                <a:solidFill>
                  <a:srgbClr val="333399"/>
                </a:solidFill>
                <a:latin typeface="Calibri"/>
                <a:cs typeface="Calibri"/>
              </a:rPr>
              <a:t>and</a:t>
            </a:r>
            <a:r>
              <a:rPr sz="2150" spc="35" dirty="0">
                <a:solidFill>
                  <a:srgbClr val="333399"/>
                </a:solidFill>
                <a:latin typeface="Calibri"/>
                <a:cs typeface="Calibri"/>
              </a:rPr>
              <a:t> </a:t>
            </a:r>
            <a:r>
              <a:rPr sz="2150" spc="-10" dirty="0">
                <a:solidFill>
                  <a:srgbClr val="333399"/>
                </a:solidFill>
                <a:latin typeface="Calibri"/>
                <a:cs typeface="Calibri"/>
              </a:rPr>
              <a:t>suboptimal)</a:t>
            </a:r>
            <a:endParaRPr sz="2150" dirty="0">
              <a:latin typeface="Calibri"/>
              <a:cs typeface="Calibri"/>
            </a:endParaRPr>
          </a:p>
        </p:txBody>
      </p:sp>
      <p:grpSp>
        <p:nvGrpSpPr>
          <p:cNvPr id="5" name="object 5"/>
          <p:cNvGrpSpPr/>
          <p:nvPr/>
        </p:nvGrpSpPr>
        <p:grpSpPr>
          <a:xfrm>
            <a:off x="6159135" y="4115109"/>
            <a:ext cx="1253490" cy="465455"/>
            <a:chOff x="6159135" y="4115109"/>
            <a:chExt cx="1253490" cy="465455"/>
          </a:xfrm>
        </p:grpSpPr>
        <p:sp>
          <p:nvSpPr>
            <p:cNvPr id="6" name="object 6"/>
            <p:cNvSpPr/>
            <p:nvPr/>
          </p:nvSpPr>
          <p:spPr>
            <a:xfrm>
              <a:off x="6173422" y="4159135"/>
              <a:ext cx="407034" cy="407034"/>
            </a:xfrm>
            <a:custGeom>
              <a:avLst/>
              <a:gdLst/>
              <a:ahLst/>
              <a:cxnLst/>
              <a:rect l="l" t="t" r="r" b="b"/>
              <a:pathLst>
                <a:path w="407034" h="407035">
                  <a:moveTo>
                    <a:pt x="225712" y="0"/>
                  </a:moveTo>
                  <a:lnTo>
                    <a:pt x="180916" y="0"/>
                  </a:lnTo>
                  <a:lnTo>
                    <a:pt x="136989" y="9780"/>
                  </a:lnTo>
                  <a:lnTo>
                    <a:pt x="95666" y="29342"/>
                  </a:lnTo>
                  <a:lnTo>
                    <a:pt x="58684" y="58684"/>
                  </a:lnTo>
                  <a:lnTo>
                    <a:pt x="29342" y="95666"/>
                  </a:lnTo>
                  <a:lnTo>
                    <a:pt x="9780" y="136989"/>
                  </a:lnTo>
                  <a:lnTo>
                    <a:pt x="0" y="180916"/>
                  </a:lnTo>
                  <a:lnTo>
                    <a:pt x="0" y="225712"/>
                  </a:lnTo>
                  <a:lnTo>
                    <a:pt x="9780" y="269639"/>
                  </a:lnTo>
                  <a:lnTo>
                    <a:pt x="29342" y="310961"/>
                  </a:lnTo>
                  <a:lnTo>
                    <a:pt x="58684" y="347943"/>
                  </a:lnTo>
                  <a:lnTo>
                    <a:pt x="95666" y="377286"/>
                  </a:lnTo>
                  <a:lnTo>
                    <a:pt x="136989" y="396847"/>
                  </a:lnTo>
                  <a:lnTo>
                    <a:pt x="180916" y="406628"/>
                  </a:lnTo>
                  <a:lnTo>
                    <a:pt x="225712" y="406628"/>
                  </a:lnTo>
                  <a:lnTo>
                    <a:pt x="269639" y="396847"/>
                  </a:lnTo>
                  <a:lnTo>
                    <a:pt x="310961" y="377286"/>
                  </a:lnTo>
                  <a:lnTo>
                    <a:pt x="347943" y="347943"/>
                  </a:lnTo>
                  <a:lnTo>
                    <a:pt x="377286" y="310961"/>
                  </a:lnTo>
                  <a:lnTo>
                    <a:pt x="396847" y="269639"/>
                  </a:lnTo>
                  <a:lnTo>
                    <a:pt x="406628" y="225712"/>
                  </a:lnTo>
                  <a:lnTo>
                    <a:pt x="406628" y="180916"/>
                  </a:lnTo>
                  <a:lnTo>
                    <a:pt x="396847" y="136989"/>
                  </a:lnTo>
                  <a:lnTo>
                    <a:pt x="377286" y="95666"/>
                  </a:lnTo>
                  <a:lnTo>
                    <a:pt x="347943" y="58684"/>
                  </a:lnTo>
                  <a:lnTo>
                    <a:pt x="310961" y="29342"/>
                  </a:lnTo>
                  <a:lnTo>
                    <a:pt x="269639" y="9780"/>
                  </a:lnTo>
                  <a:lnTo>
                    <a:pt x="225712" y="0"/>
                  </a:lnTo>
                  <a:close/>
                </a:path>
              </a:pathLst>
            </a:custGeom>
            <a:solidFill>
              <a:srgbClr val="C00000"/>
            </a:solidFill>
          </p:spPr>
          <p:txBody>
            <a:bodyPr wrap="square" lIns="0" tIns="0" rIns="0" bIns="0" rtlCol="0"/>
            <a:lstStyle/>
            <a:p>
              <a:endParaRPr/>
            </a:p>
          </p:txBody>
        </p:sp>
        <p:sp>
          <p:nvSpPr>
            <p:cNvPr id="7" name="object 7"/>
            <p:cNvSpPr/>
            <p:nvPr/>
          </p:nvSpPr>
          <p:spPr>
            <a:xfrm>
              <a:off x="6173422" y="4159135"/>
              <a:ext cx="407034" cy="407034"/>
            </a:xfrm>
            <a:custGeom>
              <a:avLst/>
              <a:gdLst/>
              <a:ahLst/>
              <a:cxnLst/>
              <a:rect l="l" t="t" r="r" b="b"/>
              <a:pathLst>
                <a:path w="407034" h="407035">
                  <a:moveTo>
                    <a:pt x="347943" y="58684"/>
                  </a:moveTo>
                  <a:lnTo>
                    <a:pt x="377286" y="95666"/>
                  </a:lnTo>
                  <a:lnTo>
                    <a:pt x="396847" y="136989"/>
                  </a:lnTo>
                  <a:lnTo>
                    <a:pt x="406628" y="180916"/>
                  </a:lnTo>
                  <a:lnTo>
                    <a:pt x="406628" y="225712"/>
                  </a:lnTo>
                  <a:lnTo>
                    <a:pt x="396847" y="269639"/>
                  </a:lnTo>
                  <a:lnTo>
                    <a:pt x="377286" y="310961"/>
                  </a:lnTo>
                  <a:lnTo>
                    <a:pt x="347943" y="347943"/>
                  </a:lnTo>
                  <a:lnTo>
                    <a:pt x="310961" y="377286"/>
                  </a:lnTo>
                  <a:lnTo>
                    <a:pt x="269639" y="396848"/>
                  </a:lnTo>
                  <a:lnTo>
                    <a:pt x="225712" y="406628"/>
                  </a:lnTo>
                  <a:lnTo>
                    <a:pt x="180916" y="406628"/>
                  </a:lnTo>
                  <a:lnTo>
                    <a:pt x="136989" y="396848"/>
                  </a:lnTo>
                  <a:lnTo>
                    <a:pt x="95666" y="377286"/>
                  </a:lnTo>
                  <a:lnTo>
                    <a:pt x="58684" y="347943"/>
                  </a:lnTo>
                  <a:lnTo>
                    <a:pt x="29342" y="310961"/>
                  </a:lnTo>
                  <a:lnTo>
                    <a:pt x="9780" y="269639"/>
                  </a:lnTo>
                  <a:lnTo>
                    <a:pt x="0" y="225712"/>
                  </a:lnTo>
                  <a:lnTo>
                    <a:pt x="0" y="180916"/>
                  </a:lnTo>
                  <a:lnTo>
                    <a:pt x="9780" y="136989"/>
                  </a:lnTo>
                  <a:lnTo>
                    <a:pt x="29342" y="95666"/>
                  </a:lnTo>
                  <a:lnTo>
                    <a:pt x="58684" y="58684"/>
                  </a:lnTo>
                  <a:lnTo>
                    <a:pt x="95666" y="29342"/>
                  </a:lnTo>
                  <a:lnTo>
                    <a:pt x="136989" y="9780"/>
                  </a:lnTo>
                  <a:lnTo>
                    <a:pt x="180916" y="0"/>
                  </a:lnTo>
                  <a:lnTo>
                    <a:pt x="225712" y="0"/>
                  </a:lnTo>
                  <a:lnTo>
                    <a:pt x="269639" y="9780"/>
                  </a:lnTo>
                  <a:lnTo>
                    <a:pt x="310961" y="29342"/>
                  </a:lnTo>
                  <a:lnTo>
                    <a:pt x="347943" y="58684"/>
                  </a:lnTo>
                  <a:close/>
                </a:path>
              </a:pathLst>
            </a:custGeom>
            <a:ln w="28575">
              <a:solidFill>
                <a:srgbClr val="000000"/>
              </a:solidFill>
            </a:ln>
          </p:spPr>
          <p:txBody>
            <a:bodyPr wrap="square" lIns="0" tIns="0" rIns="0" bIns="0" rtlCol="0"/>
            <a:lstStyle/>
            <a:p>
              <a:endParaRPr/>
            </a:p>
          </p:txBody>
        </p:sp>
        <p:sp>
          <p:nvSpPr>
            <p:cNvPr id="8" name="object 8"/>
            <p:cNvSpPr/>
            <p:nvPr/>
          </p:nvSpPr>
          <p:spPr>
            <a:xfrm>
              <a:off x="6991570" y="4159135"/>
              <a:ext cx="407034" cy="407034"/>
            </a:xfrm>
            <a:custGeom>
              <a:avLst/>
              <a:gdLst/>
              <a:ahLst/>
              <a:cxnLst/>
              <a:rect l="l" t="t" r="r" b="b"/>
              <a:pathLst>
                <a:path w="407034" h="407035">
                  <a:moveTo>
                    <a:pt x="225712" y="0"/>
                  </a:moveTo>
                  <a:lnTo>
                    <a:pt x="180916" y="0"/>
                  </a:lnTo>
                  <a:lnTo>
                    <a:pt x="136989" y="9780"/>
                  </a:lnTo>
                  <a:lnTo>
                    <a:pt x="95666" y="29342"/>
                  </a:lnTo>
                  <a:lnTo>
                    <a:pt x="58684" y="58684"/>
                  </a:lnTo>
                  <a:lnTo>
                    <a:pt x="29342" y="95666"/>
                  </a:lnTo>
                  <a:lnTo>
                    <a:pt x="9780" y="136989"/>
                  </a:lnTo>
                  <a:lnTo>
                    <a:pt x="0" y="180916"/>
                  </a:lnTo>
                  <a:lnTo>
                    <a:pt x="0" y="225712"/>
                  </a:lnTo>
                  <a:lnTo>
                    <a:pt x="9780" y="269639"/>
                  </a:lnTo>
                  <a:lnTo>
                    <a:pt x="29342" y="310961"/>
                  </a:lnTo>
                  <a:lnTo>
                    <a:pt x="58684" y="347943"/>
                  </a:lnTo>
                  <a:lnTo>
                    <a:pt x="95666" y="377286"/>
                  </a:lnTo>
                  <a:lnTo>
                    <a:pt x="136989" y="396847"/>
                  </a:lnTo>
                  <a:lnTo>
                    <a:pt x="180916" y="406628"/>
                  </a:lnTo>
                  <a:lnTo>
                    <a:pt x="225712" y="406628"/>
                  </a:lnTo>
                  <a:lnTo>
                    <a:pt x="269639" y="396847"/>
                  </a:lnTo>
                  <a:lnTo>
                    <a:pt x="310961" y="377286"/>
                  </a:lnTo>
                  <a:lnTo>
                    <a:pt x="347943" y="347943"/>
                  </a:lnTo>
                  <a:lnTo>
                    <a:pt x="377286" y="310961"/>
                  </a:lnTo>
                  <a:lnTo>
                    <a:pt x="396847" y="269639"/>
                  </a:lnTo>
                  <a:lnTo>
                    <a:pt x="406628" y="225712"/>
                  </a:lnTo>
                  <a:lnTo>
                    <a:pt x="406628" y="180916"/>
                  </a:lnTo>
                  <a:lnTo>
                    <a:pt x="396847" y="136989"/>
                  </a:lnTo>
                  <a:lnTo>
                    <a:pt x="377286" y="95666"/>
                  </a:lnTo>
                  <a:lnTo>
                    <a:pt x="347943" y="58684"/>
                  </a:lnTo>
                  <a:lnTo>
                    <a:pt x="310961" y="29342"/>
                  </a:lnTo>
                  <a:lnTo>
                    <a:pt x="269639" y="9780"/>
                  </a:lnTo>
                  <a:lnTo>
                    <a:pt x="225712" y="0"/>
                  </a:lnTo>
                  <a:close/>
                </a:path>
              </a:pathLst>
            </a:custGeom>
            <a:solidFill>
              <a:srgbClr val="C00000"/>
            </a:solidFill>
          </p:spPr>
          <p:txBody>
            <a:bodyPr wrap="square" lIns="0" tIns="0" rIns="0" bIns="0" rtlCol="0"/>
            <a:lstStyle/>
            <a:p>
              <a:endParaRPr/>
            </a:p>
          </p:txBody>
        </p:sp>
        <p:sp>
          <p:nvSpPr>
            <p:cNvPr id="9" name="object 9"/>
            <p:cNvSpPr/>
            <p:nvPr/>
          </p:nvSpPr>
          <p:spPr>
            <a:xfrm>
              <a:off x="6991570" y="4159135"/>
              <a:ext cx="407034" cy="407034"/>
            </a:xfrm>
            <a:custGeom>
              <a:avLst/>
              <a:gdLst/>
              <a:ahLst/>
              <a:cxnLst/>
              <a:rect l="l" t="t" r="r" b="b"/>
              <a:pathLst>
                <a:path w="407034" h="407035">
                  <a:moveTo>
                    <a:pt x="347943" y="58684"/>
                  </a:moveTo>
                  <a:lnTo>
                    <a:pt x="377286" y="95666"/>
                  </a:lnTo>
                  <a:lnTo>
                    <a:pt x="396847" y="136989"/>
                  </a:lnTo>
                  <a:lnTo>
                    <a:pt x="406628" y="180916"/>
                  </a:lnTo>
                  <a:lnTo>
                    <a:pt x="406628" y="225712"/>
                  </a:lnTo>
                  <a:lnTo>
                    <a:pt x="396847" y="269639"/>
                  </a:lnTo>
                  <a:lnTo>
                    <a:pt x="377286" y="310961"/>
                  </a:lnTo>
                  <a:lnTo>
                    <a:pt x="347943" y="347943"/>
                  </a:lnTo>
                  <a:lnTo>
                    <a:pt x="310961" y="377286"/>
                  </a:lnTo>
                  <a:lnTo>
                    <a:pt x="269639" y="396848"/>
                  </a:lnTo>
                  <a:lnTo>
                    <a:pt x="225712" y="406628"/>
                  </a:lnTo>
                  <a:lnTo>
                    <a:pt x="180916" y="406628"/>
                  </a:lnTo>
                  <a:lnTo>
                    <a:pt x="136989" y="396848"/>
                  </a:lnTo>
                  <a:lnTo>
                    <a:pt x="95666" y="377286"/>
                  </a:lnTo>
                  <a:lnTo>
                    <a:pt x="58684" y="347943"/>
                  </a:lnTo>
                  <a:lnTo>
                    <a:pt x="29342" y="310961"/>
                  </a:lnTo>
                  <a:lnTo>
                    <a:pt x="9780" y="269639"/>
                  </a:lnTo>
                  <a:lnTo>
                    <a:pt x="0" y="225712"/>
                  </a:lnTo>
                  <a:lnTo>
                    <a:pt x="0" y="180916"/>
                  </a:lnTo>
                  <a:lnTo>
                    <a:pt x="9780" y="136989"/>
                  </a:lnTo>
                  <a:lnTo>
                    <a:pt x="29342" y="95666"/>
                  </a:lnTo>
                  <a:lnTo>
                    <a:pt x="58684" y="58684"/>
                  </a:lnTo>
                  <a:lnTo>
                    <a:pt x="95666" y="29342"/>
                  </a:lnTo>
                  <a:lnTo>
                    <a:pt x="136989" y="9780"/>
                  </a:lnTo>
                  <a:lnTo>
                    <a:pt x="180916" y="0"/>
                  </a:lnTo>
                  <a:lnTo>
                    <a:pt x="225712" y="0"/>
                  </a:lnTo>
                  <a:lnTo>
                    <a:pt x="269639" y="9780"/>
                  </a:lnTo>
                  <a:lnTo>
                    <a:pt x="310961" y="29342"/>
                  </a:lnTo>
                  <a:lnTo>
                    <a:pt x="347943" y="58684"/>
                  </a:lnTo>
                  <a:close/>
                </a:path>
              </a:pathLst>
            </a:custGeom>
            <a:ln w="28575">
              <a:solidFill>
                <a:srgbClr val="000000"/>
              </a:solidFill>
            </a:ln>
          </p:spPr>
          <p:txBody>
            <a:bodyPr wrap="square" lIns="0" tIns="0" rIns="0" bIns="0" rtlCol="0"/>
            <a:lstStyle/>
            <a:p>
              <a:endParaRPr/>
            </a:p>
          </p:txBody>
        </p:sp>
        <p:sp>
          <p:nvSpPr>
            <p:cNvPr id="10" name="object 10"/>
            <p:cNvSpPr/>
            <p:nvPr/>
          </p:nvSpPr>
          <p:spPr>
            <a:xfrm>
              <a:off x="6581273" y="4362450"/>
              <a:ext cx="409575" cy="0"/>
            </a:xfrm>
            <a:custGeom>
              <a:avLst/>
              <a:gdLst/>
              <a:ahLst/>
              <a:cxnLst/>
              <a:rect l="l" t="t" r="r" b="b"/>
              <a:pathLst>
                <a:path w="409575">
                  <a:moveTo>
                    <a:pt x="0" y="0"/>
                  </a:moveTo>
                  <a:lnTo>
                    <a:pt x="409072" y="0"/>
                  </a:lnTo>
                </a:path>
              </a:pathLst>
            </a:custGeom>
            <a:ln w="19050">
              <a:solidFill>
                <a:srgbClr val="000000"/>
              </a:solidFill>
            </a:ln>
          </p:spPr>
          <p:txBody>
            <a:bodyPr wrap="square" lIns="0" tIns="0" rIns="0" bIns="0" rtlCol="0"/>
            <a:lstStyle/>
            <a:p>
              <a:endParaRPr/>
            </a:p>
          </p:txBody>
        </p:sp>
        <p:pic>
          <p:nvPicPr>
            <p:cNvPr id="11" name="object 11"/>
            <p:cNvPicPr/>
            <p:nvPr/>
          </p:nvPicPr>
          <p:blipFill>
            <a:blip r:embed="rId2" cstate="print"/>
            <a:stretch>
              <a:fillRect/>
            </a:stretch>
          </p:blipFill>
          <p:spPr>
            <a:xfrm>
              <a:off x="6738802" y="4115109"/>
              <a:ext cx="115527" cy="162456"/>
            </a:xfrm>
            <a:prstGeom prst="rect">
              <a:avLst/>
            </a:prstGeom>
          </p:spPr>
        </p:pic>
      </p:grpSp>
      <p:grpSp>
        <p:nvGrpSpPr>
          <p:cNvPr id="12" name="object 12"/>
          <p:cNvGrpSpPr/>
          <p:nvPr/>
        </p:nvGrpSpPr>
        <p:grpSpPr>
          <a:xfrm>
            <a:off x="8818113" y="3859439"/>
            <a:ext cx="1253490" cy="465455"/>
            <a:chOff x="8818113" y="3859439"/>
            <a:chExt cx="1253490" cy="465455"/>
          </a:xfrm>
        </p:grpSpPr>
        <p:sp>
          <p:nvSpPr>
            <p:cNvPr id="13" name="object 13"/>
            <p:cNvSpPr/>
            <p:nvPr/>
          </p:nvSpPr>
          <p:spPr>
            <a:xfrm>
              <a:off x="8832400" y="3903465"/>
              <a:ext cx="407034" cy="407034"/>
            </a:xfrm>
            <a:custGeom>
              <a:avLst/>
              <a:gdLst/>
              <a:ahLst/>
              <a:cxnLst/>
              <a:rect l="l" t="t" r="r" b="b"/>
              <a:pathLst>
                <a:path w="407034" h="407035">
                  <a:moveTo>
                    <a:pt x="225712" y="0"/>
                  </a:moveTo>
                  <a:lnTo>
                    <a:pt x="180916" y="0"/>
                  </a:lnTo>
                  <a:lnTo>
                    <a:pt x="136989" y="9780"/>
                  </a:lnTo>
                  <a:lnTo>
                    <a:pt x="95666" y="29342"/>
                  </a:lnTo>
                  <a:lnTo>
                    <a:pt x="58684" y="58684"/>
                  </a:lnTo>
                  <a:lnTo>
                    <a:pt x="29342" y="95666"/>
                  </a:lnTo>
                  <a:lnTo>
                    <a:pt x="9780" y="136989"/>
                  </a:lnTo>
                  <a:lnTo>
                    <a:pt x="0" y="180916"/>
                  </a:lnTo>
                  <a:lnTo>
                    <a:pt x="0" y="225712"/>
                  </a:lnTo>
                  <a:lnTo>
                    <a:pt x="9780" y="269639"/>
                  </a:lnTo>
                  <a:lnTo>
                    <a:pt x="29342" y="310961"/>
                  </a:lnTo>
                  <a:lnTo>
                    <a:pt x="58684" y="347943"/>
                  </a:lnTo>
                  <a:lnTo>
                    <a:pt x="95666" y="377286"/>
                  </a:lnTo>
                  <a:lnTo>
                    <a:pt x="136989" y="396847"/>
                  </a:lnTo>
                  <a:lnTo>
                    <a:pt x="180916" y="406628"/>
                  </a:lnTo>
                  <a:lnTo>
                    <a:pt x="225712" y="406628"/>
                  </a:lnTo>
                  <a:lnTo>
                    <a:pt x="269639" y="396847"/>
                  </a:lnTo>
                  <a:lnTo>
                    <a:pt x="310961" y="377286"/>
                  </a:lnTo>
                  <a:lnTo>
                    <a:pt x="347943" y="347943"/>
                  </a:lnTo>
                  <a:lnTo>
                    <a:pt x="377286" y="310961"/>
                  </a:lnTo>
                  <a:lnTo>
                    <a:pt x="396847" y="269639"/>
                  </a:lnTo>
                  <a:lnTo>
                    <a:pt x="406628" y="225712"/>
                  </a:lnTo>
                  <a:lnTo>
                    <a:pt x="406628" y="180916"/>
                  </a:lnTo>
                  <a:lnTo>
                    <a:pt x="396847" y="136989"/>
                  </a:lnTo>
                  <a:lnTo>
                    <a:pt x="377286" y="95666"/>
                  </a:lnTo>
                  <a:lnTo>
                    <a:pt x="347943" y="58684"/>
                  </a:lnTo>
                  <a:lnTo>
                    <a:pt x="310961" y="29342"/>
                  </a:lnTo>
                  <a:lnTo>
                    <a:pt x="269639" y="9780"/>
                  </a:lnTo>
                  <a:lnTo>
                    <a:pt x="225712" y="0"/>
                  </a:lnTo>
                  <a:close/>
                </a:path>
              </a:pathLst>
            </a:custGeom>
            <a:solidFill>
              <a:srgbClr val="C00000"/>
            </a:solidFill>
          </p:spPr>
          <p:txBody>
            <a:bodyPr wrap="square" lIns="0" tIns="0" rIns="0" bIns="0" rtlCol="0"/>
            <a:lstStyle/>
            <a:p>
              <a:endParaRPr/>
            </a:p>
          </p:txBody>
        </p:sp>
        <p:sp>
          <p:nvSpPr>
            <p:cNvPr id="14" name="object 14"/>
            <p:cNvSpPr/>
            <p:nvPr/>
          </p:nvSpPr>
          <p:spPr>
            <a:xfrm>
              <a:off x="8832401" y="3903464"/>
              <a:ext cx="407034" cy="407034"/>
            </a:xfrm>
            <a:custGeom>
              <a:avLst/>
              <a:gdLst/>
              <a:ahLst/>
              <a:cxnLst/>
              <a:rect l="l" t="t" r="r" b="b"/>
              <a:pathLst>
                <a:path w="407034" h="407035">
                  <a:moveTo>
                    <a:pt x="347943" y="58684"/>
                  </a:moveTo>
                  <a:lnTo>
                    <a:pt x="377286" y="95666"/>
                  </a:lnTo>
                  <a:lnTo>
                    <a:pt x="396847" y="136989"/>
                  </a:lnTo>
                  <a:lnTo>
                    <a:pt x="406628" y="180916"/>
                  </a:lnTo>
                  <a:lnTo>
                    <a:pt x="406628" y="225712"/>
                  </a:lnTo>
                  <a:lnTo>
                    <a:pt x="396847" y="269639"/>
                  </a:lnTo>
                  <a:lnTo>
                    <a:pt x="377286" y="310961"/>
                  </a:lnTo>
                  <a:lnTo>
                    <a:pt x="347943" y="347943"/>
                  </a:lnTo>
                  <a:lnTo>
                    <a:pt x="310961" y="377286"/>
                  </a:lnTo>
                  <a:lnTo>
                    <a:pt x="269639" y="396848"/>
                  </a:lnTo>
                  <a:lnTo>
                    <a:pt x="225712" y="406628"/>
                  </a:lnTo>
                  <a:lnTo>
                    <a:pt x="180916" y="406628"/>
                  </a:lnTo>
                  <a:lnTo>
                    <a:pt x="136989" y="396848"/>
                  </a:lnTo>
                  <a:lnTo>
                    <a:pt x="95666" y="377286"/>
                  </a:lnTo>
                  <a:lnTo>
                    <a:pt x="58684" y="347943"/>
                  </a:lnTo>
                  <a:lnTo>
                    <a:pt x="29342" y="310961"/>
                  </a:lnTo>
                  <a:lnTo>
                    <a:pt x="9780" y="269639"/>
                  </a:lnTo>
                  <a:lnTo>
                    <a:pt x="0" y="225712"/>
                  </a:lnTo>
                  <a:lnTo>
                    <a:pt x="0" y="180916"/>
                  </a:lnTo>
                  <a:lnTo>
                    <a:pt x="9780" y="136989"/>
                  </a:lnTo>
                  <a:lnTo>
                    <a:pt x="29342" y="95666"/>
                  </a:lnTo>
                  <a:lnTo>
                    <a:pt x="58684" y="58684"/>
                  </a:lnTo>
                  <a:lnTo>
                    <a:pt x="95666" y="29342"/>
                  </a:lnTo>
                  <a:lnTo>
                    <a:pt x="136989" y="9780"/>
                  </a:lnTo>
                  <a:lnTo>
                    <a:pt x="180916" y="0"/>
                  </a:lnTo>
                  <a:lnTo>
                    <a:pt x="225712" y="0"/>
                  </a:lnTo>
                  <a:lnTo>
                    <a:pt x="269639" y="9780"/>
                  </a:lnTo>
                  <a:lnTo>
                    <a:pt x="310961" y="29342"/>
                  </a:lnTo>
                  <a:lnTo>
                    <a:pt x="347943" y="58684"/>
                  </a:lnTo>
                  <a:close/>
                </a:path>
              </a:pathLst>
            </a:custGeom>
            <a:ln w="28575">
              <a:solidFill>
                <a:srgbClr val="000000"/>
              </a:solidFill>
            </a:ln>
          </p:spPr>
          <p:txBody>
            <a:bodyPr wrap="square" lIns="0" tIns="0" rIns="0" bIns="0" rtlCol="0"/>
            <a:lstStyle/>
            <a:p>
              <a:endParaRPr/>
            </a:p>
          </p:txBody>
        </p:sp>
        <p:sp>
          <p:nvSpPr>
            <p:cNvPr id="15" name="object 15"/>
            <p:cNvSpPr/>
            <p:nvPr/>
          </p:nvSpPr>
          <p:spPr>
            <a:xfrm>
              <a:off x="9650548" y="3903465"/>
              <a:ext cx="407034" cy="407034"/>
            </a:xfrm>
            <a:custGeom>
              <a:avLst/>
              <a:gdLst/>
              <a:ahLst/>
              <a:cxnLst/>
              <a:rect l="l" t="t" r="r" b="b"/>
              <a:pathLst>
                <a:path w="407034" h="407035">
                  <a:moveTo>
                    <a:pt x="225712" y="0"/>
                  </a:moveTo>
                  <a:lnTo>
                    <a:pt x="180916" y="0"/>
                  </a:lnTo>
                  <a:lnTo>
                    <a:pt x="136989" y="9780"/>
                  </a:lnTo>
                  <a:lnTo>
                    <a:pt x="95666" y="29342"/>
                  </a:lnTo>
                  <a:lnTo>
                    <a:pt x="58684" y="58684"/>
                  </a:lnTo>
                  <a:lnTo>
                    <a:pt x="29342" y="95666"/>
                  </a:lnTo>
                  <a:lnTo>
                    <a:pt x="9780" y="136989"/>
                  </a:lnTo>
                  <a:lnTo>
                    <a:pt x="0" y="180916"/>
                  </a:lnTo>
                  <a:lnTo>
                    <a:pt x="0" y="225712"/>
                  </a:lnTo>
                  <a:lnTo>
                    <a:pt x="9780" y="269639"/>
                  </a:lnTo>
                  <a:lnTo>
                    <a:pt x="29342" y="310961"/>
                  </a:lnTo>
                  <a:lnTo>
                    <a:pt x="58684" y="347943"/>
                  </a:lnTo>
                  <a:lnTo>
                    <a:pt x="95666" y="377286"/>
                  </a:lnTo>
                  <a:lnTo>
                    <a:pt x="136989" y="396847"/>
                  </a:lnTo>
                  <a:lnTo>
                    <a:pt x="180916" y="406628"/>
                  </a:lnTo>
                  <a:lnTo>
                    <a:pt x="225712" y="406628"/>
                  </a:lnTo>
                  <a:lnTo>
                    <a:pt x="269639" y="396847"/>
                  </a:lnTo>
                  <a:lnTo>
                    <a:pt x="310961" y="377286"/>
                  </a:lnTo>
                  <a:lnTo>
                    <a:pt x="347943" y="347943"/>
                  </a:lnTo>
                  <a:lnTo>
                    <a:pt x="377286" y="310961"/>
                  </a:lnTo>
                  <a:lnTo>
                    <a:pt x="396847" y="269639"/>
                  </a:lnTo>
                  <a:lnTo>
                    <a:pt x="406628" y="225712"/>
                  </a:lnTo>
                  <a:lnTo>
                    <a:pt x="406628" y="180916"/>
                  </a:lnTo>
                  <a:lnTo>
                    <a:pt x="396847" y="136989"/>
                  </a:lnTo>
                  <a:lnTo>
                    <a:pt x="377286" y="95666"/>
                  </a:lnTo>
                  <a:lnTo>
                    <a:pt x="347943" y="58684"/>
                  </a:lnTo>
                  <a:lnTo>
                    <a:pt x="310961" y="29342"/>
                  </a:lnTo>
                  <a:lnTo>
                    <a:pt x="269639" y="9780"/>
                  </a:lnTo>
                  <a:lnTo>
                    <a:pt x="225712" y="0"/>
                  </a:lnTo>
                  <a:close/>
                </a:path>
              </a:pathLst>
            </a:custGeom>
            <a:solidFill>
              <a:srgbClr val="0070C0"/>
            </a:solidFill>
          </p:spPr>
          <p:txBody>
            <a:bodyPr wrap="square" lIns="0" tIns="0" rIns="0" bIns="0" rtlCol="0"/>
            <a:lstStyle/>
            <a:p>
              <a:endParaRPr/>
            </a:p>
          </p:txBody>
        </p:sp>
        <p:sp>
          <p:nvSpPr>
            <p:cNvPr id="16" name="object 16"/>
            <p:cNvSpPr/>
            <p:nvPr/>
          </p:nvSpPr>
          <p:spPr>
            <a:xfrm>
              <a:off x="9650549" y="3903464"/>
              <a:ext cx="407034" cy="407034"/>
            </a:xfrm>
            <a:custGeom>
              <a:avLst/>
              <a:gdLst/>
              <a:ahLst/>
              <a:cxnLst/>
              <a:rect l="l" t="t" r="r" b="b"/>
              <a:pathLst>
                <a:path w="407034" h="407035">
                  <a:moveTo>
                    <a:pt x="347943" y="58684"/>
                  </a:moveTo>
                  <a:lnTo>
                    <a:pt x="377286" y="95666"/>
                  </a:lnTo>
                  <a:lnTo>
                    <a:pt x="396847" y="136989"/>
                  </a:lnTo>
                  <a:lnTo>
                    <a:pt x="406628" y="180916"/>
                  </a:lnTo>
                  <a:lnTo>
                    <a:pt x="406628" y="225712"/>
                  </a:lnTo>
                  <a:lnTo>
                    <a:pt x="396847" y="269639"/>
                  </a:lnTo>
                  <a:lnTo>
                    <a:pt x="377286" y="310961"/>
                  </a:lnTo>
                  <a:lnTo>
                    <a:pt x="347943" y="347943"/>
                  </a:lnTo>
                  <a:lnTo>
                    <a:pt x="310961" y="377286"/>
                  </a:lnTo>
                  <a:lnTo>
                    <a:pt x="269639" y="396848"/>
                  </a:lnTo>
                  <a:lnTo>
                    <a:pt x="225712" y="406628"/>
                  </a:lnTo>
                  <a:lnTo>
                    <a:pt x="180916" y="406628"/>
                  </a:lnTo>
                  <a:lnTo>
                    <a:pt x="136989" y="396848"/>
                  </a:lnTo>
                  <a:lnTo>
                    <a:pt x="95666" y="377286"/>
                  </a:lnTo>
                  <a:lnTo>
                    <a:pt x="58684" y="347943"/>
                  </a:lnTo>
                  <a:lnTo>
                    <a:pt x="29342" y="310961"/>
                  </a:lnTo>
                  <a:lnTo>
                    <a:pt x="9780" y="269639"/>
                  </a:lnTo>
                  <a:lnTo>
                    <a:pt x="0" y="225712"/>
                  </a:lnTo>
                  <a:lnTo>
                    <a:pt x="0" y="180916"/>
                  </a:lnTo>
                  <a:lnTo>
                    <a:pt x="9780" y="136989"/>
                  </a:lnTo>
                  <a:lnTo>
                    <a:pt x="29342" y="95666"/>
                  </a:lnTo>
                  <a:lnTo>
                    <a:pt x="58684" y="58684"/>
                  </a:lnTo>
                  <a:lnTo>
                    <a:pt x="95666" y="29342"/>
                  </a:lnTo>
                  <a:lnTo>
                    <a:pt x="136989" y="9780"/>
                  </a:lnTo>
                  <a:lnTo>
                    <a:pt x="180916" y="0"/>
                  </a:lnTo>
                  <a:lnTo>
                    <a:pt x="225712" y="0"/>
                  </a:lnTo>
                  <a:lnTo>
                    <a:pt x="269639" y="9780"/>
                  </a:lnTo>
                  <a:lnTo>
                    <a:pt x="310961" y="29342"/>
                  </a:lnTo>
                  <a:lnTo>
                    <a:pt x="347943" y="58684"/>
                  </a:lnTo>
                  <a:close/>
                </a:path>
              </a:pathLst>
            </a:custGeom>
            <a:ln w="28575">
              <a:solidFill>
                <a:srgbClr val="000000"/>
              </a:solidFill>
            </a:ln>
          </p:spPr>
          <p:txBody>
            <a:bodyPr wrap="square" lIns="0" tIns="0" rIns="0" bIns="0" rtlCol="0"/>
            <a:lstStyle/>
            <a:p>
              <a:endParaRPr/>
            </a:p>
          </p:txBody>
        </p:sp>
        <p:sp>
          <p:nvSpPr>
            <p:cNvPr id="17" name="object 17"/>
            <p:cNvSpPr/>
            <p:nvPr/>
          </p:nvSpPr>
          <p:spPr>
            <a:xfrm>
              <a:off x="9240251" y="4106778"/>
              <a:ext cx="409575" cy="0"/>
            </a:xfrm>
            <a:custGeom>
              <a:avLst/>
              <a:gdLst/>
              <a:ahLst/>
              <a:cxnLst/>
              <a:rect l="l" t="t" r="r" b="b"/>
              <a:pathLst>
                <a:path w="409575">
                  <a:moveTo>
                    <a:pt x="0" y="0"/>
                  </a:moveTo>
                  <a:lnTo>
                    <a:pt x="409072" y="0"/>
                  </a:lnTo>
                </a:path>
              </a:pathLst>
            </a:custGeom>
            <a:ln w="19050">
              <a:solidFill>
                <a:srgbClr val="000000"/>
              </a:solidFill>
            </a:ln>
          </p:spPr>
          <p:txBody>
            <a:bodyPr wrap="square" lIns="0" tIns="0" rIns="0" bIns="0" rtlCol="0"/>
            <a:lstStyle/>
            <a:p>
              <a:endParaRPr/>
            </a:p>
          </p:txBody>
        </p:sp>
        <p:pic>
          <p:nvPicPr>
            <p:cNvPr id="18" name="object 18"/>
            <p:cNvPicPr/>
            <p:nvPr/>
          </p:nvPicPr>
          <p:blipFill>
            <a:blip r:embed="rId2" cstate="print"/>
            <a:stretch>
              <a:fillRect/>
            </a:stretch>
          </p:blipFill>
          <p:spPr>
            <a:xfrm>
              <a:off x="9397781" y="3859439"/>
              <a:ext cx="115527" cy="162456"/>
            </a:xfrm>
            <a:prstGeom prst="rect">
              <a:avLst/>
            </a:prstGeom>
          </p:spPr>
        </p:pic>
      </p:grpSp>
      <p:grpSp>
        <p:nvGrpSpPr>
          <p:cNvPr id="19" name="object 19"/>
          <p:cNvGrpSpPr/>
          <p:nvPr/>
        </p:nvGrpSpPr>
        <p:grpSpPr>
          <a:xfrm>
            <a:off x="8818113" y="4370780"/>
            <a:ext cx="1253490" cy="465455"/>
            <a:chOff x="8818113" y="4370780"/>
            <a:chExt cx="1253490" cy="465455"/>
          </a:xfrm>
        </p:grpSpPr>
        <p:sp>
          <p:nvSpPr>
            <p:cNvPr id="20" name="object 20"/>
            <p:cNvSpPr/>
            <p:nvPr/>
          </p:nvSpPr>
          <p:spPr>
            <a:xfrm>
              <a:off x="8832400" y="4414806"/>
              <a:ext cx="407034" cy="407034"/>
            </a:xfrm>
            <a:custGeom>
              <a:avLst/>
              <a:gdLst/>
              <a:ahLst/>
              <a:cxnLst/>
              <a:rect l="l" t="t" r="r" b="b"/>
              <a:pathLst>
                <a:path w="407034" h="407035">
                  <a:moveTo>
                    <a:pt x="225712" y="0"/>
                  </a:moveTo>
                  <a:lnTo>
                    <a:pt x="180916" y="0"/>
                  </a:lnTo>
                  <a:lnTo>
                    <a:pt x="136989" y="9780"/>
                  </a:lnTo>
                  <a:lnTo>
                    <a:pt x="95666" y="29342"/>
                  </a:lnTo>
                  <a:lnTo>
                    <a:pt x="58684" y="58684"/>
                  </a:lnTo>
                  <a:lnTo>
                    <a:pt x="29342" y="95666"/>
                  </a:lnTo>
                  <a:lnTo>
                    <a:pt x="9780" y="136989"/>
                  </a:lnTo>
                  <a:lnTo>
                    <a:pt x="0" y="180916"/>
                  </a:lnTo>
                  <a:lnTo>
                    <a:pt x="0" y="225712"/>
                  </a:lnTo>
                  <a:lnTo>
                    <a:pt x="9780" y="269639"/>
                  </a:lnTo>
                  <a:lnTo>
                    <a:pt x="29342" y="310961"/>
                  </a:lnTo>
                  <a:lnTo>
                    <a:pt x="58684" y="347943"/>
                  </a:lnTo>
                  <a:lnTo>
                    <a:pt x="95666" y="377286"/>
                  </a:lnTo>
                  <a:lnTo>
                    <a:pt x="136989" y="396847"/>
                  </a:lnTo>
                  <a:lnTo>
                    <a:pt x="180916" y="406628"/>
                  </a:lnTo>
                  <a:lnTo>
                    <a:pt x="225712" y="406628"/>
                  </a:lnTo>
                  <a:lnTo>
                    <a:pt x="269639" y="396847"/>
                  </a:lnTo>
                  <a:lnTo>
                    <a:pt x="310961" y="377286"/>
                  </a:lnTo>
                  <a:lnTo>
                    <a:pt x="347943" y="347943"/>
                  </a:lnTo>
                  <a:lnTo>
                    <a:pt x="377286" y="310961"/>
                  </a:lnTo>
                  <a:lnTo>
                    <a:pt x="396847" y="269639"/>
                  </a:lnTo>
                  <a:lnTo>
                    <a:pt x="406628" y="225712"/>
                  </a:lnTo>
                  <a:lnTo>
                    <a:pt x="406628" y="180916"/>
                  </a:lnTo>
                  <a:lnTo>
                    <a:pt x="396847" y="136989"/>
                  </a:lnTo>
                  <a:lnTo>
                    <a:pt x="377286" y="95666"/>
                  </a:lnTo>
                  <a:lnTo>
                    <a:pt x="347943" y="58684"/>
                  </a:lnTo>
                  <a:lnTo>
                    <a:pt x="310961" y="29342"/>
                  </a:lnTo>
                  <a:lnTo>
                    <a:pt x="269639" y="9780"/>
                  </a:lnTo>
                  <a:lnTo>
                    <a:pt x="225712" y="0"/>
                  </a:lnTo>
                  <a:close/>
                </a:path>
              </a:pathLst>
            </a:custGeom>
            <a:solidFill>
              <a:srgbClr val="00B050"/>
            </a:solidFill>
          </p:spPr>
          <p:txBody>
            <a:bodyPr wrap="square" lIns="0" tIns="0" rIns="0" bIns="0" rtlCol="0"/>
            <a:lstStyle/>
            <a:p>
              <a:endParaRPr/>
            </a:p>
          </p:txBody>
        </p:sp>
        <p:sp>
          <p:nvSpPr>
            <p:cNvPr id="21" name="object 21"/>
            <p:cNvSpPr/>
            <p:nvPr/>
          </p:nvSpPr>
          <p:spPr>
            <a:xfrm>
              <a:off x="8832401" y="4414806"/>
              <a:ext cx="407034" cy="407034"/>
            </a:xfrm>
            <a:custGeom>
              <a:avLst/>
              <a:gdLst/>
              <a:ahLst/>
              <a:cxnLst/>
              <a:rect l="l" t="t" r="r" b="b"/>
              <a:pathLst>
                <a:path w="407034" h="407035">
                  <a:moveTo>
                    <a:pt x="347943" y="58684"/>
                  </a:moveTo>
                  <a:lnTo>
                    <a:pt x="377286" y="95666"/>
                  </a:lnTo>
                  <a:lnTo>
                    <a:pt x="396847" y="136989"/>
                  </a:lnTo>
                  <a:lnTo>
                    <a:pt x="406628" y="180916"/>
                  </a:lnTo>
                  <a:lnTo>
                    <a:pt x="406628" y="225712"/>
                  </a:lnTo>
                  <a:lnTo>
                    <a:pt x="396847" y="269639"/>
                  </a:lnTo>
                  <a:lnTo>
                    <a:pt x="377286" y="310961"/>
                  </a:lnTo>
                  <a:lnTo>
                    <a:pt x="347943" y="347943"/>
                  </a:lnTo>
                  <a:lnTo>
                    <a:pt x="310961" y="377286"/>
                  </a:lnTo>
                  <a:lnTo>
                    <a:pt x="269639" y="396848"/>
                  </a:lnTo>
                  <a:lnTo>
                    <a:pt x="225712" y="406628"/>
                  </a:lnTo>
                  <a:lnTo>
                    <a:pt x="180916" y="406628"/>
                  </a:lnTo>
                  <a:lnTo>
                    <a:pt x="136989" y="396848"/>
                  </a:lnTo>
                  <a:lnTo>
                    <a:pt x="95666" y="377286"/>
                  </a:lnTo>
                  <a:lnTo>
                    <a:pt x="58684" y="347943"/>
                  </a:lnTo>
                  <a:lnTo>
                    <a:pt x="29342" y="310961"/>
                  </a:lnTo>
                  <a:lnTo>
                    <a:pt x="9780" y="269639"/>
                  </a:lnTo>
                  <a:lnTo>
                    <a:pt x="0" y="225712"/>
                  </a:lnTo>
                  <a:lnTo>
                    <a:pt x="0" y="180916"/>
                  </a:lnTo>
                  <a:lnTo>
                    <a:pt x="9780" y="136989"/>
                  </a:lnTo>
                  <a:lnTo>
                    <a:pt x="29342" y="95666"/>
                  </a:lnTo>
                  <a:lnTo>
                    <a:pt x="58684" y="58684"/>
                  </a:lnTo>
                  <a:lnTo>
                    <a:pt x="95666" y="29342"/>
                  </a:lnTo>
                  <a:lnTo>
                    <a:pt x="136989" y="9780"/>
                  </a:lnTo>
                  <a:lnTo>
                    <a:pt x="180916" y="0"/>
                  </a:lnTo>
                  <a:lnTo>
                    <a:pt x="225712" y="0"/>
                  </a:lnTo>
                  <a:lnTo>
                    <a:pt x="269639" y="9780"/>
                  </a:lnTo>
                  <a:lnTo>
                    <a:pt x="310961" y="29342"/>
                  </a:lnTo>
                  <a:lnTo>
                    <a:pt x="347943" y="58684"/>
                  </a:lnTo>
                  <a:close/>
                </a:path>
              </a:pathLst>
            </a:custGeom>
            <a:ln w="28575">
              <a:solidFill>
                <a:srgbClr val="000000"/>
              </a:solidFill>
            </a:ln>
          </p:spPr>
          <p:txBody>
            <a:bodyPr wrap="square" lIns="0" tIns="0" rIns="0" bIns="0" rtlCol="0"/>
            <a:lstStyle/>
            <a:p>
              <a:endParaRPr/>
            </a:p>
          </p:txBody>
        </p:sp>
        <p:sp>
          <p:nvSpPr>
            <p:cNvPr id="22" name="object 22"/>
            <p:cNvSpPr/>
            <p:nvPr/>
          </p:nvSpPr>
          <p:spPr>
            <a:xfrm>
              <a:off x="9650548" y="4414806"/>
              <a:ext cx="407034" cy="407034"/>
            </a:xfrm>
            <a:custGeom>
              <a:avLst/>
              <a:gdLst/>
              <a:ahLst/>
              <a:cxnLst/>
              <a:rect l="l" t="t" r="r" b="b"/>
              <a:pathLst>
                <a:path w="407034" h="407035">
                  <a:moveTo>
                    <a:pt x="225712" y="0"/>
                  </a:moveTo>
                  <a:lnTo>
                    <a:pt x="180916" y="0"/>
                  </a:lnTo>
                  <a:lnTo>
                    <a:pt x="136989" y="9780"/>
                  </a:lnTo>
                  <a:lnTo>
                    <a:pt x="95666" y="29342"/>
                  </a:lnTo>
                  <a:lnTo>
                    <a:pt x="58684" y="58684"/>
                  </a:lnTo>
                  <a:lnTo>
                    <a:pt x="29342" y="95666"/>
                  </a:lnTo>
                  <a:lnTo>
                    <a:pt x="9780" y="136989"/>
                  </a:lnTo>
                  <a:lnTo>
                    <a:pt x="0" y="180916"/>
                  </a:lnTo>
                  <a:lnTo>
                    <a:pt x="0" y="225712"/>
                  </a:lnTo>
                  <a:lnTo>
                    <a:pt x="9780" y="269639"/>
                  </a:lnTo>
                  <a:lnTo>
                    <a:pt x="29342" y="310961"/>
                  </a:lnTo>
                  <a:lnTo>
                    <a:pt x="58684" y="347943"/>
                  </a:lnTo>
                  <a:lnTo>
                    <a:pt x="95666" y="377286"/>
                  </a:lnTo>
                  <a:lnTo>
                    <a:pt x="136989" y="396847"/>
                  </a:lnTo>
                  <a:lnTo>
                    <a:pt x="180916" y="406628"/>
                  </a:lnTo>
                  <a:lnTo>
                    <a:pt x="225712" y="406628"/>
                  </a:lnTo>
                  <a:lnTo>
                    <a:pt x="269639" y="396847"/>
                  </a:lnTo>
                  <a:lnTo>
                    <a:pt x="310961" y="377286"/>
                  </a:lnTo>
                  <a:lnTo>
                    <a:pt x="347943" y="347943"/>
                  </a:lnTo>
                  <a:lnTo>
                    <a:pt x="377286" y="310961"/>
                  </a:lnTo>
                  <a:lnTo>
                    <a:pt x="396847" y="269639"/>
                  </a:lnTo>
                  <a:lnTo>
                    <a:pt x="406628" y="225712"/>
                  </a:lnTo>
                  <a:lnTo>
                    <a:pt x="406628" y="180916"/>
                  </a:lnTo>
                  <a:lnTo>
                    <a:pt x="396847" y="136989"/>
                  </a:lnTo>
                  <a:lnTo>
                    <a:pt x="377286" y="95666"/>
                  </a:lnTo>
                  <a:lnTo>
                    <a:pt x="347943" y="58684"/>
                  </a:lnTo>
                  <a:lnTo>
                    <a:pt x="310961" y="29342"/>
                  </a:lnTo>
                  <a:lnTo>
                    <a:pt x="269639" y="9780"/>
                  </a:lnTo>
                  <a:lnTo>
                    <a:pt x="225712" y="0"/>
                  </a:lnTo>
                  <a:close/>
                </a:path>
              </a:pathLst>
            </a:custGeom>
            <a:solidFill>
              <a:srgbClr val="C00000"/>
            </a:solidFill>
          </p:spPr>
          <p:txBody>
            <a:bodyPr wrap="square" lIns="0" tIns="0" rIns="0" bIns="0" rtlCol="0"/>
            <a:lstStyle/>
            <a:p>
              <a:endParaRPr/>
            </a:p>
          </p:txBody>
        </p:sp>
        <p:sp>
          <p:nvSpPr>
            <p:cNvPr id="23" name="object 23"/>
            <p:cNvSpPr/>
            <p:nvPr/>
          </p:nvSpPr>
          <p:spPr>
            <a:xfrm>
              <a:off x="9650549" y="4414806"/>
              <a:ext cx="407034" cy="407034"/>
            </a:xfrm>
            <a:custGeom>
              <a:avLst/>
              <a:gdLst/>
              <a:ahLst/>
              <a:cxnLst/>
              <a:rect l="l" t="t" r="r" b="b"/>
              <a:pathLst>
                <a:path w="407034" h="407035">
                  <a:moveTo>
                    <a:pt x="347943" y="58684"/>
                  </a:moveTo>
                  <a:lnTo>
                    <a:pt x="377286" y="95666"/>
                  </a:lnTo>
                  <a:lnTo>
                    <a:pt x="396847" y="136989"/>
                  </a:lnTo>
                  <a:lnTo>
                    <a:pt x="406628" y="180916"/>
                  </a:lnTo>
                  <a:lnTo>
                    <a:pt x="406628" y="225712"/>
                  </a:lnTo>
                  <a:lnTo>
                    <a:pt x="396847" y="269639"/>
                  </a:lnTo>
                  <a:lnTo>
                    <a:pt x="377286" y="310961"/>
                  </a:lnTo>
                  <a:lnTo>
                    <a:pt x="347943" y="347943"/>
                  </a:lnTo>
                  <a:lnTo>
                    <a:pt x="310961" y="377286"/>
                  </a:lnTo>
                  <a:lnTo>
                    <a:pt x="269639" y="396848"/>
                  </a:lnTo>
                  <a:lnTo>
                    <a:pt x="225712" y="406628"/>
                  </a:lnTo>
                  <a:lnTo>
                    <a:pt x="180916" y="406628"/>
                  </a:lnTo>
                  <a:lnTo>
                    <a:pt x="136989" y="396848"/>
                  </a:lnTo>
                  <a:lnTo>
                    <a:pt x="95666" y="377286"/>
                  </a:lnTo>
                  <a:lnTo>
                    <a:pt x="58684" y="347943"/>
                  </a:lnTo>
                  <a:lnTo>
                    <a:pt x="29342" y="310961"/>
                  </a:lnTo>
                  <a:lnTo>
                    <a:pt x="9780" y="269639"/>
                  </a:lnTo>
                  <a:lnTo>
                    <a:pt x="0" y="225712"/>
                  </a:lnTo>
                  <a:lnTo>
                    <a:pt x="0" y="180916"/>
                  </a:lnTo>
                  <a:lnTo>
                    <a:pt x="9780" y="136989"/>
                  </a:lnTo>
                  <a:lnTo>
                    <a:pt x="29342" y="95666"/>
                  </a:lnTo>
                  <a:lnTo>
                    <a:pt x="58684" y="58684"/>
                  </a:lnTo>
                  <a:lnTo>
                    <a:pt x="95666" y="29342"/>
                  </a:lnTo>
                  <a:lnTo>
                    <a:pt x="136989" y="9780"/>
                  </a:lnTo>
                  <a:lnTo>
                    <a:pt x="180916" y="0"/>
                  </a:lnTo>
                  <a:lnTo>
                    <a:pt x="225712" y="0"/>
                  </a:lnTo>
                  <a:lnTo>
                    <a:pt x="269639" y="9780"/>
                  </a:lnTo>
                  <a:lnTo>
                    <a:pt x="310961" y="29342"/>
                  </a:lnTo>
                  <a:lnTo>
                    <a:pt x="347943" y="58684"/>
                  </a:lnTo>
                  <a:close/>
                </a:path>
              </a:pathLst>
            </a:custGeom>
            <a:ln w="28575">
              <a:solidFill>
                <a:srgbClr val="000000"/>
              </a:solidFill>
            </a:ln>
          </p:spPr>
          <p:txBody>
            <a:bodyPr wrap="square" lIns="0" tIns="0" rIns="0" bIns="0" rtlCol="0"/>
            <a:lstStyle/>
            <a:p>
              <a:endParaRPr/>
            </a:p>
          </p:txBody>
        </p:sp>
        <p:sp>
          <p:nvSpPr>
            <p:cNvPr id="24" name="object 24"/>
            <p:cNvSpPr/>
            <p:nvPr/>
          </p:nvSpPr>
          <p:spPr>
            <a:xfrm>
              <a:off x="9240251" y="4618121"/>
              <a:ext cx="409575" cy="0"/>
            </a:xfrm>
            <a:custGeom>
              <a:avLst/>
              <a:gdLst/>
              <a:ahLst/>
              <a:cxnLst/>
              <a:rect l="l" t="t" r="r" b="b"/>
              <a:pathLst>
                <a:path w="409575">
                  <a:moveTo>
                    <a:pt x="0" y="0"/>
                  </a:moveTo>
                  <a:lnTo>
                    <a:pt x="409072" y="0"/>
                  </a:lnTo>
                </a:path>
              </a:pathLst>
            </a:custGeom>
            <a:ln w="19050">
              <a:solidFill>
                <a:srgbClr val="000000"/>
              </a:solidFill>
            </a:ln>
          </p:spPr>
          <p:txBody>
            <a:bodyPr wrap="square" lIns="0" tIns="0" rIns="0" bIns="0" rtlCol="0"/>
            <a:lstStyle/>
            <a:p>
              <a:endParaRPr/>
            </a:p>
          </p:txBody>
        </p:sp>
        <p:pic>
          <p:nvPicPr>
            <p:cNvPr id="25" name="object 25"/>
            <p:cNvPicPr/>
            <p:nvPr/>
          </p:nvPicPr>
          <p:blipFill>
            <a:blip r:embed="rId2" cstate="print"/>
            <a:stretch>
              <a:fillRect/>
            </a:stretch>
          </p:blipFill>
          <p:spPr>
            <a:xfrm>
              <a:off x="9397781" y="4370780"/>
              <a:ext cx="115527" cy="162456"/>
            </a:xfrm>
            <a:prstGeom prst="rect">
              <a:avLst/>
            </a:prstGeom>
          </p:spPr>
        </p:pic>
      </p:grpSp>
      <p:grpSp>
        <p:nvGrpSpPr>
          <p:cNvPr id="26" name="object 26"/>
          <p:cNvGrpSpPr/>
          <p:nvPr/>
        </p:nvGrpSpPr>
        <p:grpSpPr>
          <a:xfrm>
            <a:off x="8818113" y="4882122"/>
            <a:ext cx="1253490" cy="465455"/>
            <a:chOff x="8818113" y="4882122"/>
            <a:chExt cx="1253490" cy="465455"/>
          </a:xfrm>
        </p:grpSpPr>
        <p:sp>
          <p:nvSpPr>
            <p:cNvPr id="27" name="object 27"/>
            <p:cNvSpPr/>
            <p:nvPr/>
          </p:nvSpPr>
          <p:spPr>
            <a:xfrm>
              <a:off x="8832400" y="4926148"/>
              <a:ext cx="407034" cy="407034"/>
            </a:xfrm>
            <a:custGeom>
              <a:avLst/>
              <a:gdLst/>
              <a:ahLst/>
              <a:cxnLst/>
              <a:rect l="l" t="t" r="r" b="b"/>
              <a:pathLst>
                <a:path w="407034" h="407035">
                  <a:moveTo>
                    <a:pt x="225712" y="0"/>
                  </a:moveTo>
                  <a:lnTo>
                    <a:pt x="180916" y="0"/>
                  </a:lnTo>
                  <a:lnTo>
                    <a:pt x="136989" y="9780"/>
                  </a:lnTo>
                  <a:lnTo>
                    <a:pt x="95666" y="29342"/>
                  </a:lnTo>
                  <a:lnTo>
                    <a:pt x="58684" y="58684"/>
                  </a:lnTo>
                  <a:lnTo>
                    <a:pt x="29342" y="95666"/>
                  </a:lnTo>
                  <a:lnTo>
                    <a:pt x="9780" y="136989"/>
                  </a:lnTo>
                  <a:lnTo>
                    <a:pt x="0" y="180916"/>
                  </a:lnTo>
                  <a:lnTo>
                    <a:pt x="0" y="225712"/>
                  </a:lnTo>
                  <a:lnTo>
                    <a:pt x="9780" y="269639"/>
                  </a:lnTo>
                  <a:lnTo>
                    <a:pt x="29342" y="310961"/>
                  </a:lnTo>
                  <a:lnTo>
                    <a:pt x="58684" y="347943"/>
                  </a:lnTo>
                  <a:lnTo>
                    <a:pt x="95666" y="377286"/>
                  </a:lnTo>
                  <a:lnTo>
                    <a:pt x="136989" y="396847"/>
                  </a:lnTo>
                  <a:lnTo>
                    <a:pt x="180916" y="406628"/>
                  </a:lnTo>
                  <a:lnTo>
                    <a:pt x="225712" y="406628"/>
                  </a:lnTo>
                  <a:lnTo>
                    <a:pt x="269639" y="396847"/>
                  </a:lnTo>
                  <a:lnTo>
                    <a:pt x="310961" y="377286"/>
                  </a:lnTo>
                  <a:lnTo>
                    <a:pt x="347943" y="347943"/>
                  </a:lnTo>
                  <a:lnTo>
                    <a:pt x="377286" y="310961"/>
                  </a:lnTo>
                  <a:lnTo>
                    <a:pt x="396847" y="269639"/>
                  </a:lnTo>
                  <a:lnTo>
                    <a:pt x="406628" y="225712"/>
                  </a:lnTo>
                  <a:lnTo>
                    <a:pt x="406628" y="180916"/>
                  </a:lnTo>
                  <a:lnTo>
                    <a:pt x="396847" y="136989"/>
                  </a:lnTo>
                  <a:lnTo>
                    <a:pt x="377286" y="95666"/>
                  </a:lnTo>
                  <a:lnTo>
                    <a:pt x="347943" y="58684"/>
                  </a:lnTo>
                  <a:lnTo>
                    <a:pt x="310961" y="29342"/>
                  </a:lnTo>
                  <a:lnTo>
                    <a:pt x="269639" y="9780"/>
                  </a:lnTo>
                  <a:lnTo>
                    <a:pt x="225712" y="0"/>
                  </a:lnTo>
                  <a:close/>
                </a:path>
              </a:pathLst>
            </a:custGeom>
            <a:solidFill>
              <a:srgbClr val="0070C0"/>
            </a:solidFill>
          </p:spPr>
          <p:txBody>
            <a:bodyPr wrap="square" lIns="0" tIns="0" rIns="0" bIns="0" rtlCol="0"/>
            <a:lstStyle/>
            <a:p>
              <a:endParaRPr/>
            </a:p>
          </p:txBody>
        </p:sp>
        <p:sp>
          <p:nvSpPr>
            <p:cNvPr id="28" name="object 28"/>
            <p:cNvSpPr/>
            <p:nvPr/>
          </p:nvSpPr>
          <p:spPr>
            <a:xfrm>
              <a:off x="8832401" y="4926149"/>
              <a:ext cx="407034" cy="407034"/>
            </a:xfrm>
            <a:custGeom>
              <a:avLst/>
              <a:gdLst/>
              <a:ahLst/>
              <a:cxnLst/>
              <a:rect l="l" t="t" r="r" b="b"/>
              <a:pathLst>
                <a:path w="407034" h="407035">
                  <a:moveTo>
                    <a:pt x="347943" y="58684"/>
                  </a:moveTo>
                  <a:lnTo>
                    <a:pt x="377286" y="95666"/>
                  </a:lnTo>
                  <a:lnTo>
                    <a:pt x="396847" y="136989"/>
                  </a:lnTo>
                  <a:lnTo>
                    <a:pt x="406628" y="180916"/>
                  </a:lnTo>
                  <a:lnTo>
                    <a:pt x="406628" y="225712"/>
                  </a:lnTo>
                  <a:lnTo>
                    <a:pt x="396847" y="269639"/>
                  </a:lnTo>
                  <a:lnTo>
                    <a:pt x="377286" y="310961"/>
                  </a:lnTo>
                  <a:lnTo>
                    <a:pt x="347943" y="347943"/>
                  </a:lnTo>
                  <a:lnTo>
                    <a:pt x="310961" y="377286"/>
                  </a:lnTo>
                  <a:lnTo>
                    <a:pt x="269639" y="396848"/>
                  </a:lnTo>
                  <a:lnTo>
                    <a:pt x="225712" y="406628"/>
                  </a:lnTo>
                  <a:lnTo>
                    <a:pt x="180916" y="406628"/>
                  </a:lnTo>
                  <a:lnTo>
                    <a:pt x="136989" y="396848"/>
                  </a:lnTo>
                  <a:lnTo>
                    <a:pt x="95666" y="377286"/>
                  </a:lnTo>
                  <a:lnTo>
                    <a:pt x="58684" y="347943"/>
                  </a:lnTo>
                  <a:lnTo>
                    <a:pt x="29342" y="310961"/>
                  </a:lnTo>
                  <a:lnTo>
                    <a:pt x="9780" y="269639"/>
                  </a:lnTo>
                  <a:lnTo>
                    <a:pt x="0" y="225712"/>
                  </a:lnTo>
                  <a:lnTo>
                    <a:pt x="0" y="180916"/>
                  </a:lnTo>
                  <a:lnTo>
                    <a:pt x="9780" y="136989"/>
                  </a:lnTo>
                  <a:lnTo>
                    <a:pt x="29342" y="95666"/>
                  </a:lnTo>
                  <a:lnTo>
                    <a:pt x="58684" y="58684"/>
                  </a:lnTo>
                  <a:lnTo>
                    <a:pt x="95666" y="29342"/>
                  </a:lnTo>
                  <a:lnTo>
                    <a:pt x="136989" y="9780"/>
                  </a:lnTo>
                  <a:lnTo>
                    <a:pt x="180916" y="0"/>
                  </a:lnTo>
                  <a:lnTo>
                    <a:pt x="225712" y="0"/>
                  </a:lnTo>
                  <a:lnTo>
                    <a:pt x="269639" y="9780"/>
                  </a:lnTo>
                  <a:lnTo>
                    <a:pt x="310961" y="29342"/>
                  </a:lnTo>
                  <a:lnTo>
                    <a:pt x="347943" y="58684"/>
                  </a:lnTo>
                  <a:close/>
                </a:path>
              </a:pathLst>
            </a:custGeom>
            <a:ln w="28575">
              <a:solidFill>
                <a:srgbClr val="000000"/>
              </a:solidFill>
            </a:ln>
          </p:spPr>
          <p:txBody>
            <a:bodyPr wrap="square" lIns="0" tIns="0" rIns="0" bIns="0" rtlCol="0"/>
            <a:lstStyle/>
            <a:p>
              <a:endParaRPr/>
            </a:p>
          </p:txBody>
        </p:sp>
        <p:sp>
          <p:nvSpPr>
            <p:cNvPr id="29" name="object 29"/>
            <p:cNvSpPr/>
            <p:nvPr/>
          </p:nvSpPr>
          <p:spPr>
            <a:xfrm>
              <a:off x="9650548" y="4926148"/>
              <a:ext cx="407034" cy="407034"/>
            </a:xfrm>
            <a:custGeom>
              <a:avLst/>
              <a:gdLst/>
              <a:ahLst/>
              <a:cxnLst/>
              <a:rect l="l" t="t" r="r" b="b"/>
              <a:pathLst>
                <a:path w="407034" h="407035">
                  <a:moveTo>
                    <a:pt x="225712" y="0"/>
                  </a:moveTo>
                  <a:lnTo>
                    <a:pt x="180916" y="0"/>
                  </a:lnTo>
                  <a:lnTo>
                    <a:pt x="136989" y="9780"/>
                  </a:lnTo>
                  <a:lnTo>
                    <a:pt x="95666" y="29342"/>
                  </a:lnTo>
                  <a:lnTo>
                    <a:pt x="58684" y="58684"/>
                  </a:lnTo>
                  <a:lnTo>
                    <a:pt x="29342" y="95666"/>
                  </a:lnTo>
                  <a:lnTo>
                    <a:pt x="9780" y="136989"/>
                  </a:lnTo>
                  <a:lnTo>
                    <a:pt x="0" y="180916"/>
                  </a:lnTo>
                  <a:lnTo>
                    <a:pt x="0" y="225712"/>
                  </a:lnTo>
                  <a:lnTo>
                    <a:pt x="9780" y="269639"/>
                  </a:lnTo>
                  <a:lnTo>
                    <a:pt x="29342" y="310961"/>
                  </a:lnTo>
                  <a:lnTo>
                    <a:pt x="58684" y="347943"/>
                  </a:lnTo>
                  <a:lnTo>
                    <a:pt x="95666" y="377286"/>
                  </a:lnTo>
                  <a:lnTo>
                    <a:pt x="136989" y="396847"/>
                  </a:lnTo>
                  <a:lnTo>
                    <a:pt x="180916" y="406628"/>
                  </a:lnTo>
                  <a:lnTo>
                    <a:pt x="225712" y="406628"/>
                  </a:lnTo>
                  <a:lnTo>
                    <a:pt x="269639" y="396847"/>
                  </a:lnTo>
                  <a:lnTo>
                    <a:pt x="310961" y="377286"/>
                  </a:lnTo>
                  <a:lnTo>
                    <a:pt x="347943" y="347943"/>
                  </a:lnTo>
                  <a:lnTo>
                    <a:pt x="377286" y="310961"/>
                  </a:lnTo>
                  <a:lnTo>
                    <a:pt x="396847" y="269639"/>
                  </a:lnTo>
                  <a:lnTo>
                    <a:pt x="406628" y="225712"/>
                  </a:lnTo>
                  <a:lnTo>
                    <a:pt x="406628" y="180916"/>
                  </a:lnTo>
                  <a:lnTo>
                    <a:pt x="396847" y="136989"/>
                  </a:lnTo>
                  <a:lnTo>
                    <a:pt x="377286" y="95666"/>
                  </a:lnTo>
                  <a:lnTo>
                    <a:pt x="347943" y="58684"/>
                  </a:lnTo>
                  <a:lnTo>
                    <a:pt x="310961" y="29342"/>
                  </a:lnTo>
                  <a:lnTo>
                    <a:pt x="269639" y="9780"/>
                  </a:lnTo>
                  <a:lnTo>
                    <a:pt x="225712" y="0"/>
                  </a:lnTo>
                  <a:close/>
                </a:path>
              </a:pathLst>
            </a:custGeom>
            <a:solidFill>
              <a:srgbClr val="C00000"/>
            </a:solidFill>
          </p:spPr>
          <p:txBody>
            <a:bodyPr wrap="square" lIns="0" tIns="0" rIns="0" bIns="0" rtlCol="0"/>
            <a:lstStyle/>
            <a:p>
              <a:endParaRPr/>
            </a:p>
          </p:txBody>
        </p:sp>
        <p:sp>
          <p:nvSpPr>
            <p:cNvPr id="30" name="object 30"/>
            <p:cNvSpPr/>
            <p:nvPr/>
          </p:nvSpPr>
          <p:spPr>
            <a:xfrm>
              <a:off x="9650549" y="4926149"/>
              <a:ext cx="407034" cy="407034"/>
            </a:xfrm>
            <a:custGeom>
              <a:avLst/>
              <a:gdLst/>
              <a:ahLst/>
              <a:cxnLst/>
              <a:rect l="l" t="t" r="r" b="b"/>
              <a:pathLst>
                <a:path w="407034" h="407035">
                  <a:moveTo>
                    <a:pt x="347943" y="58684"/>
                  </a:moveTo>
                  <a:lnTo>
                    <a:pt x="377286" y="95666"/>
                  </a:lnTo>
                  <a:lnTo>
                    <a:pt x="396847" y="136989"/>
                  </a:lnTo>
                  <a:lnTo>
                    <a:pt x="406628" y="180916"/>
                  </a:lnTo>
                  <a:lnTo>
                    <a:pt x="406628" y="225712"/>
                  </a:lnTo>
                  <a:lnTo>
                    <a:pt x="396847" y="269639"/>
                  </a:lnTo>
                  <a:lnTo>
                    <a:pt x="377286" y="310961"/>
                  </a:lnTo>
                  <a:lnTo>
                    <a:pt x="347943" y="347943"/>
                  </a:lnTo>
                  <a:lnTo>
                    <a:pt x="310961" y="377286"/>
                  </a:lnTo>
                  <a:lnTo>
                    <a:pt x="269639" y="396848"/>
                  </a:lnTo>
                  <a:lnTo>
                    <a:pt x="225712" y="406628"/>
                  </a:lnTo>
                  <a:lnTo>
                    <a:pt x="180916" y="406628"/>
                  </a:lnTo>
                  <a:lnTo>
                    <a:pt x="136989" y="396848"/>
                  </a:lnTo>
                  <a:lnTo>
                    <a:pt x="95666" y="377286"/>
                  </a:lnTo>
                  <a:lnTo>
                    <a:pt x="58684" y="347943"/>
                  </a:lnTo>
                  <a:lnTo>
                    <a:pt x="29342" y="310961"/>
                  </a:lnTo>
                  <a:lnTo>
                    <a:pt x="9780" y="269639"/>
                  </a:lnTo>
                  <a:lnTo>
                    <a:pt x="0" y="225712"/>
                  </a:lnTo>
                  <a:lnTo>
                    <a:pt x="0" y="180916"/>
                  </a:lnTo>
                  <a:lnTo>
                    <a:pt x="9780" y="136989"/>
                  </a:lnTo>
                  <a:lnTo>
                    <a:pt x="29342" y="95666"/>
                  </a:lnTo>
                  <a:lnTo>
                    <a:pt x="58684" y="58684"/>
                  </a:lnTo>
                  <a:lnTo>
                    <a:pt x="95666" y="29342"/>
                  </a:lnTo>
                  <a:lnTo>
                    <a:pt x="136989" y="9780"/>
                  </a:lnTo>
                  <a:lnTo>
                    <a:pt x="180916" y="0"/>
                  </a:lnTo>
                  <a:lnTo>
                    <a:pt x="225712" y="0"/>
                  </a:lnTo>
                  <a:lnTo>
                    <a:pt x="269639" y="9780"/>
                  </a:lnTo>
                  <a:lnTo>
                    <a:pt x="310961" y="29342"/>
                  </a:lnTo>
                  <a:lnTo>
                    <a:pt x="347943" y="58684"/>
                  </a:lnTo>
                  <a:close/>
                </a:path>
              </a:pathLst>
            </a:custGeom>
            <a:ln w="28575">
              <a:solidFill>
                <a:srgbClr val="000000"/>
              </a:solidFill>
            </a:ln>
          </p:spPr>
          <p:txBody>
            <a:bodyPr wrap="square" lIns="0" tIns="0" rIns="0" bIns="0" rtlCol="0"/>
            <a:lstStyle/>
            <a:p>
              <a:endParaRPr/>
            </a:p>
          </p:txBody>
        </p:sp>
        <p:sp>
          <p:nvSpPr>
            <p:cNvPr id="31" name="object 31"/>
            <p:cNvSpPr/>
            <p:nvPr/>
          </p:nvSpPr>
          <p:spPr>
            <a:xfrm>
              <a:off x="9240251" y="5129462"/>
              <a:ext cx="409575" cy="0"/>
            </a:xfrm>
            <a:custGeom>
              <a:avLst/>
              <a:gdLst/>
              <a:ahLst/>
              <a:cxnLst/>
              <a:rect l="l" t="t" r="r" b="b"/>
              <a:pathLst>
                <a:path w="409575">
                  <a:moveTo>
                    <a:pt x="0" y="0"/>
                  </a:moveTo>
                  <a:lnTo>
                    <a:pt x="409072" y="0"/>
                  </a:lnTo>
                </a:path>
              </a:pathLst>
            </a:custGeom>
            <a:ln w="19050">
              <a:solidFill>
                <a:srgbClr val="000000"/>
              </a:solidFill>
            </a:ln>
          </p:spPr>
          <p:txBody>
            <a:bodyPr wrap="square" lIns="0" tIns="0" rIns="0" bIns="0" rtlCol="0"/>
            <a:lstStyle/>
            <a:p>
              <a:endParaRPr/>
            </a:p>
          </p:txBody>
        </p:sp>
        <p:pic>
          <p:nvPicPr>
            <p:cNvPr id="32" name="object 32"/>
            <p:cNvPicPr/>
            <p:nvPr/>
          </p:nvPicPr>
          <p:blipFill>
            <a:blip r:embed="rId2" cstate="print"/>
            <a:stretch>
              <a:fillRect/>
            </a:stretch>
          </p:blipFill>
          <p:spPr>
            <a:xfrm>
              <a:off x="9397781" y="4882122"/>
              <a:ext cx="115527" cy="162456"/>
            </a:xfrm>
            <a:prstGeom prst="rect">
              <a:avLst/>
            </a:prstGeom>
          </p:spPr>
        </p:pic>
      </p:grpSp>
      <p:grpSp>
        <p:nvGrpSpPr>
          <p:cNvPr id="33" name="object 33"/>
          <p:cNvGrpSpPr/>
          <p:nvPr/>
        </p:nvGrpSpPr>
        <p:grpSpPr>
          <a:xfrm>
            <a:off x="7594431" y="3595437"/>
            <a:ext cx="1032510" cy="1534160"/>
            <a:chOff x="7594431" y="3595437"/>
            <a:chExt cx="1032510" cy="1534160"/>
          </a:xfrm>
        </p:grpSpPr>
        <p:sp>
          <p:nvSpPr>
            <p:cNvPr id="34" name="object 34"/>
            <p:cNvSpPr/>
            <p:nvPr/>
          </p:nvSpPr>
          <p:spPr>
            <a:xfrm>
              <a:off x="7603956" y="4138771"/>
              <a:ext cx="894715" cy="224154"/>
            </a:xfrm>
            <a:custGeom>
              <a:avLst/>
              <a:gdLst/>
              <a:ahLst/>
              <a:cxnLst/>
              <a:rect l="l" t="t" r="r" b="b"/>
              <a:pathLst>
                <a:path w="894715" h="224154">
                  <a:moveTo>
                    <a:pt x="0" y="223677"/>
                  </a:moveTo>
                  <a:lnTo>
                    <a:pt x="885471" y="2310"/>
                  </a:lnTo>
                  <a:lnTo>
                    <a:pt x="894711" y="0"/>
                  </a:lnTo>
                </a:path>
              </a:pathLst>
            </a:custGeom>
            <a:ln w="19049">
              <a:solidFill>
                <a:srgbClr val="000000"/>
              </a:solidFill>
            </a:ln>
          </p:spPr>
          <p:txBody>
            <a:bodyPr wrap="square" lIns="0" tIns="0" rIns="0" bIns="0" rtlCol="0"/>
            <a:lstStyle/>
            <a:p>
              <a:endParaRPr/>
            </a:p>
          </p:txBody>
        </p:sp>
        <p:sp>
          <p:nvSpPr>
            <p:cNvPr id="35" name="object 35"/>
            <p:cNvSpPr/>
            <p:nvPr/>
          </p:nvSpPr>
          <p:spPr>
            <a:xfrm>
              <a:off x="8487293" y="4075812"/>
              <a:ext cx="139700" cy="124460"/>
            </a:xfrm>
            <a:custGeom>
              <a:avLst/>
              <a:gdLst/>
              <a:ahLst/>
              <a:cxnLst/>
              <a:rect l="l" t="t" r="r" b="b"/>
              <a:pathLst>
                <a:path w="139700" h="124460">
                  <a:moveTo>
                    <a:pt x="0" y="0"/>
                  </a:moveTo>
                  <a:lnTo>
                    <a:pt x="30966" y="123865"/>
                  </a:lnTo>
                  <a:lnTo>
                    <a:pt x="139348" y="30966"/>
                  </a:lnTo>
                  <a:lnTo>
                    <a:pt x="0" y="0"/>
                  </a:lnTo>
                  <a:close/>
                </a:path>
              </a:pathLst>
            </a:custGeom>
            <a:solidFill>
              <a:srgbClr val="000000"/>
            </a:solidFill>
          </p:spPr>
          <p:txBody>
            <a:bodyPr wrap="square" lIns="0" tIns="0" rIns="0" bIns="0" rtlCol="0"/>
            <a:lstStyle/>
            <a:p>
              <a:endParaRPr/>
            </a:p>
          </p:txBody>
        </p:sp>
        <p:sp>
          <p:nvSpPr>
            <p:cNvPr id="36" name="object 36"/>
            <p:cNvSpPr/>
            <p:nvPr/>
          </p:nvSpPr>
          <p:spPr>
            <a:xfrm>
              <a:off x="7603957" y="3674583"/>
              <a:ext cx="917575" cy="688340"/>
            </a:xfrm>
            <a:custGeom>
              <a:avLst/>
              <a:gdLst/>
              <a:ahLst/>
              <a:cxnLst/>
              <a:rect l="l" t="t" r="r" b="b"/>
              <a:pathLst>
                <a:path w="917575" h="688339">
                  <a:moveTo>
                    <a:pt x="0" y="687866"/>
                  </a:moveTo>
                  <a:lnTo>
                    <a:pt x="909535" y="5715"/>
                  </a:lnTo>
                  <a:lnTo>
                    <a:pt x="917155" y="0"/>
                  </a:lnTo>
                </a:path>
              </a:pathLst>
            </a:custGeom>
            <a:ln w="19050">
              <a:solidFill>
                <a:srgbClr val="000000"/>
              </a:solidFill>
            </a:ln>
          </p:spPr>
          <p:txBody>
            <a:bodyPr wrap="square" lIns="0" tIns="0" rIns="0" bIns="0" rtlCol="0"/>
            <a:lstStyle/>
            <a:p>
              <a:endParaRPr/>
            </a:p>
          </p:txBody>
        </p:sp>
        <p:sp>
          <p:nvSpPr>
            <p:cNvPr id="37" name="object 37"/>
            <p:cNvSpPr/>
            <p:nvPr/>
          </p:nvSpPr>
          <p:spPr>
            <a:xfrm>
              <a:off x="8486197" y="3595437"/>
              <a:ext cx="140970" cy="128270"/>
            </a:xfrm>
            <a:custGeom>
              <a:avLst/>
              <a:gdLst/>
              <a:ahLst/>
              <a:cxnLst/>
              <a:rect l="l" t="t" r="r" b="b"/>
              <a:pathLst>
                <a:path w="140970" h="128270">
                  <a:moveTo>
                    <a:pt x="140444" y="0"/>
                  </a:moveTo>
                  <a:lnTo>
                    <a:pt x="0" y="25534"/>
                  </a:lnTo>
                  <a:lnTo>
                    <a:pt x="76606" y="127676"/>
                  </a:lnTo>
                  <a:lnTo>
                    <a:pt x="140444" y="0"/>
                  </a:lnTo>
                  <a:close/>
                </a:path>
              </a:pathLst>
            </a:custGeom>
            <a:solidFill>
              <a:srgbClr val="000000"/>
            </a:solidFill>
          </p:spPr>
          <p:txBody>
            <a:bodyPr wrap="square" lIns="0" tIns="0" rIns="0" bIns="0" rtlCol="0"/>
            <a:lstStyle/>
            <a:p>
              <a:endParaRPr/>
            </a:p>
          </p:txBody>
        </p:sp>
        <p:sp>
          <p:nvSpPr>
            <p:cNvPr id="38" name="object 38"/>
            <p:cNvSpPr/>
            <p:nvPr/>
          </p:nvSpPr>
          <p:spPr>
            <a:xfrm>
              <a:off x="7603957" y="4362449"/>
              <a:ext cx="917575" cy="688340"/>
            </a:xfrm>
            <a:custGeom>
              <a:avLst/>
              <a:gdLst/>
              <a:ahLst/>
              <a:cxnLst/>
              <a:rect l="l" t="t" r="r" b="b"/>
              <a:pathLst>
                <a:path w="917575" h="688339">
                  <a:moveTo>
                    <a:pt x="0" y="0"/>
                  </a:moveTo>
                  <a:lnTo>
                    <a:pt x="909535" y="682151"/>
                  </a:lnTo>
                  <a:lnTo>
                    <a:pt x="917155" y="687866"/>
                  </a:lnTo>
                </a:path>
              </a:pathLst>
            </a:custGeom>
            <a:ln w="19050">
              <a:solidFill>
                <a:srgbClr val="000000"/>
              </a:solidFill>
            </a:ln>
          </p:spPr>
          <p:txBody>
            <a:bodyPr wrap="square" lIns="0" tIns="0" rIns="0" bIns="0" rtlCol="0"/>
            <a:lstStyle/>
            <a:p>
              <a:endParaRPr/>
            </a:p>
          </p:txBody>
        </p:sp>
        <p:sp>
          <p:nvSpPr>
            <p:cNvPr id="39" name="object 39"/>
            <p:cNvSpPr/>
            <p:nvPr/>
          </p:nvSpPr>
          <p:spPr>
            <a:xfrm>
              <a:off x="8486197" y="5001785"/>
              <a:ext cx="140970" cy="128270"/>
            </a:xfrm>
            <a:custGeom>
              <a:avLst/>
              <a:gdLst/>
              <a:ahLst/>
              <a:cxnLst/>
              <a:rect l="l" t="t" r="r" b="b"/>
              <a:pathLst>
                <a:path w="140970" h="128270">
                  <a:moveTo>
                    <a:pt x="76606" y="0"/>
                  </a:moveTo>
                  <a:lnTo>
                    <a:pt x="0" y="102141"/>
                  </a:lnTo>
                  <a:lnTo>
                    <a:pt x="140444" y="127676"/>
                  </a:lnTo>
                  <a:lnTo>
                    <a:pt x="76606" y="0"/>
                  </a:lnTo>
                  <a:close/>
                </a:path>
              </a:pathLst>
            </a:custGeom>
            <a:solidFill>
              <a:srgbClr val="000000"/>
            </a:solidFill>
          </p:spPr>
          <p:txBody>
            <a:bodyPr wrap="square" lIns="0" tIns="0" rIns="0" bIns="0" rtlCol="0"/>
            <a:lstStyle/>
            <a:p>
              <a:endParaRPr/>
            </a:p>
          </p:txBody>
        </p:sp>
        <p:sp>
          <p:nvSpPr>
            <p:cNvPr id="40" name="object 40"/>
            <p:cNvSpPr/>
            <p:nvPr/>
          </p:nvSpPr>
          <p:spPr>
            <a:xfrm>
              <a:off x="7603956" y="4362449"/>
              <a:ext cx="894715" cy="224154"/>
            </a:xfrm>
            <a:custGeom>
              <a:avLst/>
              <a:gdLst/>
              <a:ahLst/>
              <a:cxnLst/>
              <a:rect l="l" t="t" r="r" b="b"/>
              <a:pathLst>
                <a:path w="894715" h="224154">
                  <a:moveTo>
                    <a:pt x="0" y="0"/>
                  </a:moveTo>
                  <a:lnTo>
                    <a:pt x="885471" y="221367"/>
                  </a:lnTo>
                  <a:lnTo>
                    <a:pt x="894711" y="223678"/>
                  </a:lnTo>
                </a:path>
              </a:pathLst>
            </a:custGeom>
            <a:ln w="19050">
              <a:solidFill>
                <a:srgbClr val="000000"/>
              </a:solidFill>
            </a:ln>
          </p:spPr>
          <p:txBody>
            <a:bodyPr wrap="square" lIns="0" tIns="0" rIns="0" bIns="0" rtlCol="0"/>
            <a:lstStyle/>
            <a:p>
              <a:endParaRPr/>
            </a:p>
          </p:txBody>
        </p:sp>
        <p:sp>
          <p:nvSpPr>
            <p:cNvPr id="41" name="object 41"/>
            <p:cNvSpPr/>
            <p:nvPr/>
          </p:nvSpPr>
          <p:spPr>
            <a:xfrm>
              <a:off x="8487293" y="4525221"/>
              <a:ext cx="139700" cy="124460"/>
            </a:xfrm>
            <a:custGeom>
              <a:avLst/>
              <a:gdLst/>
              <a:ahLst/>
              <a:cxnLst/>
              <a:rect l="l" t="t" r="r" b="b"/>
              <a:pathLst>
                <a:path w="139700" h="124460">
                  <a:moveTo>
                    <a:pt x="30966" y="0"/>
                  </a:moveTo>
                  <a:lnTo>
                    <a:pt x="0" y="123865"/>
                  </a:lnTo>
                  <a:lnTo>
                    <a:pt x="139348" y="92899"/>
                  </a:lnTo>
                  <a:lnTo>
                    <a:pt x="30966" y="0"/>
                  </a:lnTo>
                  <a:close/>
                </a:path>
              </a:pathLst>
            </a:custGeom>
            <a:solidFill>
              <a:srgbClr val="000000"/>
            </a:solidFill>
          </p:spPr>
          <p:txBody>
            <a:bodyPr wrap="square" lIns="0" tIns="0" rIns="0" bIns="0" rtlCol="0"/>
            <a:lstStyle/>
            <a:p>
              <a:endParaRPr/>
            </a:p>
          </p:txBody>
        </p:sp>
      </p:grpSp>
      <p:grpSp>
        <p:nvGrpSpPr>
          <p:cNvPr id="42" name="object 42"/>
          <p:cNvGrpSpPr/>
          <p:nvPr/>
        </p:nvGrpSpPr>
        <p:grpSpPr>
          <a:xfrm>
            <a:off x="8818113" y="3348096"/>
            <a:ext cx="1253490" cy="465455"/>
            <a:chOff x="8818113" y="3348096"/>
            <a:chExt cx="1253490" cy="465455"/>
          </a:xfrm>
        </p:grpSpPr>
        <p:sp>
          <p:nvSpPr>
            <p:cNvPr id="43" name="object 43"/>
            <p:cNvSpPr/>
            <p:nvPr/>
          </p:nvSpPr>
          <p:spPr>
            <a:xfrm>
              <a:off x="8832400" y="3392122"/>
              <a:ext cx="407034" cy="407034"/>
            </a:xfrm>
            <a:custGeom>
              <a:avLst/>
              <a:gdLst/>
              <a:ahLst/>
              <a:cxnLst/>
              <a:rect l="l" t="t" r="r" b="b"/>
              <a:pathLst>
                <a:path w="407034" h="407035">
                  <a:moveTo>
                    <a:pt x="225712" y="0"/>
                  </a:moveTo>
                  <a:lnTo>
                    <a:pt x="180916" y="0"/>
                  </a:lnTo>
                  <a:lnTo>
                    <a:pt x="136989" y="9780"/>
                  </a:lnTo>
                  <a:lnTo>
                    <a:pt x="95666" y="29342"/>
                  </a:lnTo>
                  <a:lnTo>
                    <a:pt x="58684" y="58684"/>
                  </a:lnTo>
                  <a:lnTo>
                    <a:pt x="29342" y="95666"/>
                  </a:lnTo>
                  <a:lnTo>
                    <a:pt x="9780" y="136989"/>
                  </a:lnTo>
                  <a:lnTo>
                    <a:pt x="0" y="180916"/>
                  </a:lnTo>
                  <a:lnTo>
                    <a:pt x="0" y="225712"/>
                  </a:lnTo>
                  <a:lnTo>
                    <a:pt x="9780" y="269639"/>
                  </a:lnTo>
                  <a:lnTo>
                    <a:pt x="29342" y="310961"/>
                  </a:lnTo>
                  <a:lnTo>
                    <a:pt x="58684" y="347943"/>
                  </a:lnTo>
                  <a:lnTo>
                    <a:pt x="95666" y="377286"/>
                  </a:lnTo>
                  <a:lnTo>
                    <a:pt x="136989" y="396847"/>
                  </a:lnTo>
                  <a:lnTo>
                    <a:pt x="180916" y="406628"/>
                  </a:lnTo>
                  <a:lnTo>
                    <a:pt x="225712" y="406628"/>
                  </a:lnTo>
                  <a:lnTo>
                    <a:pt x="269639" y="396847"/>
                  </a:lnTo>
                  <a:lnTo>
                    <a:pt x="310961" y="377286"/>
                  </a:lnTo>
                  <a:lnTo>
                    <a:pt x="347943" y="347943"/>
                  </a:lnTo>
                  <a:lnTo>
                    <a:pt x="377286" y="310961"/>
                  </a:lnTo>
                  <a:lnTo>
                    <a:pt x="396847" y="269639"/>
                  </a:lnTo>
                  <a:lnTo>
                    <a:pt x="406628" y="225712"/>
                  </a:lnTo>
                  <a:lnTo>
                    <a:pt x="406628" y="180916"/>
                  </a:lnTo>
                  <a:lnTo>
                    <a:pt x="396847" y="136989"/>
                  </a:lnTo>
                  <a:lnTo>
                    <a:pt x="377286" y="95666"/>
                  </a:lnTo>
                  <a:lnTo>
                    <a:pt x="347943" y="58684"/>
                  </a:lnTo>
                  <a:lnTo>
                    <a:pt x="310961" y="29342"/>
                  </a:lnTo>
                  <a:lnTo>
                    <a:pt x="269639" y="9780"/>
                  </a:lnTo>
                  <a:lnTo>
                    <a:pt x="225712" y="0"/>
                  </a:lnTo>
                  <a:close/>
                </a:path>
              </a:pathLst>
            </a:custGeom>
            <a:solidFill>
              <a:srgbClr val="C00000"/>
            </a:solidFill>
          </p:spPr>
          <p:txBody>
            <a:bodyPr wrap="square" lIns="0" tIns="0" rIns="0" bIns="0" rtlCol="0"/>
            <a:lstStyle/>
            <a:p>
              <a:endParaRPr/>
            </a:p>
          </p:txBody>
        </p:sp>
        <p:sp>
          <p:nvSpPr>
            <p:cNvPr id="44" name="object 44"/>
            <p:cNvSpPr/>
            <p:nvPr/>
          </p:nvSpPr>
          <p:spPr>
            <a:xfrm>
              <a:off x="8832401" y="3392121"/>
              <a:ext cx="407034" cy="407034"/>
            </a:xfrm>
            <a:custGeom>
              <a:avLst/>
              <a:gdLst/>
              <a:ahLst/>
              <a:cxnLst/>
              <a:rect l="l" t="t" r="r" b="b"/>
              <a:pathLst>
                <a:path w="407034" h="407035">
                  <a:moveTo>
                    <a:pt x="347943" y="58684"/>
                  </a:moveTo>
                  <a:lnTo>
                    <a:pt x="377286" y="95666"/>
                  </a:lnTo>
                  <a:lnTo>
                    <a:pt x="396847" y="136989"/>
                  </a:lnTo>
                  <a:lnTo>
                    <a:pt x="406628" y="180916"/>
                  </a:lnTo>
                  <a:lnTo>
                    <a:pt x="406628" y="225712"/>
                  </a:lnTo>
                  <a:lnTo>
                    <a:pt x="396847" y="269639"/>
                  </a:lnTo>
                  <a:lnTo>
                    <a:pt x="377286" y="310961"/>
                  </a:lnTo>
                  <a:lnTo>
                    <a:pt x="347943" y="347943"/>
                  </a:lnTo>
                  <a:lnTo>
                    <a:pt x="310961" y="377286"/>
                  </a:lnTo>
                  <a:lnTo>
                    <a:pt x="269639" y="396848"/>
                  </a:lnTo>
                  <a:lnTo>
                    <a:pt x="225712" y="406628"/>
                  </a:lnTo>
                  <a:lnTo>
                    <a:pt x="180916" y="406628"/>
                  </a:lnTo>
                  <a:lnTo>
                    <a:pt x="136989" y="396848"/>
                  </a:lnTo>
                  <a:lnTo>
                    <a:pt x="95666" y="377286"/>
                  </a:lnTo>
                  <a:lnTo>
                    <a:pt x="58684" y="347943"/>
                  </a:lnTo>
                  <a:lnTo>
                    <a:pt x="29342" y="310961"/>
                  </a:lnTo>
                  <a:lnTo>
                    <a:pt x="9780" y="269639"/>
                  </a:lnTo>
                  <a:lnTo>
                    <a:pt x="0" y="225712"/>
                  </a:lnTo>
                  <a:lnTo>
                    <a:pt x="0" y="180916"/>
                  </a:lnTo>
                  <a:lnTo>
                    <a:pt x="9780" y="136989"/>
                  </a:lnTo>
                  <a:lnTo>
                    <a:pt x="29342" y="95666"/>
                  </a:lnTo>
                  <a:lnTo>
                    <a:pt x="58684" y="58684"/>
                  </a:lnTo>
                  <a:lnTo>
                    <a:pt x="95666" y="29342"/>
                  </a:lnTo>
                  <a:lnTo>
                    <a:pt x="136989" y="9780"/>
                  </a:lnTo>
                  <a:lnTo>
                    <a:pt x="180916" y="0"/>
                  </a:lnTo>
                  <a:lnTo>
                    <a:pt x="225712" y="0"/>
                  </a:lnTo>
                  <a:lnTo>
                    <a:pt x="269639" y="9780"/>
                  </a:lnTo>
                  <a:lnTo>
                    <a:pt x="310961" y="29342"/>
                  </a:lnTo>
                  <a:lnTo>
                    <a:pt x="347943" y="58684"/>
                  </a:lnTo>
                  <a:close/>
                </a:path>
              </a:pathLst>
            </a:custGeom>
            <a:ln w="28575">
              <a:solidFill>
                <a:srgbClr val="000000"/>
              </a:solidFill>
            </a:ln>
          </p:spPr>
          <p:txBody>
            <a:bodyPr wrap="square" lIns="0" tIns="0" rIns="0" bIns="0" rtlCol="0"/>
            <a:lstStyle/>
            <a:p>
              <a:endParaRPr/>
            </a:p>
          </p:txBody>
        </p:sp>
        <p:sp>
          <p:nvSpPr>
            <p:cNvPr id="45" name="object 45"/>
            <p:cNvSpPr/>
            <p:nvPr/>
          </p:nvSpPr>
          <p:spPr>
            <a:xfrm>
              <a:off x="9650548" y="3392122"/>
              <a:ext cx="407034" cy="407034"/>
            </a:xfrm>
            <a:custGeom>
              <a:avLst/>
              <a:gdLst/>
              <a:ahLst/>
              <a:cxnLst/>
              <a:rect l="l" t="t" r="r" b="b"/>
              <a:pathLst>
                <a:path w="407034" h="407035">
                  <a:moveTo>
                    <a:pt x="225712" y="0"/>
                  </a:moveTo>
                  <a:lnTo>
                    <a:pt x="180916" y="0"/>
                  </a:lnTo>
                  <a:lnTo>
                    <a:pt x="136989" y="9780"/>
                  </a:lnTo>
                  <a:lnTo>
                    <a:pt x="95666" y="29342"/>
                  </a:lnTo>
                  <a:lnTo>
                    <a:pt x="58684" y="58684"/>
                  </a:lnTo>
                  <a:lnTo>
                    <a:pt x="29342" y="95666"/>
                  </a:lnTo>
                  <a:lnTo>
                    <a:pt x="9780" y="136989"/>
                  </a:lnTo>
                  <a:lnTo>
                    <a:pt x="0" y="180916"/>
                  </a:lnTo>
                  <a:lnTo>
                    <a:pt x="0" y="225712"/>
                  </a:lnTo>
                  <a:lnTo>
                    <a:pt x="9780" y="269639"/>
                  </a:lnTo>
                  <a:lnTo>
                    <a:pt x="29342" y="310961"/>
                  </a:lnTo>
                  <a:lnTo>
                    <a:pt x="58684" y="347943"/>
                  </a:lnTo>
                  <a:lnTo>
                    <a:pt x="95666" y="377286"/>
                  </a:lnTo>
                  <a:lnTo>
                    <a:pt x="136989" y="396847"/>
                  </a:lnTo>
                  <a:lnTo>
                    <a:pt x="180916" y="406628"/>
                  </a:lnTo>
                  <a:lnTo>
                    <a:pt x="225712" y="406628"/>
                  </a:lnTo>
                  <a:lnTo>
                    <a:pt x="269639" y="396847"/>
                  </a:lnTo>
                  <a:lnTo>
                    <a:pt x="310961" y="377286"/>
                  </a:lnTo>
                  <a:lnTo>
                    <a:pt x="347943" y="347943"/>
                  </a:lnTo>
                  <a:lnTo>
                    <a:pt x="377286" y="310961"/>
                  </a:lnTo>
                  <a:lnTo>
                    <a:pt x="396847" y="269639"/>
                  </a:lnTo>
                  <a:lnTo>
                    <a:pt x="406628" y="225712"/>
                  </a:lnTo>
                  <a:lnTo>
                    <a:pt x="406628" y="180916"/>
                  </a:lnTo>
                  <a:lnTo>
                    <a:pt x="396847" y="136989"/>
                  </a:lnTo>
                  <a:lnTo>
                    <a:pt x="377286" y="95666"/>
                  </a:lnTo>
                  <a:lnTo>
                    <a:pt x="347943" y="58684"/>
                  </a:lnTo>
                  <a:lnTo>
                    <a:pt x="310961" y="29342"/>
                  </a:lnTo>
                  <a:lnTo>
                    <a:pt x="269639" y="9780"/>
                  </a:lnTo>
                  <a:lnTo>
                    <a:pt x="225712" y="0"/>
                  </a:lnTo>
                  <a:close/>
                </a:path>
              </a:pathLst>
            </a:custGeom>
            <a:solidFill>
              <a:srgbClr val="00B050"/>
            </a:solidFill>
          </p:spPr>
          <p:txBody>
            <a:bodyPr wrap="square" lIns="0" tIns="0" rIns="0" bIns="0" rtlCol="0"/>
            <a:lstStyle/>
            <a:p>
              <a:endParaRPr/>
            </a:p>
          </p:txBody>
        </p:sp>
        <p:sp>
          <p:nvSpPr>
            <p:cNvPr id="46" name="object 46"/>
            <p:cNvSpPr/>
            <p:nvPr/>
          </p:nvSpPr>
          <p:spPr>
            <a:xfrm>
              <a:off x="9650549" y="3392121"/>
              <a:ext cx="407034" cy="407034"/>
            </a:xfrm>
            <a:custGeom>
              <a:avLst/>
              <a:gdLst/>
              <a:ahLst/>
              <a:cxnLst/>
              <a:rect l="l" t="t" r="r" b="b"/>
              <a:pathLst>
                <a:path w="407034" h="407035">
                  <a:moveTo>
                    <a:pt x="347943" y="58684"/>
                  </a:moveTo>
                  <a:lnTo>
                    <a:pt x="377286" y="95666"/>
                  </a:lnTo>
                  <a:lnTo>
                    <a:pt x="396847" y="136989"/>
                  </a:lnTo>
                  <a:lnTo>
                    <a:pt x="406628" y="180916"/>
                  </a:lnTo>
                  <a:lnTo>
                    <a:pt x="406628" y="225712"/>
                  </a:lnTo>
                  <a:lnTo>
                    <a:pt x="396847" y="269639"/>
                  </a:lnTo>
                  <a:lnTo>
                    <a:pt x="377286" y="310961"/>
                  </a:lnTo>
                  <a:lnTo>
                    <a:pt x="347943" y="347943"/>
                  </a:lnTo>
                  <a:lnTo>
                    <a:pt x="310961" y="377286"/>
                  </a:lnTo>
                  <a:lnTo>
                    <a:pt x="269639" y="396848"/>
                  </a:lnTo>
                  <a:lnTo>
                    <a:pt x="225712" y="406628"/>
                  </a:lnTo>
                  <a:lnTo>
                    <a:pt x="180916" y="406628"/>
                  </a:lnTo>
                  <a:lnTo>
                    <a:pt x="136989" y="396848"/>
                  </a:lnTo>
                  <a:lnTo>
                    <a:pt x="95666" y="377286"/>
                  </a:lnTo>
                  <a:lnTo>
                    <a:pt x="58684" y="347943"/>
                  </a:lnTo>
                  <a:lnTo>
                    <a:pt x="29342" y="310961"/>
                  </a:lnTo>
                  <a:lnTo>
                    <a:pt x="9780" y="269639"/>
                  </a:lnTo>
                  <a:lnTo>
                    <a:pt x="0" y="225712"/>
                  </a:lnTo>
                  <a:lnTo>
                    <a:pt x="0" y="180916"/>
                  </a:lnTo>
                  <a:lnTo>
                    <a:pt x="9780" y="136989"/>
                  </a:lnTo>
                  <a:lnTo>
                    <a:pt x="29342" y="95666"/>
                  </a:lnTo>
                  <a:lnTo>
                    <a:pt x="58684" y="58684"/>
                  </a:lnTo>
                  <a:lnTo>
                    <a:pt x="95666" y="29342"/>
                  </a:lnTo>
                  <a:lnTo>
                    <a:pt x="136989" y="9780"/>
                  </a:lnTo>
                  <a:lnTo>
                    <a:pt x="180916" y="0"/>
                  </a:lnTo>
                  <a:lnTo>
                    <a:pt x="225712" y="0"/>
                  </a:lnTo>
                  <a:lnTo>
                    <a:pt x="269639" y="9780"/>
                  </a:lnTo>
                  <a:lnTo>
                    <a:pt x="310961" y="29342"/>
                  </a:lnTo>
                  <a:lnTo>
                    <a:pt x="347943" y="58684"/>
                  </a:lnTo>
                  <a:close/>
                </a:path>
              </a:pathLst>
            </a:custGeom>
            <a:ln w="28575">
              <a:solidFill>
                <a:srgbClr val="000000"/>
              </a:solidFill>
            </a:ln>
          </p:spPr>
          <p:txBody>
            <a:bodyPr wrap="square" lIns="0" tIns="0" rIns="0" bIns="0" rtlCol="0"/>
            <a:lstStyle/>
            <a:p>
              <a:endParaRPr/>
            </a:p>
          </p:txBody>
        </p:sp>
        <p:sp>
          <p:nvSpPr>
            <p:cNvPr id="47" name="object 47"/>
            <p:cNvSpPr/>
            <p:nvPr/>
          </p:nvSpPr>
          <p:spPr>
            <a:xfrm>
              <a:off x="9240251" y="3595435"/>
              <a:ext cx="409575" cy="0"/>
            </a:xfrm>
            <a:custGeom>
              <a:avLst/>
              <a:gdLst/>
              <a:ahLst/>
              <a:cxnLst/>
              <a:rect l="l" t="t" r="r" b="b"/>
              <a:pathLst>
                <a:path w="409575">
                  <a:moveTo>
                    <a:pt x="0" y="0"/>
                  </a:moveTo>
                  <a:lnTo>
                    <a:pt x="409072" y="0"/>
                  </a:lnTo>
                </a:path>
              </a:pathLst>
            </a:custGeom>
            <a:ln w="19050">
              <a:solidFill>
                <a:srgbClr val="000000"/>
              </a:solidFill>
            </a:ln>
          </p:spPr>
          <p:txBody>
            <a:bodyPr wrap="square" lIns="0" tIns="0" rIns="0" bIns="0" rtlCol="0"/>
            <a:lstStyle/>
            <a:p>
              <a:endParaRPr/>
            </a:p>
          </p:txBody>
        </p:sp>
        <p:pic>
          <p:nvPicPr>
            <p:cNvPr id="48" name="object 48"/>
            <p:cNvPicPr/>
            <p:nvPr/>
          </p:nvPicPr>
          <p:blipFill>
            <a:blip r:embed="rId2" cstate="print"/>
            <a:stretch>
              <a:fillRect/>
            </a:stretch>
          </p:blipFill>
          <p:spPr>
            <a:xfrm>
              <a:off x="9397781" y="3348096"/>
              <a:ext cx="115527" cy="162456"/>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269676" rIns="0" bIns="0" rtlCol="0">
            <a:spAutoFit/>
          </a:bodyPr>
          <a:lstStyle/>
          <a:p>
            <a:pPr marL="4540885">
              <a:lnSpc>
                <a:spcPct val="100000"/>
              </a:lnSpc>
              <a:spcBef>
                <a:spcPts val="100"/>
              </a:spcBef>
            </a:pPr>
            <a:r>
              <a:rPr dirty="0"/>
              <a:t>Hill</a:t>
            </a:r>
            <a:r>
              <a:rPr spc="-30" dirty="0"/>
              <a:t> </a:t>
            </a:r>
            <a:r>
              <a:rPr spc="-10" dirty="0"/>
              <a:t>Climbing</a:t>
            </a:r>
          </a:p>
        </p:txBody>
      </p:sp>
      <p:sp>
        <p:nvSpPr>
          <p:cNvPr id="4" name="object 4"/>
          <p:cNvSpPr txBox="1"/>
          <p:nvPr/>
        </p:nvSpPr>
        <p:spPr>
          <a:xfrm>
            <a:off x="609600" y="988752"/>
            <a:ext cx="10825508" cy="5407827"/>
          </a:xfrm>
          <a:prstGeom prst="rect">
            <a:avLst/>
          </a:prstGeom>
        </p:spPr>
        <p:txBody>
          <a:bodyPr vert="horz" wrap="square" lIns="0" tIns="75565" rIns="0" bIns="0" rtlCol="0">
            <a:spAutoFit/>
          </a:bodyPr>
          <a:lstStyle/>
          <a:p>
            <a:pPr marL="12700">
              <a:lnSpc>
                <a:spcPct val="100000"/>
              </a:lnSpc>
              <a:spcBef>
                <a:spcPts val="595"/>
              </a:spcBef>
            </a:pPr>
            <a:r>
              <a:rPr sz="2800" dirty="0">
                <a:solidFill>
                  <a:srgbClr val="333399"/>
                </a:solidFill>
                <a:latin typeface="Calibri"/>
                <a:cs typeface="Calibri"/>
              </a:rPr>
              <a:t>Simple,</a:t>
            </a:r>
            <a:r>
              <a:rPr sz="2800" spc="-85" dirty="0">
                <a:solidFill>
                  <a:srgbClr val="333399"/>
                </a:solidFill>
                <a:latin typeface="Calibri"/>
                <a:cs typeface="Calibri"/>
              </a:rPr>
              <a:t> </a:t>
            </a:r>
            <a:r>
              <a:rPr sz="2800" dirty="0">
                <a:solidFill>
                  <a:srgbClr val="333399"/>
                </a:solidFill>
                <a:latin typeface="Calibri"/>
                <a:cs typeface="Calibri"/>
              </a:rPr>
              <a:t>general</a:t>
            </a:r>
            <a:r>
              <a:rPr sz="2800" spc="-85" dirty="0">
                <a:solidFill>
                  <a:srgbClr val="333399"/>
                </a:solidFill>
                <a:latin typeface="Calibri"/>
                <a:cs typeface="Calibri"/>
              </a:rPr>
              <a:t> </a:t>
            </a:r>
            <a:r>
              <a:rPr sz="2800" spc="-20" dirty="0">
                <a:solidFill>
                  <a:srgbClr val="333399"/>
                </a:solidFill>
                <a:latin typeface="Calibri"/>
                <a:cs typeface="Calibri"/>
              </a:rPr>
              <a:t>idea:</a:t>
            </a:r>
            <a:endParaRPr sz="2800" dirty="0">
              <a:latin typeface="Calibri"/>
              <a:cs typeface="Calibri"/>
            </a:endParaRPr>
          </a:p>
          <a:p>
            <a:pPr algn="l" rtl="0" fontAlgn="base"/>
            <a:r>
              <a:rPr lang="en-US" sz="2400" b="0" i="0" dirty="0">
                <a:solidFill>
                  <a:srgbClr val="273239"/>
                </a:solidFill>
                <a:effectLst/>
                <a:latin typeface="+mj-lt"/>
              </a:rPr>
              <a:t>Hill climbing is a </a:t>
            </a:r>
            <a:r>
              <a:rPr lang="en-US" sz="2400" b="0" i="0" u="sng" dirty="0">
                <a:solidFill>
                  <a:srgbClr val="357960"/>
                </a:solidFill>
                <a:effectLst/>
                <a:latin typeface="+mj-lt"/>
                <a:hlinkClick r:id="rId2"/>
              </a:rPr>
              <a:t>heuristic search algorithm</a:t>
            </a:r>
            <a:r>
              <a:rPr lang="en-US" sz="2400" b="0" i="0" u="sng" dirty="0">
                <a:solidFill>
                  <a:srgbClr val="273239"/>
                </a:solidFill>
                <a:effectLst/>
                <a:latin typeface="+mj-lt"/>
              </a:rPr>
              <a:t> </a:t>
            </a:r>
            <a:r>
              <a:rPr lang="en-US" sz="2400" b="0" i="0" dirty="0">
                <a:solidFill>
                  <a:srgbClr val="273239"/>
                </a:solidFill>
                <a:effectLst/>
                <a:latin typeface="+mj-lt"/>
              </a:rPr>
              <a:t>that belongs to the family of local search methods. It is designed to solve problems where the goal is to find an optimal (or near-optimal) solution by iteratively moving from the current state to a better neighboring state, according to a heuristic or evaluation function.</a:t>
            </a:r>
          </a:p>
          <a:p>
            <a:pPr algn="l" rtl="0" fontAlgn="base"/>
            <a:endParaRPr lang="en-US" sz="2400" b="0" i="0" dirty="0">
              <a:solidFill>
                <a:srgbClr val="273239"/>
              </a:solidFill>
              <a:effectLst/>
              <a:latin typeface="+mj-lt"/>
            </a:endParaRPr>
          </a:p>
          <a:p>
            <a:pPr marL="342900" lvl="2" indent="-342900" algn="l" fontAlgn="base">
              <a:buFont typeface="Wingdings" panose="05000000000000000000" pitchFamily="2" charset="2"/>
              <a:buChar char="§"/>
            </a:pPr>
            <a:r>
              <a:rPr lang="en-US" sz="2400" b="0" i="0" dirty="0">
                <a:solidFill>
                  <a:srgbClr val="273239"/>
                </a:solidFill>
                <a:effectLst/>
                <a:latin typeface="+mj-lt"/>
              </a:rPr>
              <a:t>It is an </a:t>
            </a:r>
            <a:r>
              <a:rPr lang="en-US" sz="2400" b="0" i="0" dirty="0" err="1">
                <a:solidFill>
                  <a:srgbClr val="273239"/>
                </a:solidFill>
                <a:effectLst/>
                <a:latin typeface="+mj-lt"/>
              </a:rPr>
              <a:t>optimisation</a:t>
            </a:r>
            <a:r>
              <a:rPr lang="en-US" sz="2400" b="0" i="0" dirty="0">
                <a:solidFill>
                  <a:srgbClr val="273239"/>
                </a:solidFill>
                <a:effectLst/>
                <a:latin typeface="+mj-lt"/>
              </a:rPr>
              <a:t> technique used in artificial intelligence (AI) to find solutions for a wide variety of problems.</a:t>
            </a:r>
          </a:p>
          <a:p>
            <a:pPr marL="342900" lvl="2" indent="-342900" algn="l" fontAlgn="base">
              <a:buFont typeface="Wingdings" panose="05000000000000000000" pitchFamily="2" charset="2"/>
              <a:buChar char="§"/>
            </a:pPr>
            <a:r>
              <a:rPr lang="en-US" sz="2400" b="0" i="0" dirty="0">
                <a:solidFill>
                  <a:srgbClr val="273239"/>
                </a:solidFill>
                <a:effectLst/>
                <a:latin typeface="+mj-lt"/>
              </a:rPr>
              <a:t>It operates on the principle of incrementally improving a solution by making local changes and evaluating their merit.</a:t>
            </a:r>
          </a:p>
          <a:p>
            <a:pPr marL="342900" lvl="2" indent="-342900" algn="l" fontAlgn="base">
              <a:buFont typeface="Wingdings" panose="05000000000000000000" pitchFamily="2" charset="2"/>
              <a:buChar char="§"/>
            </a:pPr>
            <a:r>
              <a:rPr lang="en-US" sz="2400" b="0" i="0" dirty="0">
                <a:solidFill>
                  <a:srgbClr val="273239"/>
                </a:solidFill>
                <a:effectLst/>
                <a:latin typeface="+mj-lt"/>
              </a:rPr>
              <a:t>Its simplicity, intuitive logic and adaptability to different problems make it a go-to method.</a:t>
            </a:r>
            <a:endParaRPr sz="2400" dirty="0">
              <a:latin typeface="Calibri"/>
              <a:cs typeface="Calibri"/>
            </a:endParaRPr>
          </a:p>
          <a:p>
            <a:pPr marL="12700">
              <a:lnSpc>
                <a:spcPct val="100000"/>
              </a:lnSpc>
            </a:pPr>
            <a:r>
              <a:rPr sz="2800" dirty="0">
                <a:solidFill>
                  <a:srgbClr val="333399"/>
                </a:solidFill>
                <a:latin typeface="Calibri"/>
                <a:cs typeface="Calibri"/>
              </a:rPr>
              <a:t>What’s</a:t>
            </a:r>
            <a:r>
              <a:rPr sz="2800" spc="-85" dirty="0">
                <a:solidFill>
                  <a:srgbClr val="333399"/>
                </a:solidFill>
                <a:latin typeface="Calibri"/>
                <a:cs typeface="Calibri"/>
              </a:rPr>
              <a:t> </a:t>
            </a:r>
            <a:r>
              <a:rPr sz="2800" dirty="0">
                <a:solidFill>
                  <a:srgbClr val="333399"/>
                </a:solidFill>
                <a:latin typeface="Calibri"/>
                <a:cs typeface="Calibri"/>
              </a:rPr>
              <a:t>bad</a:t>
            </a:r>
            <a:r>
              <a:rPr sz="2800" spc="-80" dirty="0">
                <a:solidFill>
                  <a:srgbClr val="333399"/>
                </a:solidFill>
                <a:latin typeface="Calibri"/>
                <a:cs typeface="Calibri"/>
              </a:rPr>
              <a:t> </a:t>
            </a:r>
            <a:r>
              <a:rPr sz="2800" dirty="0">
                <a:solidFill>
                  <a:srgbClr val="333399"/>
                </a:solidFill>
                <a:latin typeface="Calibri"/>
                <a:cs typeface="Calibri"/>
              </a:rPr>
              <a:t>about</a:t>
            </a:r>
            <a:r>
              <a:rPr sz="2800" spc="-70" dirty="0">
                <a:solidFill>
                  <a:srgbClr val="333399"/>
                </a:solidFill>
                <a:latin typeface="Calibri"/>
                <a:cs typeface="Calibri"/>
              </a:rPr>
              <a:t> </a:t>
            </a:r>
            <a:r>
              <a:rPr sz="2800" dirty="0">
                <a:solidFill>
                  <a:srgbClr val="333399"/>
                </a:solidFill>
                <a:latin typeface="Calibri"/>
                <a:cs typeface="Calibri"/>
              </a:rPr>
              <a:t>this</a:t>
            </a:r>
            <a:r>
              <a:rPr sz="2800" spc="-70" dirty="0">
                <a:solidFill>
                  <a:srgbClr val="333399"/>
                </a:solidFill>
                <a:latin typeface="Calibri"/>
                <a:cs typeface="Calibri"/>
              </a:rPr>
              <a:t> </a:t>
            </a:r>
            <a:r>
              <a:rPr sz="2800" spc="-10" dirty="0">
                <a:solidFill>
                  <a:srgbClr val="333399"/>
                </a:solidFill>
                <a:latin typeface="Calibri"/>
                <a:cs typeface="Calibri"/>
              </a:rPr>
              <a:t>approach?</a:t>
            </a:r>
            <a:endParaRPr sz="2800" dirty="0">
              <a:latin typeface="Calibri"/>
              <a:cs typeface="Calibri"/>
            </a:endParaRPr>
          </a:p>
          <a:p>
            <a:pPr marL="412115" marR="4015740">
              <a:lnSpc>
                <a:spcPct val="112500"/>
              </a:lnSpc>
              <a:spcBef>
                <a:spcPts val="70"/>
              </a:spcBef>
            </a:pPr>
            <a:r>
              <a:rPr sz="2400" spc="-10" dirty="0">
                <a:latin typeface="Calibri"/>
                <a:cs typeface="Calibri"/>
              </a:rPr>
              <a:t>Complete? Optimal?</a:t>
            </a:r>
            <a:endParaRPr sz="24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4CBB3-E5E1-36B5-86E7-749E0A68BC2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9910D60-3027-6309-0C37-EE0BB91D793E}"/>
              </a:ext>
            </a:extLst>
          </p:cNvPr>
          <p:cNvSpPr txBox="1">
            <a:spLocks noGrp="1"/>
          </p:cNvSpPr>
          <p:nvPr>
            <p:ph type="title"/>
          </p:nvPr>
        </p:nvSpPr>
        <p:spPr>
          <a:prstGeom prst="rect">
            <a:avLst/>
          </a:prstGeom>
        </p:spPr>
        <p:txBody>
          <a:bodyPr vert="horz" wrap="square" lIns="0" tIns="269676" rIns="0" bIns="0" rtlCol="0">
            <a:spAutoFit/>
          </a:bodyPr>
          <a:lstStyle/>
          <a:p>
            <a:pPr marL="4540885">
              <a:lnSpc>
                <a:spcPct val="100000"/>
              </a:lnSpc>
              <a:spcBef>
                <a:spcPts val="100"/>
              </a:spcBef>
            </a:pPr>
            <a:r>
              <a:rPr dirty="0"/>
              <a:t>Hill</a:t>
            </a:r>
            <a:r>
              <a:rPr spc="-30" dirty="0"/>
              <a:t> </a:t>
            </a:r>
            <a:r>
              <a:rPr spc="-10" dirty="0"/>
              <a:t>Climbing</a:t>
            </a:r>
          </a:p>
        </p:txBody>
      </p:sp>
      <p:pic>
        <p:nvPicPr>
          <p:cNvPr id="6" name="Picture 5">
            <a:extLst>
              <a:ext uri="{FF2B5EF4-FFF2-40B4-BE49-F238E27FC236}">
                <a16:creationId xmlns:a16="http://schemas.microsoft.com/office/drawing/2014/main" id="{5B0E705F-7575-3747-98C1-E7CEADEEF60C}"/>
              </a:ext>
            </a:extLst>
          </p:cNvPr>
          <p:cNvPicPr>
            <a:picLocks noChangeAspect="1"/>
          </p:cNvPicPr>
          <p:nvPr/>
        </p:nvPicPr>
        <p:blipFill>
          <a:blip r:embed="rId2"/>
          <a:stretch>
            <a:fillRect/>
          </a:stretch>
        </p:blipFill>
        <p:spPr>
          <a:xfrm>
            <a:off x="2286000" y="1676400"/>
            <a:ext cx="8458200" cy="4678926"/>
          </a:xfrm>
          <a:prstGeom prst="rect">
            <a:avLst/>
          </a:prstGeom>
        </p:spPr>
      </p:pic>
    </p:spTree>
    <p:extLst>
      <p:ext uri="{BB962C8B-B14F-4D97-AF65-F5344CB8AC3E}">
        <p14:creationId xmlns:p14="http://schemas.microsoft.com/office/powerpoint/2010/main" val="764905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269676" rIns="0" bIns="0" rtlCol="0">
            <a:spAutoFit/>
          </a:bodyPr>
          <a:lstStyle/>
          <a:p>
            <a:pPr marL="4540885">
              <a:lnSpc>
                <a:spcPct val="100000"/>
              </a:lnSpc>
              <a:spcBef>
                <a:spcPts val="100"/>
              </a:spcBef>
            </a:pPr>
            <a:r>
              <a:rPr dirty="0"/>
              <a:t>Hill</a:t>
            </a:r>
            <a:r>
              <a:rPr spc="-30" dirty="0"/>
              <a:t> </a:t>
            </a:r>
            <a:r>
              <a:rPr spc="-10" dirty="0"/>
              <a:t>Climbing</a:t>
            </a:r>
          </a:p>
        </p:txBody>
      </p:sp>
      <p:sp>
        <p:nvSpPr>
          <p:cNvPr id="5" name="TextBox 4">
            <a:extLst>
              <a:ext uri="{FF2B5EF4-FFF2-40B4-BE49-F238E27FC236}">
                <a16:creationId xmlns:a16="http://schemas.microsoft.com/office/drawing/2014/main" id="{E54C6E44-283C-4AA9-AF1C-462819091023}"/>
              </a:ext>
            </a:extLst>
          </p:cNvPr>
          <p:cNvSpPr txBox="1"/>
          <p:nvPr/>
        </p:nvSpPr>
        <p:spPr>
          <a:xfrm>
            <a:off x="533400" y="1235991"/>
            <a:ext cx="11353800" cy="5632311"/>
          </a:xfrm>
          <a:prstGeom prst="rect">
            <a:avLst/>
          </a:prstGeom>
          <a:noFill/>
        </p:spPr>
        <p:txBody>
          <a:bodyPr wrap="square">
            <a:spAutoFit/>
          </a:bodyPr>
          <a:lstStyle/>
          <a:p>
            <a:pPr algn="l" fontAlgn="base">
              <a:lnSpc>
                <a:spcPct val="150000"/>
              </a:lnSpc>
            </a:pPr>
            <a:r>
              <a:rPr lang="en-US" sz="2400" b="1" i="0" dirty="0">
                <a:solidFill>
                  <a:srgbClr val="273239"/>
                </a:solidFill>
                <a:effectLst/>
                <a:latin typeface="+mj-lt"/>
              </a:rPr>
              <a:t>Hill Climbing Algorithms</a:t>
            </a:r>
          </a:p>
          <a:p>
            <a:pPr algn="l" rtl="0" fontAlgn="base">
              <a:lnSpc>
                <a:spcPct val="150000"/>
              </a:lnSpc>
            </a:pPr>
            <a:r>
              <a:rPr lang="en-US" sz="2400" b="0" i="0" dirty="0">
                <a:solidFill>
                  <a:srgbClr val="273239"/>
                </a:solidFill>
                <a:effectLst/>
                <a:latin typeface="+mj-lt"/>
              </a:rPr>
              <a:t>Hill climbing follows these steps:</a:t>
            </a:r>
          </a:p>
          <a:p>
            <a:pPr algn="l" fontAlgn="base">
              <a:lnSpc>
                <a:spcPct val="150000"/>
              </a:lnSpc>
              <a:buFont typeface="+mj-lt"/>
              <a:buAutoNum type="arabicPeriod"/>
            </a:pPr>
            <a:r>
              <a:rPr lang="en-US" sz="2400" b="1" i="0" dirty="0">
                <a:solidFill>
                  <a:srgbClr val="273239"/>
                </a:solidFill>
                <a:effectLst/>
                <a:latin typeface="+mj-lt"/>
              </a:rPr>
              <a:t>Initial State</a:t>
            </a:r>
            <a:r>
              <a:rPr lang="en-US" sz="2400" b="0" i="0" dirty="0">
                <a:solidFill>
                  <a:srgbClr val="273239"/>
                </a:solidFill>
                <a:effectLst/>
                <a:latin typeface="+mj-lt"/>
              </a:rPr>
              <a:t>: Start with an arbitrary or random solution (initial state).</a:t>
            </a:r>
          </a:p>
          <a:p>
            <a:pPr algn="l" fontAlgn="base">
              <a:lnSpc>
                <a:spcPct val="150000"/>
              </a:lnSpc>
              <a:buFont typeface="+mj-lt"/>
              <a:buAutoNum type="arabicPeriod" startAt="2"/>
            </a:pPr>
            <a:r>
              <a:rPr lang="en-US" sz="2400" b="1" i="0" dirty="0">
                <a:solidFill>
                  <a:srgbClr val="273239"/>
                </a:solidFill>
                <a:effectLst/>
                <a:latin typeface="+mj-lt"/>
              </a:rPr>
              <a:t>Neighboring States</a:t>
            </a:r>
            <a:r>
              <a:rPr lang="en-US" sz="2400" b="0" i="0" dirty="0">
                <a:solidFill>
                  <a:srgbClr val="273239"/>
                </a:solidFill>
                <a:effectLst/>
                <a:latin typeface="+mj-lt"/>
              </a:rPr>
              <a:t>: Identify neighboring states of the current solution by making small adjustments (mutations or tweaks).</a:t>
            </a:r>
          </a:p>
          <a:p>
            <a:pPr algn="l" fontAlgn="base">
              <a:lnSpc>
                <a:spcPct val="150000"/>
              </a:lnSpc>
              <a:buFont typeface="+mj-lt"/>
              <a:buAutoNum type="arabicPeriod" startAt="3"/>
            </a:pPr>
            <a:r>
              <a:rPr lang="en-US" sz="2400" b="1" i="0" dirty="0">
                <a:solidFill>
                  <a:srgbClr val="273239"/>
                </a:solidFill>
                <a:effectLst/>
                <a:latin typeface="+mj-lt"/>
              </a:rPr>
              <a:t>Move to Neighbor</a:t>
            </a:r>
            <a:r>
              <a:rPr lang="en-US" sz="2400" b="0" i="0" dirty="0">
                <a:solidFill>
                  <a:srgbClr val="273239"/>
                </a:solidFill>
                <a:effectLst/>
                <a:latin typeface="+mj-lt"/>
              </a:rPr>
              <a:t>: If one of the neighboring states offers a better solution (according to some evaluation function), move to this new state.</a:t>
            </a:r>
          </a:p>
          <a:p>
            <a:pPr algn="l" fontAlgn="base">
              <a:lnSpc>
                <a:spcPct val="150000"/>
              </a:lnSpc>
              <a:buFont typeface="+mj-lt"/>
              <a:buAutoNum type="arabicPeriod" startAt="4"/>
            </a:pPr>
            <a:r>
              <a:rPr lang="en-US" sz="2400" b="1" i="0" dirty="0">
                <a:solidFill>
                  <a:srgbClr val="273239"/>
                </a:solidFill>
                <a:effectLst/>
                <a:latin typeface="+mj-lt"/>
              </a:rPr>
              <a:t>Termination</a:t>
            </a:r>
            <a:r>
              <a:rPr lang="en-US" sz="2400" b="0" i="0" dirty="0">
                <a:solidFill>
                  <a:srgbClr val="273239"/>
                </a:solidFill>
                <a:effectLst/>
                <a:latin typeface="+mj-lt"/>
              </a:rPr>
              <a:t>: Repeat this process until no neighboring state is better than the current one. At this point, we have reached a local maximum or minimum.</a:t>
            </a:r>
          </a:p>
          <a:p>
            <a:br>
              <a:rPr lang="en-US" dirty="0"/>
            </a:br>
            <a:endParaRPr lang="en-US" dirty="0"/>
          </a:p>
        </p:txBody>
      </p:sp>
    </p:spTree>
    <p:extLst>
      <p:ext uri="{BB962C8B-B14F-4D97-AF65-F5344CB8AC3E}">
        <p14:creationId xmlns:p14="http://schemas.microsoft.com/office/powerpoint/2010/main" val="377640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9676" rIns="0" bIns="0" rtlCol="0">
            <a:spAutoFit/>
          </a:bodyPr>
          <a:lstStyle/>
          <a:p>
            <a:pPr marL="3527425">
              <a:lnSpc>
                <a:spcPct val="100000"/>
              </a:lnSpc>
              <a:spcBef>
                <a:spcPts val="100"/>
              </a:spcBef>
            </a:pPr>
            <a:r>
              <a:rPr dirty="0"/>
              <a:t>Hill</a:t>
            </a:r>
            <a:r>
              <a:rPr spc="-80" dirty="0"/>
              <a:t> </a:t>
            </a:r>
            <a:r>
              <a:rPr dirty="0"/>
              <a:t>Climbing</a:t>
            </a:r>
            <a:r>
              <a:rPr spc="-75" dirty="0"/>
              <a:t> </a:t>
            </a:r>
            <a:r>
              <a:rPr spc="-10" dirty="0"/>
              <a:t>Diagram</a:t>
            </a:r>
          </a:p>
        </p:txBody>
      </p:sp>
      <p:pic>
        <p:nvPicPr>
          <p:cNvPr id="3" name="object 3"/>
          <p:cNvPicPr/>
          <p:nvPr/>
        </p:nvPicPr>
        <p:blipFill>
          <a:blip r:embed="rId2" cstate="print"/>
          <a:stretch>
            <a:fillRect/>
          </a:stretch>
        </p:blipFill>
        <p:spPr>
          <a:xfrm>
            <a:off x="1227139" y="1444688"/>
            <a:ext cx="9423573" cy="50104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651" y="-144088"/>
            <a:ext cx="11920696" cy="949418"/>
          </a:xfrm>
          <a:prstGeom prst="rect">
            <a:avLst/>
          </a:prstGeom>
        </p:spPr>
        <p:txBody>
          <a:bodyPr vert="horz" wrap="square" lIns="0" tIns="269676" rIns="0" bIns="0" rtlCol="0">
            <a:spAutoFit/>
          </a:bodyPr>
          <a:lstStyle/>
          <a:p>
            <a:pPr marL="3968115">
              <a:lnSpc>
                <a:spcPct val="100000"/>
              </a:lnSpc>
              <a:spcBef>
                <a:spcPts val="100"/>
              </a:spcBef>
            </a:pPr>
            <a:r>
              <a:rPr dirty="0"/>
              <a:t>Hill</a:t>
            </a:r>
            <a:r>
              <a:rPr spc="-80" dirty="0"/>
              <a:t> </a:t>
            </a:r>
            <a:r>
              <a:rPr dirty="0"/>
              <a:t>Climbing</a:t>
            </a:r>
            <a:endParaRPr spc="-20" dirty="0"/>
          </a:p>
        </p:txBody>
      </p:sp>
      <p:sp>
        <p:nvSpPr>
          <p:cNvPr id="6" name="TextBox 5">
            <a:extLst>
              <a:ext uri="{FF2B5EF4-FFF2-40B4-BE49-F238E27FC236}">
                <a16:creationId xmlns:a16="http://schemas.microsoft.com/office/drawing/2014/main" id="{3EE3F456-243B-407F-8E54-AACB7642CBBD}"/>
              </a:ext>
            </a:extLst>
          </p:cNvPr>
          <p:cNvSpPr txBox="1"/>
          <p:nvPr/>
        </p:nvSpPr>
        <p:spPr>
          <a:xfrm>
            <a:off x="609599" y="1143000"/>
            <a:ext cx="11446748" cy="5755422"/>
          </a:xfrm>
          <a:prstGeom prst="rect">
            <a:avLst/>
          </a:prstGeom>
          <a:noFill/>
        </p:spPr>
        <p:txBody>
          <a:bodyPr wrap="square">
            <a:spAutoFit/>
          </a:bodyPr>
          <a:lstStyle/>
          <a:p>
            <a:pPr algn="l" fontAlgn="base"/>
            <a:r>
              <a:rPr lang="en-US" sz="2300" b="1" i="0" dirty="0">
                <a:solidFill>
                  <a:srgbClr val="273239"/>
                </a:solidFill>
                <a:effectLst/>
                <a:latin typeface="+mj-lt"/>
              </a:rPr>
              <a:t>Key Regions in the State-Space Diagram</a:t>
            </a:r>
          </a:p>
          <a:p>
            <a:pPr marL="342900" indent="-342900" algn="l" fontAlgn="base">
              <a:buFont typeface="Wingdings" panose="05000000000000000000" pitchFamily="2" charset="2"/>
              <a:buChar char="§"/>
            </a:pPr>
            <a:r>
              <a:rPr lang="en-US" sz="2300" b="1" i="0" dirty="0">
                <a:solidFill>
                  <a:srgbClr val="273239"/>
                </a:solidFill>
                <a:effectLst/>
                <a:latin typeface="+mj-lt"/>
              </a:rPr>
              <a:t>Local Maximum</a:t>
            </a:r>
            <a:r>
              <a:rPr lang="en-US" sz="2300" b="0" i="0" dirty="0">
                <a:solidFill>
                  <a:srgbClr val="273239"/>
                </a:solidFill>
                <a:effectLst/>
                <a:latin typeface="+mj-lt"/>
              </a:rPr>
              <a:t>: A local maximum is a state better than its neighbors but not the best overall. While its objective function value is higher than nearby states, a global maximum may still exist.</a:t>
            </a:r>
          </a:p>
          <a:p>
            <a:pPr marL="342900" indent="-342900" algn="l" fontAlgn="base">
              <a:buFont typeface="Wingdings" panose="05000000000000000000" pitchFamily="2" charset="2"/>
              <a:buChar char="§"/>
            </a:pPr>
            <a:r>
              <a:rPr lang="en-US" sz="2300" b="1" i="0" dirty="0">
                <a:solidFill>
                  <a:srgbClr val="273239"/>
                </a:solidFill>
                <a:effectLst/>
                <a:latin typeface="+mj-lt"/>
              </a:rPr>
              <a:t>Global Maximum</a:t>
            </a:r>
            <a:r>
              <a:rPr lang="en-US" sz="2300" b="0" i="0" dirty="0">
                <a:solidFill>
                  <a:srgbClr val="273239"/>
                </a:solidFill>
                <a:effectLst/>
                <a:latin typeface="+mj-lt"/>
              </a:rPr>
              <a:t>: The global maximum is the best state in the state-space diagram where the objective function achieves its highest value. This is the optimal solution the algorithm seeks.</a:t>
            </a:r>
          </a:p>
          <a:p>
            <a:pPr marL="342900" indent="-342900" algn="l" fontAlgn="base">
              <a:buFont typeface="Wingdings" panose="05000000000000000000" pitchFamily="2" charset="2"/>
              <a:buChar char="§"/>
            </a:pPr>
            <a:r>
              <a:rPr lang="en-US" sz="2300" b="1" i="0" dirty="0">
                <a:solidFill>
                  <a:srgbClr val="273239"/>
                </a:solidFill>
                <a:effectLst/>
                <a:latin typeface="+mj-lt"/>
              </a:rPr>
              <a:t>Plateau/Flat Local Maximum</a:t>
            </a:r>
            <a:r>
              <a:rPr lang="en-US" sz="2300" b="0" i="0" dirty="0">
                <a:solidFill>
                  <a:srgbClr val="273239"/>
                </a:solidFill>
                <a:effectLst/>
                <a:latin typeface="+mj-lt"/>
              </a:rPr>
              <a:t>: A plateau is a flat region where neighboring states have the same objective function value, making it difficult for the algorithm to decide on the best direction to move.</a:t>
            </a:r>
          </a:p>
          <a:p>
            <a:pPr marL="342900" indent="-342900" algn="l" fontAlgn="base">
              <a:buFont typeface="Wingdings" panose="05000000000000000000" pitchFamily="2" charset="2"/>
              <a:buChar char="§"/>
            </a:pPr>
            <a:r>
              <a:rPr lang="en-US" sz="2300" b="1" i="0" dirty="0">
                <a:solidFill>
                  <a:srgbClr val="273239"/>
                </a:solidFill>
                <a:effectLst/>
                <a:latin typeface="+mj-lt"/>
              </a:rPr>
              <a:t>Ridge</a:t>
            </a:r>
            <a:r>
              <a:rPr lang="en-US" sz="2300" b="0" i="0" dirty="0">
                <a:solidFill>
                  <a:srgbClr val="273239"/>
                </a:solidFill>
                <a:effectLst/>
                <a:latin typeface="+mj-lt"/>
              </a:rPr>
              <a:t>: A ridge is a higher region with a slope which can look like a peak. This may cause the algorithm to stop prematurely, missing better solutions nearby.</a:t>
            </a:r>
          </a:p>
          <a:p>
            <a:pPr marL="342900" indent="-342900" algn="l" fontAlgn="base">
              <a:buFont typeface="Wingdings" panose="05000000000000000000" pitchFamily="2" charset="2"/>
              <a:buChar char="§"/>
            </a:pPr>
            <a:r>
              <a:rPr lang="en-US" sz="2300" b="1" i="0" dirty="0">
                <a:solidFill>
                  <a:srgbClr val="273239"/>
                </a:solidFill>
                <a:effectLst/>
                <a:latin typeface="+mj-lt"/>
              </a:rPr>
              <a:t>Current State</a:t>
            </a:r>
            <a:r>
              <a:rPr lang="en-US" sz="2300" b="0" i="0" dirty="0">
                <a:solidFill>
                  <a:srgbClr val="273239"/>
                </a:solidFill>
                <a:effectLst/>
                <a:latin typeface="+mj-lt"/>
              </a:rPr>
              <a:t>: The current state refers to the algorithm's position in the state-space diagram during its search for the optimal solution.</a:t>
            </a:r>
          </a:p>
          <a:p>
            <a:pPr marL="342900" indent="-342900" algn="l" fontAlgn="base">
              <a:buFont typeface="Wingdings" panose="05000000000000000000" pitchFamily="2" charset="2"/>
              <a:buChar char="§"/>
            </a:pPr>
            <a:r>
              <a:rPr lang="en-US" sz="2300" b="1" i="0" dirty="0">
                <a:solidFill>
                  <a:srgbClr val="273239"/>
                </a:solidFill>
                <a:effectLst/>
                <a:latin typeface="+mj-lt"/>
              </a:rPr>
              <a:t>Shoulder</a:t>
            </a:r>
            <a:r>
              <a:rPr lang="en-US" sz="2300" b="0" i="0" dirty="0">
                <a:solidFill>
                  <a:srgbClr val="273239"/>
                </a:solidFill>
                <a:effectLst/>
                <a:latin typeface="+mj-lt"/>
              </a:rPr>
              <a:t>: A shoulder is a plateau with an uphill edge allowing the algorithm to move toward better solutions if it continues searching beyond the plateau.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9676" rIns="0" bIns="0" rtlCol="0">
            <a:spAutoFit/>
          </a:bodyPr>
          <a:lstStyle/>
          <a:p>
            <a:pPr marL="3968115">
              <a:lnSpc>
                <a:spcPct val="100000"/>
              </a:lnSpc>
              <a:spcBef>
                <a:spcPts val="100"/>
              </a:spcBef>
            </a:pPr>
            <a:r>
              <a:rPr dirty="0"/>
              <a:t>Hill</a:t>
            </a:r>
            <a:r>
              <a:rPr spc="-80" dirty="0"/>
              <a:t> </a:t>
            </a:r>
            <a:r>
              <a:rPr dirty="0"/>
              <a:t>Climbing</a:t>
            </a:r>
            <a:r>
              <a:rPr spc="-75" dirty="0"/>
              <a:t> </a:t>
            </a:r>
            <a:r>
              <a:rPr spc="-20" dirty="0"/>
              <a:t>Quiz</a:t>
            </a:r>
          </a:p>
        </p:txBody>
      </p:sp>
      <p:pic>
        <p:nvPicPr>
          <p:cNvPr id="3" name="object 3"/>
          <p:cNvPicPr/>
          <p:nvPr/>
        </p:nvPicPr>
        <p:blipFill>
          <a:blip r:embed="rId2" cstate="print"/>
          <a:stretch>
            <a:fillRect/>
          </a:stretch>
        </p:blipFill>
        <p:spPr>
          <a:xfrm>
            <a:off x="3721100" y="1612901"/>
            <a:ext cx="5156200" cy="2857500"/>
          </a:xfrm>
          <a:prstGeom prst="rect">
            <a:avLst/>
          </a:prstGeom>
        </p:spPr>
      </p:pic>
      <p:sp>
        <p:nvSpPr>
          <p:cNvPr id="4" name="object 4"/>
          <p:cNvSpPr txBox="1"/>
          <p:nvPr/>
        </p:nvSpPr>
        <p:spPr>
          <a:xfrm>
            <a:off x="4269738" y="4993461"/>
            <a:ext cx="4062095" cy="1549400"/>
          </a:xfrm>
          <a:prstGeom prst="rect">
            <a:avLst/>
          </a:prstGeom>
        </p:spPr>
        <p:txBody>
          <a:bodyPr vert="horz" wrap="square" lIns="0" tIns="12700" rIns="0" bIns="0" rtlCol="0">
            <a:spAutoFit/>
          </a:bodyPr>
          <a:lstStyle/>
          <a:p>
            <a:pPr marL="12700">
              <a:lnSpc>
                <a:spcPct val="100000"/>
              </a:lnSpc>
              <a:spcBef>
                <a:spcPts val="100"/>
              </a:spcBef>
            </a:pPr>
            <a:r>
              <a:rPr sz="2000" dirty="0">
                <a:latin typeface="Calibri"/>
                <a:cs typeface="Calibri"/>
              </a:rPr>
              <a:t>Starting</a:t>
            </a:r>
            <a:r>
              <a:rPr sz="2000" spc="-35" dirty="0">
                <a:latin typeface="Calibri"/>
                <a:cs typeface="Calibri"/>
              </a:rPr>
              <a:t> </a:t>
            </a:r>
            <a:r>
              <a:rPr sz="2000" dirty="0">
                <a:latin typeface="Calibri"/>
                <a:cs typeface="Calibri"/>
              </a:rPr>
              <a:t>from</a:t>
            </a:r>
            <a:r>
              <a:rPr sz="2000" spc="-35" dirty="0">
                <a:latin typeface="Calibri"/>
                <a:cs typeface="Calibri"/>
              </a:rPr>
              <a:t> </a:t>
            </a:r>
            <a:r>
              <a:rPr sz="2000" dirty="0">
                <a:latin typeface="Calibri"/>
                <a:cs typeface="Calibri"/>
              </a:rPr>
              <a:t>X,</a:t>
            </a:r>
            <a:r>
              <a:rPr sz="2000" spc="-30" dirty="0">
                <a:latin typeface="Calibri"/>
                <a:cs typeface="Calibri"/>
              </a:rPr>
              <a:t> </a:t>
            </a:r>
            <a:r>
              <a:rPr sz="2000" dirty="0">
                <a:latin typeface="Calibri"/>
                <a:cs typeface="Calibri"/>
              </a:rPr>
              <a:t>where</a:t>
            </a:r>
            <a:r>
              <a:rPr sz="2000" spc="-35" dirty="0">
                <a:latin typeface="Calibri"/>
                <a:cs typeface="Calibri"/>
              </a:rPr>
              <a:t> </a:t>
            </a:r>
            <a:r>
              <a:rPr sz="2000" dirty="0">
                <a:latin typeface="Calibri"/>
                <a:cs typeface="Calibri"/>
              </a:rPr>
              <a:t>do</a:t>
            </a:r>
            <a:r>
              <a:rPr sz="2000" spc="-35" dirty="0">
                <a:latin typeface="Calibri"/>
                <a:cs typeface="Calibri"/>
              </a:rPr>
              <a:t> </a:t>
            </a:r>
            <a:r>
              <a:rPr sz="2000" dirty="0">
                <a:latin typeface="Calibri"/>
                <a:cs typeface="Calibri"/>
              </a:rPr>
              <a:t>you</a:t>
            </a:r>
            <a:r>
              <a:rPr sz="2000" spc="-30" dirty="0">
                <a:latin typeface="Calibri"/>
                <a:cs typeface="Calibri"/>
              </a:rPr>
              <a:t> </a:t>
            </a:r>
            <a:r>
              <a:rPr sz="2000" dirty="0">
                <a:latin typeface="Calibri"/>
                <a:cs typeface="Calibri"/>
              </a:rPr>
              <a:t>end</a:t>
            </a:r>
            <a:r>
              <a:rPr sz="2000" spc="-35" dirty="0">
                <a:latin typeface="Calibri"/>
                <a:cs typeface="Calibri"/>
              </a:rPr>
              <a:t> </a:t>
            </a:r>
            <a:r>
              <a:rPr sz="2000" dirty="0">
                <a:latin typeface="Calibri"/>
                <a:cs typeface="Calibri"/>
              </a:rPr>
              <a:t>up</a:t>
            </a:r>
            <a:r>
              <a:rPr sz="2000" spc="-35" dirty="0">
                <a:latin typeface="Calibri"/>
                <a:cs typeface="Calibri"/>
              </a:rPr>
              <a:t> </a:t>
            </a:r>
            <a:r>
              <a:rPr sz="2000" spc="-50" dirty="0">
                <a:latin typeface="Calibri"/>
                <a:cs typeface="Calibri"/>
              </a:rPr>
              <a:t>?</a:t>
            </a:r>
            <a:endParaRPr sz="2000" dirty="0">
              <a:latin typeface="Calibri"/>
              <a:cs typeface="Calibri"/>
            </a:endParaRPr>
          </a:p>
          <a:p>
            <a:pPr marL="12700" marR="17780">
              <a:lnSpc>
                <a:spcPct val="200000"/>
              </a:lnSpc>
            </a:pPr>
            <a:r>
              <a:rPr sz="2000" dirty="0">
                <a:latin typeface="Calibri"/>
                <a:cs typeface="Calibri"/>
              </a:rPr>
              <a:t>Starting</a:t>
            </a:r>
            <a:r>
              <a:rPr sz="2000" spc="-60" dirty="0">
                <a:latin typeface="Calibri"/>
                <a:cs typeface="Calibri"/>
              </a:rPr>
              <a:t> </a:t>
            </a:r>
            <a:r>
              <a:rPr sz="2000" dirty="0">
                <a:latin typeface="Calibri"/>
                <a:cs typeface="Calibri"/>
              </a:rPr>
              <a:t>from</a:t>
            </a:r>
            <a:r>
              <a:rPr sz="2000" spc="-30" dirty="0">
                <a:latin typeface="Calibri"/>
                <a:cs typeface="Calibri"/>
              </a:rPr>
              <a:t> </a:t>
            </a:r>
            <a:r>
              <a:rPr sz="2000" spc="-140" dirty="0">
                <a:latin typeface="Calibri"/>
                <a:cs typeface="Calibri"/>
              </a:rPr>
              <a:t>Y,</a:t>
            </a:r>
            <a:r>
              <a:rPr sz="2000" dirty="0">
                <a:latin typeface="Calibri"/>
                <a:cs typeface="Calibri"/>
              </a:rPr>
              <a:t> where</a:t>
            </a:r>
            <a:r>
              <a:rPr sz="2000" spc="-30" dirty="0">
                <a:latin typeface="Calibri"/>
                <a:cs typeface="Calibri"/>
              </a:rPr>
              <a:t> </a:t>
            </a:r>
            <a:r>
              <a:rPr sz="2000" dirty="0">
                <a:latin typeface="Calibri"/>
                <a:cs typeface="Calibri"/>
              </a:rPr>
              <a:t>do</a:t>
            </a:r>
            <a:r>
              <a:rPr sz="2000" spc="-30" dirty="0">
                <a:latin typeface="Calibri"/>
                <a:cs typeface="Calibri"/>
              </a:rPr>
              <a:t> </a:t>
            </a:r>
            <a:r>
              <a:rPr sz="2000" dirty="0">
                <a:latin typeface="Calibri"/>
                <a:cs typeface="Calibri"/>
              </a:rPr>
              <a:t>you</a:t>
            </a:r>
            <a:r>
              <a:rPr sz="2000" spc="-30" dirty="0">
                <a:latin typeface="Calibri"/>
                <a:cs typeface="Calibri"/>
              </a:rPr>
              <a:t> </a:t>
            </a:r>
            <a:r>
              <a:rPr sz="2000" dirty="0">
                <a:latin typeface="Calibri"/>
                <a:cs typeface="Calibri"/>
              </a:rPr>
              <a:t>end</a:t>
            </a:r>
            <a:r>
              <a:rPr sz="2000" spc="-30" dirty="0">
                <a:latin typeface="Calibri"/>
                <a:cs typeface="Calibri"/>
              </a:rPr>
              <a:t> </a:t>
            </a:r>
            <a:r>
              <a:rPr sz="2000" dirty="0">
                <a:latin typeface="Calibri"/>
                <a:cs typeface="Calibri"/>
              </a:rPr>
              <a:t>up</a:t>
            </a:r>
            <a:r>
              <a:rPr sz="2000" spc="-25" dirty="0">
                <a:latin typeface="Calibri"/>
                <a:cs typeface="Calibri"/>
              </a:rPr>
              <a:t> </a:t>
            </a:r>
            <a:r>
              <a:rPr sz="2000" spc="-50" dirty="0">
                <a:latin typeface="Calibri"/>
                <a:cs typeface="Calibri"/>
              </a:rPr>
              <a:t>? </a:t>
            </a:r>
            <a:r>
              <a:rPr sz="2000" dirty="0">
                <a:latin typeface="Calibri"/>
                <a:cs typeface="Calibri"/>
              </a:rPr>
              <a:t>Starting</a:t>
            </a:r>
            <a:r>
              <a:rPr sz="2000" spc="-35" dirty="0">
                <a:latin typeface="Calibri"/>
                <a:cs typeface="Calibri"/>
              </a:rPr>
              <a:t> </a:t>
            </a:r>
            <a:r>
              <a:rPr sz="2000" dirty="0">
                <a:latin typeface="Calibri"/>
                <a:cs typeface="Calibri"/>
              </a:rPr>
              <a:t>from</a:t>
            </a:r>
            <a:r>
              <a:rPr sz="2000" spc="-35" dirty="0">
                <a:latin typeface="Calibri"/>
                <a:cs typeface="Calibri"/>
              </a:rPr>
              <a:t> </a:t>
            </a:r>
            <a:r>
              <a:rPr sz="2000" dirty="0">
                <a:latin typeface="Calibri"/>
                <a:cs typeface="Calibri"/>
              </a:rPr>
              <a:t>Z,</a:t>
            </a:r>
            <a:r>
              <a:rPr sz="2000" spc="-30" dirty="0">
                <a:latin typeface="Calibri"/>
                <a:cs typeface="Calibri"/>
              </a:rPr>
              <a:t> </a:t>
            </a:r>
            <a:r>
              <a:rPr sz="2000" dirty="0">
                <a:latin typeface="Calibri"/>
                <a:cs typeface="Calibri"/>
              </a:rPr>
              <a:t>where</a:t>
            </a:r>
            <a:r>
              <a:rPr sz="2000" spc="-35" dirty="0">
                <a:latin typeface="Calibri"/>
                <a:cs typeface="Calibri"/>
              </a:rPr>
              <a:t> </a:t>
            </a:r>
            <a:r>
              <a:rPr sz="2000" dirty="0">
                <a:latin typeface="Calibri"/>
                <a:cs typeface="Calibri"/>
              </a:rPr>
              <a:t>do</a:t>
            </a:r>
            <a:r>
              <a:rPr sz="2000" spc="-35" dirty="0">
                <a:latin typeface="Calibri"/>
                <a:cs typeface="Calibri"/>
              </a:rPr>
              <a:t> </a:t>
            </a:r>
            <a:r>
              <a:rPr sz="2000" dirty="0">
                <a:latin typeface="Calibri"/>
                <a:cs typeface="Calibri"/>
              </a:rPr>
              <a:t>you</a:t>
            </a:r>
            <a:r>
              <a:rPr sz="2000" spc="-30" dirty="0">
                <a:latin typeface="Calibri"/>
                <a:cs typeface="Calibri"/>
              </a:rPr>
              <a:t> </a:t>
            </a:r>
            <a:r>
              <a:rPr sz="2000" dirty="0">
                <a:latin typeface="Calibri"/>
                <a:cs typeface="Calibri"/>
              </a:rPr>
              <a:t>end</a:t>
            </a:r>
            <a:r>
              <a:rPr sz="2000" spc="-35" dirty="0">
                <a:latin typeface="Calibri"/>
                <a:cs typeface="Calibri"/>
              </a:rPr>
              <a:t> </a:t>
            </a:r>
            <a:r>
              <a:rPr sz="2000" dirty="0">
                <a:latin typeface="Calibri"/>
                <a:cs typeface="Calibri"/>
              </a:rPr>
              <a:t>up</a:t>
            </a:r>
            <a:r>
              <a:rPr sz="2000" spc="-30" dirty="0">
                <a:latin typeface="Calibri"/>
                <a:cs typeface="Calibri"/>
              </a:rPr>
              <a:t> </a:t>
            </a:r>
            <a:r>
              <a:rPr sz="2000" spc="-50" dirty="0">
                <a:latin typeface="Calibri"/>
                <a:cs typeface="Calibri"/>
              </a:rPr>
              <a:t>?</a:t>
            </a:r>
            <a:endParaRPr sz="2000" dirty="0">
              <a:latin typeface="Calibri"/>
              <a:cs typeface="Calibri"/>
            </a:endParaRPr>
          </a:p>
        </p:txBody>
      </p:sp>
    </p:spTree>
    <p:extLst>
      <p:ext uri="{BB962C8B-B14F-4D97-AF65-F5344CB8AC3E}">
        <p14:creationId xmlns:p14="http://schemas.microsoft.com/office/powerpoint/2010/main" val="3869032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9676" rIns="0" bIns="0" rtlCol="0">
            <a:spAutoFit/>
          </a:bodyPr>
          <a:lstStyle/>
          <a:p>
            <a:pPr marL="3627754">
              <a:lnSpc>
                <a:spcPct val="100000"/>
              </a:lnSpc>
              <a:spcBef>
                <a:spcPts val="100"/>
              </a:spcBef>
            </a:pPr>
            <a:r>
              <a:rPr dirty="0"/>
              <a:t>Simulated</a:t>
            </a:r>
            <a:r>
              <a:rPr spc="-225" dirty="0"/>
              <a:t> </a:t>
            </a:r>
            <a:r>
              <a:rPr spc="-10" dirty="0"/>
              <a:t>Annealing</a:t>
            </a:r>
          </a:p>
        </p:txBody>
      </p:sp>
      <p:sp>
        <p:nvSpPr>
          <p:cNvPr id="3" name="object 3"/>
          <p:cNvSpPr txBox="1"/>
          <p:nvPr/>
        </p:nvSpPr>
        <p:spPr>
          <a:xfrm>
            <a:off x="833092" y="1082595"/>
            <a:ext cx="6805930" cy="860425"/>
          </a:xfrm>
          <a:prstGeom prst="rect">
            <a:avLst/>
          </a:prstGeom>
        </p:spPr>
        <p:txBody>
          <a:bodyPr vert="horz" wrap="square" lIns="0" tIns="102235" rIns="0" bIns="0" rtlCol="0">
            <a:spAutoFit/>
          </a:bodyPr>
          <a:lstStyle/>
          <a:p>
            <a:pPr marL="12700">
              <a:lnSpc>
                <a:spcPct val="100000"/>
              </a:lnSpc>
              <a:spcBef>
                <a:spcPts val="805"/>
              </a:spcBef>
              <a:tabLst>
                <a:tab pos="766445" algn="l"/>
              </a:tabLst>
            </a:pPr>
            <a:r>
              <a:rPr sz="2400" spc="-10" dirty="0">
                <a:solidFill>
                  <a:srgbClr val="333399"/>
                </a:solidFill>
                <a:latin typeface="Calibri"/>
                <a:cs typeface="Calibri"/>
              </a:rPr>
              <a:t>Idea:</a:t>
            </a:r>
            <a:r>
              <a:rPr sz="2400" dirty="0">
                <a:solidFill>
                  <a:srgbClr val="333399"/>
                </a:solidFill>
                <a:latin typeface="Calibri"/>
                <a:cs typeface="Calibri"/>
              </a:rPr>
              <a:t>	Escape</a:t>
            </a:r>
            <a:r>
              <a:rPr sz="2400" spc="-50" dirty="0">
                <a:solidFill>
                  <a:srgbClr val="333399"/>
                </a:solidFill>
                <a:latin typeface="Calibri"/>
                <a:cs typeface="Calibri"/>
              </a:rPr>
              <a:t> </a:t>
            </a:r>
            <a:r>
              <a:rPr sz="2400" dirty="0">
                <a:solidFill>
                  <a:srgbClr val="333399"/>
                </a:solidFill>
                <a:latin typeface="Calibri"/>
                <a:cs typeface="Calibri"/>
              </a:rPr>
              <a:t>local</a:t>
            </a:r>
            <a:r>
              <a:rPr sz="2400" spc="-45" dirty="0">
                <a:solidFill>
                  <a:srgbClr val="333399"/>
                </a:solidFill>
                <a:latin typeface="Calibri"/>
                <a:cs typeface="Calibri"/>
              </a:rPr>
              <a:t> </a:t>
            </a:r>
            <a:r>
              <a:rPr sz="2400" dirty="0">
                <a:solidFill>
                  <a:srgbClr val="333399"/>
                </a:solidFill>
                <a:latin typeface="Calibri"/>
                <a:cs typeface="Calibri"/>
              </a:rPr>
              <a:t>maxima</a:t>
            </a:r>
            <a:r>
              <a:rPr sz="2400" spc="-50" dirty="0">
                <a:solidFill>
                  <a:srgbClr val="333399"/>
                </a:solidFill>
                <a:latin typeface="Calibri"/>
                <a:cs typeface="Calibri"/>
              </a:rPr>
              <a:t> </a:t>
            </a:r>
            <a:r>
              <a:rPr sz="2400" dirty="0">
                <a:solidFill>
                  <a:srgbClr val="333399"/>
                </a:solidFill>
                <a:latin typeface="Calibri"/>
                <a:cs typeface="Calibri"/>
              </a:rPr>
              <a:t>by</a:t>
            </a:r>
            <a:r>
              <a:rPr sz="2400" spc="-45" dirty="0">
                <a:solidFill>
                  <a:srgbClr val="333399"/>
                </a:solidFill>
                <a:latin typeface="Calibri"/>
                <a:cs typeface="Calibri"/>
              </a:rPr>
              <a:t> </a:t>
            </a:r>
            <a:r>
              <a:rPr sz="2400" dirty="0">
                <a:solidFill>
                  <a:srgbClr val="333399"/>
                </a:solidFill>
                <a:latin typeface="Calibri"/>
                <a:cs typeface="Calibri"/>
              </a:rPr>
              <a:t>allowing</a:t>
            </a:r>
            <a:r>
              <a:rPr sz="2400" spc="-50" dirty="0">
                <a:solidFill>
                  <a:srgbClr val="333399"/>
                </a:solidFill>
                <a:latin typeface="Calibri"/>
                <a:cs typeface="Calibri"/>
              </a:rPr>
              <a:t> </a:t>
            </a:r>
            <a:r>
              <a:rPr sz="2400" dirty="0">
                <a:solidFill>
                  <a:srgbClr val="333399"/>
                </a:solidFill>
                <a:latin typeface="Calibri"/>
                <a:cs typeface="Calibri"/>
              </a:rPr>
              <a:t>downhill</a:t>
            </a:r>
            <a:r>
              <a:rPr sz="2400" spc="-45" dirty="0">
                <a:solidFill>
                  <a:srgbClr val="333399"/>
                </a:solidFill>
                <a:latin typeface="Calibri"/>
                <a:cs typeface="Calibri"/>
              </a:rPr>
              <a:t> </a:t>
            </a:r>
            <a:r>
              <a:rPr sz="2400" spc="-10" dirty="0">
                <a:solidFill>
                  <a:srgbClr val="333399"/>
                </a:solidFill>
                <a:latin typeface="Calibri"/>
                <a:cs typeface="Calibri"/>
              </a:rPr>
              <a:t>moves</a:t>
            </a:r>
            <a:endParaRPr sz="2400">
              <a:latin typeface="Calibri"/>
              <a:cs typeface="Calibri"/>
            </a:endParaRPr>
          </a:p>
          <a:p>
            <a:pPr marL="412115">
              <a:lnSpc>
                <a:spcPct val="100000"/>
              </a:lnSpc>
              <a:spcBef>
                <a:spcPts val="590"/>
              </a:spcBef>
            </a:pPr>
            <a:r>
              <a:rPr sz="2000" dirty="0">
                <a:latin typeface="Calibri"/>
                <a:cs typeface="Calibri"/>
              </a:rPr>
              <a:t>But</a:t>
            </a:r>
            <a:r>
              <a:rPr sz="2000" spc="-45" dirty="0">
                <a:latin typeface="Calibri"/>
                <a:cs typeface="Calibri"/>
              </a:rPr>
              <a:t> </a:t>
            </a:r>
            <a:r>
              <a:rPr sz="2000" spc="-10" dirty="0">
                <a:latin typeface="Calibri"/>
                <a:cs typeface="Calibri"/>
              </a:rPr>
              <a:t>make</a:t>
            </a:r>
            <a:r>
              <a:rPr sz="2000" spc="-45" dirty="0">
                <a:latin typeface="Calibri"/>
                <a:cs typeface="Calibri"/>
              </a:rPr>
              <a:t> </a:t>
            </a:r>
            <a:r>
              <a:rPr sz="2000" dirty="0">
                <a:latin typeface="Calibri"/>
                <a:cs typeface="Calibri"/>
              </a:rPr>
              <a:t>them</a:t>
            </a:r>
            <a:r>
              <a:rPr sz="2000" spc="-45" dirty="0">
                <a:latin typeface="Calibri"/>
                <a:cs typeface="Calibri"/>
              </a:rPr>
              <a:t> </a:t>
            </a:r>
            <a:r>
              <a:rPr sz="2000" spc="-10" dirty="0">
                <a:latin typeface="Calibri"/>
                <a:cs typeface="Calibri"/>
              </a:rPr>
              <a:t>rarer</a:t>
            </a:r>
            <a:r>
              <a:rPr sz="2000" spc="-45" dirty="0">
                <a:latin typeface="Calibri"/>
                <a:cs typeface="Calibri"/>
              </a:rPr>
              <a:t> </a:t>
            </a:r>
            <a:r>
              <a:rPr sz="2000" dirty="0">
                <a:latin typeface="Calibri"/>
                <a:cs typeface="Calibri"/>
              </a:rPr>
              <a:t>as</a:t>
            </a:r>
            <a:r>
              <a:rPr sz="2000" spc="-45" dirty="0">
                <a:latin typeface="Calibri"/>
                <a:cs typeface="Calibri"/>
              </a:rPr>
              <a:t> </a:t>
            </a:r>
            <a:r>
              <a:rPr sz="2000" dirty="0">
                <a:latin typeface="Calibri"/>
                <a:cs typeface="Calibri"/>
              </a:rPr>
              <a:t>time</a:t>
            </a:r>
            <a:r>
              <a:rPr sz="2000" spc="-40" dirty="0">
                <a:latin typeface="Calibri"/>
                <a:cs typeface="Calibri"/>
              </a:rPr>
              <a:t> </a:t>
            </a:r>
            <a:r>
              <a:rPr sz="2000" dirty="0">
                <a:latin typeface="Calibri"/>
                <a:cs typeface="Calibri"/>
              </a:rPr>
              <a:t>goes</a:t>
            </a:r>
            <a:r>
              <a:rPr sz="2000" spc="-45" dirty="0">
                <a:latin typeface="Calibri"/>
                <a:cs typeface="Calibri"/>
              </a:rPr>
              <a:t> </a:t>
            </a:r>
            <a:r>
              <a:rPr sz="2000" spc="-25" dirty="0">
                <a:latin typeface="Calibri"/>
                <a:cs typeface="Calibri"/>
              </a:rPr>
              <a:t>on</a:t>
            </a:r>
            <a:endParaRPr sz="2000">
              <a:latin typeface="Calibri"/>
              <a:cs typeface="Calibri"/>
            </a:endParaRPr>
          </a:p>
        </p:txBody>
      </p:sp>
      <p:sp>
        <p:nvSpPr>
          <p:cNvPr id="4" name="object 4"/>
          <p:cNvSpPr txBox="1"/>
          <p:nvPr/>
        </p:nvSpPr>
        <p:spPr>
          <a:xfrm>
            <a:off x="762000" y="2209802"/>
            <a:ext cx="7886700" cy="4288155"/>
          </a:xfrm>
          <a:prstGeom prst="rect">
            <a:avLst/>
          </a:prstGeom>
          <a:ln w="9525">
            <a:solidFill>
              <a:srgbClr val="000000"/>
            </a:solidFill>
          </a:ln>
        </p:spPr>
        <p:txBody>
          <a:bodyPr vert="horz" wrap="square" lIns="0" tIns="0" rIns="0" bIns="0" rtlCol="0">
            <a:spAutoFit/>
          </a:bodyPr>
          <a:lstStyle/>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pPr>
            <a:endParaRPr sz="1500">
              <a:latin typeface="Times New Roman"/>
              <a:cs typeface="Times New Roman"/>
            </a:endParaRPr>
          </a:p>
          <a:p>
            <a:pPr marR="30480">
              <a:lnSpc>
                <a:spcPct val="100000"/>
              </a:lnSpc>
              <a:spcBef>
                <a:spcPts val="919"/>
              </a:spcBef>
            </a:pPr>
            <a:endParaRPr sz="1500">
              <a:latin typeface="Times New Roman"/>
              <a:cs typeface="Times New Roman"/>
            </a:endParaRPr>
          </a:p>
          <a:p>
            <a:pPr algn="r">
              <a:lnSpc>
                <a:spcPts val="1795"/>
              </a:lnSpc>
            </a:pPr>
            <a:r>
              <a:rPr sz="1500" spc="-25" dirty="0">
                <a:latin typeface="Arial MT"/>
                <a:cs typeface="Arial MT"/>
              </a:rPr>
              <a:t>37</a:t>
            </a:r>
            <a:endParaRPr sz="1500">
              <a:latin typeface="Arial MT"/>
              <a:cs typeface="Arial MT"/>
            </a:endParaRPr>
          </a:p>
        </p:txBody>
      </p:sp>
      <p:grpSp>
        <p:nvGrpSpPr>
          <p:cNvPr id="5" name="object 5"/>
          <p:cNvGrpSpPr/>
          <p:nvPr/>
        </p:nvGrpSpPr>
        <p:grpSpPr>
          <a:xfrm>
            <a:off x="762000" y="1531441"/>
            <a:ext cx="10866755" cy="4966335"/>
            <a:chOff x="762000" y="1531441"/>
            <a:chExt cx="10866755" cy="4966335"/>
          </a:xfrm>
        </p:grpSpPr>
        <p:pic>
          <p:nvPicPr>
            <p:cNvPr id="6" name="object 6"/>
            <p:cNvPicPr/>
            <p:nvPr/>
          </p:nvPicPr>
          <p:blipFill>
            <a:blip r:embed="rId2" cstate="print"/>
            <a:stretch>
              <a:fillRect/>
            </a:stretch>
          </p:blipFill>
          <p:spPr>
            <a:xfrm>
              <a:off x="8295359" y="1531441"/>
              <a:ext cx="3332878" cy="3102003"/>
            </a:xfrm>
            <a:prstGeom prst="rect">
              <a:avLst/>
            </a:prstGeom>
          </p:spPr>
        </p:pic>
        <p:pic>
          <p:nvPicPr>
            <p:cNvPr id="7" name="object 7"/>
            <p:cNvPicPr/>
            <p:nvPr/>
          </p:nvPicPr>
          <p:blipFill>
            <a:blip r:embed="rId3" cstate="print"/>
            <a:stretch>
              <a:fillRect/>
            </a:stretch>
          </p:blipFill>
          <p:spPr>
            <a:xfrm>
              <a:off x="762000" y="2209802"/>
              <a:ext cx="7848600" cy="4287838"/>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9676" rIns="0" bIns="0" rtlCol="0">
            <a:spAutoFit/>
          </a:bodyPr>
          <a:lstStyle/>
          <a:p>
            <a:pPr marL="3627754">
              <a:lnSpc>
                <a:spcPct val="100000"/>
              </a:lnSpc>
              <a:spcBef>
                <a:spcPts val="100"/>
              </a:spcBef>
            </a:pPr>
            <a:r>
              <a:rPr dirty="0"/>
              <a:t>Simulated</a:t>
            </a:r>
            <a:r>
              <a:rPr spc="-225" dirty="0"/>
              <a:t> </a:t>
            </a:r>
            <a:r>
              <a:rPr spc="-10" dirty="0"/>
              <a:t>Annealing</a:t>
            </a:r>
          </a:p>
        </p:txBody>
      </p:sp>
      <p:sp>
        <p:nvSpPr>
          <p:cNvPr id="3" name="object 3"/>
          <p:cNvSpPr txBox="1"/>
          <p:nvPr/>
        </p:nvSpPr>
        <p:spPr>
          <a:xfrm>
            <a:off x="565475" y="2110822"/>
            <a:ext cx="10001023" cy="4706673"/>
          </a:xfrm>
          <a:prstGeom prst="rect">
            <a:avLst/>
          </a:prstGeom>
        </p:spPr>
        <p:txBody>
          <a:bodyPr vert="horz" wrap="square" lIns="0" tIns="39370" rIns="0" bIns="0" rtlCol="0">
            <a:spAutoFit/>
          </a:bodyPr>
          <a:lstStyle/>
          <a:p>
            <a:pPr marR="4619625" algn="just">
              <a:lnSpc>
                <a:spcPct val="100000"/>
              </a:lnSpc>
              <a:spcBef>
                <a:spcPts val="310"/>
              </a:spcBef>
            </a:pPr>
            <a:r>
              <a:rPr sz="2650" dirty="0">
                <a:solidFill>
                  <a:srgbClr val="333399"/>
                </a:solidFill>
                <a:latin typeface="Calibri"/>
                <a:cs typeface="Calibri"/>
              </a:rPr>
              <a:t>Theoretical</a:t>
            </a:r>
            <a:r>
              <a:rPr sz="2650" spc="5" dirty="0">
                <a:solidFill>
                  <a:srgbClr val="333399"/>
                </a:solidFill>
                <a:latin typeface="Calibri"/>
                <a:cs typeface="Calibri"/>
              </a:rPr>
              <a:t> </a:t>
            </a:r>
            <a:r>
              <a:rPr sz="2650" spc="-10" dirty="0">
                <a:solidFill>
                  <a:srgbClr val="333399"/>
                </a:solidFill>
                <a:latin typeface="Calibri"/>
                <a:cs typeface="Calibri"/>
              </a:rPr>
              <a:t>guarantee:</a:t>
            </a:r>
            <a:endParaRPr lang="en-US" sz="2650" spc="-10" dirty="0">
              <a:solidFill>
                <a:srgbClr val="333399"/>
              </a:solidFill>
              <a:latin typeface="Calibri"/>
              <a:cs typeface="Calibri"/>
            </a:endParaRPr>
          </a:p>
          <a:p>
            <a:pPr marR="4619625" algn="just">
              <a:lnSpc>
                <a:spcPct val="100000"/>
              </a:lnSpc>
              <a:spcBef>
                <a:spcPts val="310"/>
              </a:spcBef>
            </a:pPr>
            <a:r>
              <a:rPr sz="2300" dirty="0">
                <a:latin typeface="Calibri"/>
                <a:cs typeface="Calibri"/>
              </a:rPr>
              <a:t>Stationary</a:t>
            </a:r>
            <a:r>
              <a:rPr sz="2300" spc="-90" dirty="0">
                <a:latin typeface="Calibri"/>
                <a:cs typeface="Calibri"/>
              </a:rPr>
              <a:t> </a:t>
            </a:r>
            <a:r>
              <a:rPr sz="2300" spc="-10" dirty="0">
                <a:latin typeface="Calibri"/>
                <a:cs typeface="Calibri"/>
              </a:rPr>
              <a:t>distribution:</a:t>
            </a:r>
            <a:endParaRPr lang="en-US" sz="2300" spc="-10" dirty="0">
              <a:latin typeface="Calibri"/>
              <a:cs typeface="Calibri"/>
            </a:endParaRPr>
          </a:p>
          <a:p>
            <a:pPr marR="4619625" algn="just">
              <a:lnSpc>
                <a:spcPct val="100000"/>
              </a:lnSpc>
              <a:spcBef>
                <a:spcPts val="310"/>
              </a:spcBef>
            </a:pPr>
            <a:r>
              <a:rPr sz="2300" dirty="0">
                <a:latin typeface="Calibri"/>
                <a:cs typeface="Calibri"/>
              </a:rPr>
              <a:t>If</a:t>
            </a:r>
            <a:r>
              <a:rPr sz="2300" spc="-40" dirty="0">
                <a:latin typeface="Calibri"/>
                <a:cs typeface="Calibri"/>
              </a:rPr>
              <a:t> </a:t>
            </a:r>
            <a:r>
              <a:rPr sz="2300" dirty="0">
                <a:latin typeface="Calibri"/>
                <a:cs typeface="Calibri"/>
              </a:rPr>
              <a:t>T</a:t>
            </a:r>
            <a:r>
              <a:rPr sz="2300" spc="-40" dirty="0">
                <a:latin typeface="Calibri"/>
                <a:cs typeface="Calibri"/>
              </a:rPr>
              <a:t> </a:t>
            </a:r>
            <a:r>
              <a:rPr sz="2300" dirty="0">
                <a:latin typeface="Calibri"/>
                <a:cs typeface="Calibri"/>
              </a:rPr>
              <a:t>decreased</a:t>
            </a:r>
            <a:r>
              <a:rPr sz="2300" spc="-40" dirty="0">
                <a:latin typeface="Calibri"/>
                <a:cs typeface="Calibri"/>
              </a:rPr>
              <a:t> </a:t>
            </a:r>
            <a:r>
              <a:rPr sz="2300" dirty="0">
                <a:latin typeface="Calibri"/>
                <a:cs typeface="Calibri"/>
              </a:rPr>
              <a:t>slowly</a:t>
            </a:r>
            <a:r>
              <a:rPr sz="2300" spc="-40" dirty="0">
                <a:latin typeface="Calibri"/>
                <a:cs typeface="Calibri"/>
              </a:rPr>
              <a:t> </a:t>
            </a:r>
            <a:r>
              <a:rPr sz="2300" spc="-10" dirty="0">
                <a:latin typeface="Calibri"/>
                <a:cs typeface="Calibri"/>
              </a:rPr>
              <a:t>enough, </a:t>
            </a:r>
            <a:r>
              <a:rPr sz="2300" dirty="0">
                <a:latin typeface="Calibri"/>
                <a:cs typeface="Calibri"/>
              </a:rPr>
              <a:t>will</a:t>
            </a:r>
            <a:r>
              <a:rPr sz="2300" spc="-60" dirty="0">
                <a:latin typeface="Calibri"/>
                <a:cs typeface="Calibri"/>
              </a:rPr>
              <a:t> </a:t>
            </a:r>
            <a:r>
              <a:rPr sz="2300" spc="-10" dirty="0">
                <a:latin typeface="Calibri"/>
                <a:cs typeface="Calibri"/>
              </a:rPr>
              <a:t>converge</a:t>
            </a:r>
            <a:r>
              <a:rPr sz="2300" spc="-55" dirty="0">
                <a:latin typeface="Calibri"/>
                <a:cs typeface="Calibri"/>
              </a:rPr>
              <a:t> </a:t>
            </a:r>
            <a:r>
              <a:rPr sz="2300" dirty="0">
                <a:latin typeface="Calibri"/>
                <a:cs typeface="Calibri"/>
              </a:rPr>
              <a:t>to</a:t>
            </a:r>
            <a:r>
              <a:rPr sz="2300" spc="-55" dirty="0">
                <a:latin typeface="Calibri"/>
                <a:cs typeface="Calibri"/>
              </a:rPr>
              <a:t> </a:t>
            </a:r>
            <a:r>
              <a:rPr sz="2300" dirty="0">
                <a:latin typeface="Calibri"/>
                <a:cs typeface="Calibri"/>
              </a:rPr>
              <a:t>optimal</a:t>
            </a:r>
            <a:r>
              <a:rPr sz="2300" spc="-55" dirty="0">
                <a:latin typeface="Calibri"/>
                <a:cs typeface="Calibri"/>
              </a:rPr>
              <a:t> </a:t>
            </a:r>
            <a:r>
              <a:rPr sz="2300" spc="-10" dirty="0">
                <a:latin typeface="Calibri"/>
                <a:cs typeface="Calibri"/>
              </a:rPr>
              <a:t>state!</a:t>
            </a:r>
            <a:endParaRPr sz="2300" dirty="0">
              <a:latin typeface="Calibri"/>
              <a:cs typeface="Calibri"/>
            </a:endParaRPr>
          </a:p>
          <a:p>
            <a:pPr marL="12700" marR="2377440">
              <a:lnSpc>
                <a:spcPts val="6900"/>
              </a:lnSpc>
              <a:spcBef>
                <a:spcPts val="825"/>
              </a:spcBef>
            </a:pPr>
            <a:r>
              <a:rPr sz="2650" dirty="0">
                <a:solidFill>
                  <a:srgbClr val="333399"/>
                </a:solidFill>
                <a:latin typeface="Calibri"/>
                <a:cs typeface="Calibri"/>
              </a:rPr>
              <a:t>Is</a:t>
            </a:r>
            <a:r>
              <a:rPr sz="2650" spc="15" dirty="0">
                <a:solidFill>
                  <a:srgbClr val="333399"/>
                </a:solidFill>
                <a:latin typeface="Calibri"/>
                <a:cs typeface="Calibri"/>
              </a:rPr>
              <a:t> </a:t>
            </a:r>
            <a:r>
              <a:rPr sz="2650" dirty="0">
                <a:solidFill>
                  <a:srgbClr val="333399"/>
                </a:solidFill>
                <a:latin typeface="Calibri"/>
                <a:cs typeface="Calibri"/>
              </a:rPr>
              <a:t>this</a:t>
            </a:r>
            <a:r>
              <a:rPr sz="2650" spc="15" dirty="0">
                <a:solidFill>
                  <a:srgbClr val="333399"/>
                </a:solidFill>
                <a:latin typeface="Calibri"/>
                <a:cs typeface="Calibri"/>
              </a:rPr>
              <a:t> </a:t>
            </a:r>
            <a:r>
              <a:rPr sz="2650" dirty="0">
                <a:solidFill>
                  <a:srgbClr val="333399"/>
                </a:solidFill>
                <a:latin typeface="Calibri"/>
                <a:cs typeface="Calibri"/>
              </a:rPr>
              <a:t>an</a:t>
            </a:r>
            <a:r>
              <a:rPr sz="2650" spc="15" dirty="0">
                <a:solidFill>
                  <a:srgbClr val="333399"/>
                </a:solidFill>
                <a:latin typeface="Calibri"/>
                <a:cs typeface="Calibri"/>
              </a:rPr>
              <a:t> </a:t>
            </a:r>
            <a:r>
              <a:rPr sz="2650" dirty="0">
                <a:solidFill>
                  <a:srgbClr val="333399"/>
                </a:solidFill>
                <a:latin typeface="Calibri"/>
                <a:cs typeface="Calibri"/>
              </a:rPr>
              <a:t>interesting</a:t>
            </a:r>
            <a:r>
              <a:rPr sz="2650" spc="10" dirty="0">
                <a:solidFill>
                  <a:srgbClr val="333399"/>
                </a:solidFill>
                <a:latin typeface="Calibri"/>
                <a:cs typeface="Calibri"/>
              </a:rPr>
              <a:t> </a:t>
            </a:r>
            <a:r>
              <a:rPr sz="2650" spc="-10" dirty="0">
                <a:solidFill>
                  <a:srgbClr val="333399"/>
                </a:solidFill>
                <a:latin typeface="Calibri"/>
                <a:cs typeface="Calibri"/>
              </a:rPr>
              <a:t>guarantee? </a:t>
            </a:r>
            <a:r>
              <a:rPr sz="2650" dirty="0">
                <a:solidFill>
                  <a:srgbClr val="333399"/>
                </a:solidFill>
                <a:latin typeface="Calibri"/>
                <a:cs typeface="Calibri"/>
              </a:rPr>
              <a:t>Sounds</a:t>
            </a:r>
            <a:r>
              <a:rPr sz="2650" spc="15" dirty="0">
                <a:solidFill>
                  <a:srgbClr val="333399"/>
                </a:solidFill>
                <a:latin typeface="Calibri"/>
                <a:cs typeface="Calibri"/>
              </a:rPr>
              <a:t> </a:t>
            </a:r>
            <a:r>
              <a:rPr sz="2650" dirty="0">
                <a:solidFill>
                  <a:srgbClr val="333399"/>
                </a:solidFill>
                <a:latin typeface="Calibri"/>
                <a:cs typeface="Calibri"/>
              </a:rPr>
              <a:t>like</a:t>
            </a:r>
            <a:r>
              <a:rPr sz="2650" spc="25" dirty="0">
                <a:solidFill>
                  <a:srgbClr val="333399"/>
                </a:solidFill>
                <a:latin typeface="Calibri"/>
                <a:cs typeface="Calibri"/>
              </a:rPr>
              <a:t> </a:t>
            </a:r>
            <a:r>
              <a:rPr sz="2650" dirty="0">
                <a:solidFill>
                  <a:srgbClr val="333399"/>
                </a:solidFill>
                <a:latin typeface="Calibri"/>
                <a:cs typeface="Calibri"/>
              </a:rPr>
              <a:t>magic,</a:t>
            </a:r>
            <a:r>
              <a:rPr sz="2650" spc="20" dirty="0">
                <a:solidFill>
                  <a:srgbClr val="333399"/>
                </a:solidFill>
                <a:latin typeface="Calibri"/>
                <a:cs typeface="Calibri"/>
              </a:rPr>
              <a:t> </a:t>
            </a:r>
            <a:r>
              <a:rPr sz="2650" dirty="0">
                <a:solidFill>
                  <a:srgbClr val="333399"/>
                </a:solidFill>
                <a:latin typeface="Calibri"/>
                <a:cs typeface="Calibri"/>
              </a:rPr>
              <a:t>but</a:t>
            </a:r>
            <a:r>
              <a:rPr sz="2650" spc="25" dirty="0">
                <a:solidFill>
                  <a:srgbClr val="333399"/>
                </a:solidFill>
                <a:latin typeface="Calibri"/>
                <a:cs typeface="Calibri"/>
              </a:rPr>
              <a:t> </a:t>
            </a:r>
            <a:r>
              <a:rPr sz="2650" dirty="0">
                <a:solidFill>
                  <a:srgbClr val="333399"/>
                </a:solidFill>
                <a:latin typeface="Calibri"/>
                <a:cs typeface="Calibri"/>
              </a:rPr>
              <a:t>reality</a:t>
            </a:r>
            <a:r>
              <a:rPr sz="2650" spc="25" dirty="0">
                <a:solidFill>
                  <a:srgbClr val="333399"/>
                </a:solidFill>
                <a:latin typeface="Calibri"/>
                <a:cs typeface="Calibri"/>
              </a:rPr>
              <a:t> </a:t>
            </a:r>
            <a:r>
              <a:rPr sz="2650" dirty="0">
                <a:solidFill>
                  <a:srgbClr val="333399"/>
                </a:solidFill>
                <a:latin typeface="Calibri"/>
                <a:cs typeface="Calibri"/>
              </a:rPr>
              <a:t>is</a:t>
            </a:r>
            <a:r>
              <a:rPr sz="2650" spc="25" dirty="0">
                <a:solidFill>
                  <a:srgbClr val="333399"/>
                </a:solidFill>
                <a:latin typeface="Calibri"/>
                <a:cs typeface="Calibri"/>
              </a:rPr>
              <a:t> </a:t>
            </a:r>
            <a:r>
              <a:rPr sz="2650" spc="-10" dirty="0">
                <a:solidFill>
                  <a:srgbClr val="333399"/>
                </a:solidFill>
                <a:latin typeface="Calibri"/>
                <a:cs typeface="Calibri"/>
              </a:rPr>
              <a:t>reality:</a:t>
            </a:r>
            <a:endParaRPr sz="2650" dirty="0">
              <a:latin typeface="Calibri"/>
              <a:cs typeface="Calibri"/>
            </a:endParaRPr>
          </a:p>
          <a:p>
            <a:pPr marL="414655">
              <a:lnSpc>
                <a:spcPts val="1864"/>
              </a:lnSpc>
            </a:pPr>
            <a:r>
              <a:rPr sz="2300" dirty="0">
                <a:latin typeface="Calibri"/>
                <a:cs typeface="Calibri"/>
              </a:rPr>
              <a:t>The</a:t>
            </a:r>
            <a:r>
              <a:rPr sz="2300" spc="-50" dirty="0">
                <a:latin typeface="Calibri"/>
                <a:cs typeface="Calibri"/>
              </a:rPr>
              <a:t> </a:t>
            </a:r>
            <a:r>
              <a:rPr sz="2300" dirty="0">
                <a:latin typeface="Calibri"/>
                <a:cs typeface="Calibri"/>
              </a:rPr>
              <a:t>more</a:t>
            </a:r>
            <a:r>
              <a:rPr sz="2300" spc="-50" dirty="0">
                <a:latin typeface="Calibri"/>
                <a:cs typeface="Calibri"/>
              </a:rPr>
              <a:t> </a:t>
            </a:r>
            <a:r>
              <a:rPr sz="2300" dirty="0">
                <a:latin typeface="Calibri"/>
                <a:cs typeface="Calibri"/>
              </a:rPr>
              <a:t>downhill</a:t>
            </a:r>
            <a:r>
              <a:rPr sz="2300" spc="-50" dirty="0">
                <a:latin typeface="Calibri"/>
                <a:cs typeface="Calibri"/>
              </a:rPr>
              <a:t> </a:t>
            </a:r>
            <a:r>
              <a:rPr sz="2300" dirty="0">
                <a:latin typeface="Calibri"/>
                <a:cs typeface="Calibri"/>
              </a:rPr>
              <a:t>steps</a:t>
            </a:r>
            <a:r>
              <a:rPr sz="2300" spc="-45" dirty="0">
                <a:latin typeface="Calibri"/>
                <a:cs typeface="Calibri"/>
              </a:rPr>
              <a:t> </a:t>
            </a:r>
            <a:r>
              <a:rPr sz="2300" dirty="0">
                <a:latin typeface="Calibri"/>
                <a:cs typeface="Calibri"/>
              </a:rPr>
              <a:t>you</a:t>
            </a:r>
            <a:r>
              <a:rPr sz="2300" spc="-50" dirty="0">
                <a:latin typeface="Calibri"/>
                <a:cs typeface="Calibri"/>
              </a:rPr>
              <a:t> </a:t>
            </a:r>
            <a:r>
              <a:rPr sz="2300" dirty="0">
                <a:latin typeface="Calibri"/>
                <a:cs typeface="Calibri"/>
              </a:rPr>
              <a:t>need</a:t>
            </a:r>
            <a:r>
              <a:rPr sz="2300" spc="-50" dirty="0">
                <a:latin typeface="Calibri"/>
                <a:cs typeface="Calibri"/>
              </a:rPr>
              <a:t> </a:t>
            </a:r>
            <a:r>
              <a:rPr sz="2300" dirty="0">
                <a:latin typeface="Calibri"/>
                <a:cs typeface="Calibri"/>
              </a:rPr>
              <a:t>to</a:t>
            </a:r>
            <a:r>
              <a:rPr sz="2300" spc="-45" dirty="0">
                <a:latin typeface="Calibri"/>
                <a:cs typeface="Calibri"/>
              </a:rPr>
              <a:t> </a:t>
            </a:r>
            <a:r>
              <a:rPr sz="2300" dirty="0">
                <a:latin typeface="Calibri"/>
                <a:cs typeface="Calibri"/>
              </a:rPr>
              <a:t>escape</a:t>
            </a:r>
            <a:r>
              <a:rPr sz="2300" spc="-50" dirty="0">
                <a:latin typeface="Calibri"/>
                <a:cs typeface="Calibri"/>
              </a:rPr>
              <a:t> </a:t>
            </a:r>
            <a:r>
              <a:rPr sz="2300" dirty="0">
                <a:latin typeface="Calibri"/>
                <a:cs typeface="Calibri"/>
              </a:rPr>
              <a:t>a</a:t>
            </a:r>
            <a:r>
              <a:rPr sz="2300" spc="-50" dirty="0">
                <a:latin typeface="Calibri"/>
                <a:cs typeface="Calibri"/>
              </a:rPr>
              <a:t> </a:t>
            </a:r>
            <a:r>
              <a:rPr sz="2300" dirty="0">
                <a:latin typeface="Calibri"/>
                <a:cs typeface="Calibri"/>
              </a:rPr>
              <a:t>local</a:t>
            </a:r>
            <a:r>
              <a:rPr sz="2300" spc="-50" dirty="0">
                <a:latin typeface="Calibri"/>
                <a:cs typeface="Calibri"/>
              </a:rPr>
              <a:t> </a:t>
            </a:r>
            <a:r>
              <a:rPr sz="2300" spc="-10" dirty="0">
                <a:latin typeface="Calibri"/>
                <a:cs typeface="Calibri"/>
              </a:rPr>
              <a:t>optimum,</a:t>
            </a:r>
            <a:endParaRPr sz="2300" dirty="0">
              <a:latin typeface="Calibri"/>
              <a:cs typeface="Calibri"/>
            </a:endParaRPr>
          </a:p>
          <a:p>
            <a:pPr marL="414655">
              <a:lnSpc>
                <a:spcPts val="2550"/>
              </a:lnSpc>
            </a:pPr>
            <a:r>
              <a:rPr sz="2300" dirty="0">
                <a:latin typeface="Calibri"/>
                <a:cs typeface="Calibri"/>
              </a:rPr>
              <a:t>the</a:t>
            </a:r>
            <a:r>
              <a:rPr sz="2300" spc="-40" dirty="0">
                <a:latin typeface="Calibri"/>
                <a:cs typeface="Calibri"/>
              </a:rPr>
              <a:t> </a:t>
            </a:r>
            <a:r>
              <a:rPr sz="2300" dirty="0">
                <a:latin typeface="Calibri"/>
                <a:cs typeface="Calibri"/>
              </a:rPr>
              <a:t>less</a:t>
            </a:r>
            <a:r>
              <a:rPr sz="2300" spc="-40" dirty="0">
                <a:latin typeface="Calibri"/>
                <a:cs typeface="Calibri"/>
              </a:rPr>
              <a:t> </a:t>
            </a:r>
            <a:r>
              <a:rPr sz="2300" dirty="0">
                <a:latin typeface="Calibri"/>
                <a:cs typeface="Calibri"/>
              </a:rPr>
              <a:t>likely</a:t>
            </a:r>
            <a:r>
              <a:rPr sz="2300" spc="-40" dirty="0">
                <a:latin typeface="Calibri"/>
                <a:cs typeface="Calibri"/>
              </a:rPr>
              <a:t> </a:t>
            </a:r>
            <a:r>
              <a:rPr sz="2300" dirty="0">
                <a:latin typeface="Calibri"/>
                <a:cs typeface="Calibri"/>
              </a:rPr>
              <a:t>you</a:t>
            </a:r>
            <a:r>
              <a:rPr sz="2300" spc="-40" dirty="0">
                <a:latin typeface="Calibri"/>
                <a:cs typeface="Calibri"/>
              </a:rPr>
              <a:t> </a:t>
            </a:r>
            <a:r>
              <a:rPr sz="2300" dirty="0">
                <a:latin typeface="Calibri"/>
                <a:cs typeface="Calibri"/>
              </a:rPr>
              <a:t>are</a:t>
            </a:r>
            <a:r>
              <a:rPr sz="2300" spc="-40" dirty="0">
                <a:latin typeface="Calibri"/>
                <a:cs typeface="Calibri"/>
              </a:rPr>
              <a:t> </a:t>
            </a:r>
            <a:r>
              <a:rPr sz="2300" dirty="0">
                <a:latin typeface="Calibri"/>
                <a:cs typeface="Calibri"/>
              </a:rPr>
              <a:t>to</a:t>
            </a:r>
            <a:r>
              <a:rPr sz="2300" spc="-40" dirty="0">
                <a:latin typeface="Calibri"/>
                <a:cs typeface="Calibri"/>
              </a:rPr>
              <a:t> </a:t>
            </a:r>
            <a:r>
              <a:rPr sz="2300" dirty="0">
                <a:latin typeface="Calibri"/>
                <a:cs typeface="Calibri"/>
              </a:rPr>
              <a:t>ever</a:t>
            </a:r>
            <a:r>
              <a:rPr sz="2300" spc="-40" dirty="0">
                <a:latin typeface="Calibri"/>
                <a:cs typeface="Calibri"/>
              </a:rPr>
              <a:t> </a:t>
            </a:r>
            <a:r>
              <a:rPr sz="2300" dirty="0">
                <a:latin typeface="Calibri"/>
                <a:cs typeface="Calibri"/>
              </a:rPr>
              <a:t>make</a:t>
            </a:r>
            <a:r>
              <a:rPr sz="2300" spc="-40" dirty="0">
                <a:latin typeface="Calibri"/>
                <a:cs typeface="Calibri"/>
              </a:rPr>
              <a:t> </a:t>
            </a:r>
            <a:r>
              <a:rPr sz="2300" dirty="0">
                <a:latin typeface="Calibri"/>
                <a:cs typeface="Calibri"/>
              </a:rPr>
              <a:t>them</a:t>
            </a:r>
            <a:r>
              <a:rPr sz="2300" spc="-40" dirty="0">
                <a:latin typeface="Calibri"/>
                <a:cs typeface="Calibri"/>
              </a:rPr>
              <a:t> </a:t>
            </a:r>
            <a:r>
              <a:rPr sz="2300" dirty="0">
                <a:latin typeface="Calibri"/>
                <a:cs typeface="Calibri"/>
              </a:rPr>
              <a:t>all</a:t>
            </a:r>
            <a:r>
              <a:rPr sz="2300" spc="-40" dirty="0">
                <a:latin typeface="Calibri"/>
                <a:cs typeface="Calibri"/>
              </a:rPr>
              <a:t> </a:t>
            </a:r>
            <a:r>
              <a:rPr sz="2300" dirty="0">
                <a:latin typeface="Calibri"/>
                <a:cs typeface="Calibri"/>
              </a:rPr>
              <a:t>in</a:t>
            </a:r>
            <a:r>
              <a:rPr sz="2300" spc="-40" dirty="0">
                <a:latin typeface="Calibri"/>
                <a:cs typeface="Calibri"/>
              </a:rPr>
              <a:t> </a:t>
            </a:r>
            <a:r>
              <a:rPr sz="2300" dirty="0">
                <a:latin typeface="Calibri"/>
                <a:cs typeface="Calibri"/>
              </a:rPr>
              <a:t>a</a:t>
            </a:r>
            <a:r>
              <a:rPr sz="2300" spc="-40" dirty="0">
                <a:latin typeface="Calibri"/>
                <a:cs typeface="Calibri"/>
              </a:rPr>
              <a:t> </a:t>
            </a:r>
            <a:r>
              <a:rPr sz="2300" spc="-25" dirty="0">
                <a:latin typeface="Calibri"/>
                <a:cs typeface="Calibri"/>
              </a:rPr>
              <a:t>row</a:t>
            </a:r>
            <a:endParaRPr sz="2300" dirty="0">
              <a:latin typeface="Calibri"/>
              <a:cs typeface="Calibri"/>
            </a:endParaRPr>
          </a:p>
          <a:p>
            <a:pPr marL="414655" marR="264160">
              <a:lnSpc>
                <a:spcPts val="2340"/>
              </a:lnSpc>
              <a:spcBef>
                <a:spcPts val="560"/>
              </a:spcBef>
            </a:pPr>
            <a:r>
              <a:rPr sz="2300" dirty="0">
                <a:latin typeface="Calibri"/>
                <a:cs typeface="Calibri"/>
              </a:rPr>
              <a:t>People</a:t>
            </a:r>
            <a:r>
              <a:rPr sz="2300" spc="-55" dirty="0">
                <a:latin typeface="Calibri"/>
                <a:cs typeface="Calibri"/>
              </a:rPr>
              <a:t> </a:t>
            </a:r>
            <a:r>
              <a:rPr sz="2300" dirty="0">
                <a:latin typeface="Calibri"/>
                <a:cs typeface="Calibri"/>
              </a:rPr>
              <a:t>think</a:t>
            </a:r>
            <a:r>
              <a:rPr sz="2300" spc="-50" dirty="0">
                <a:latin typeface="Calibri"/>
                <a:cs typeface="Calibri"/>
              </a:rPr>
              <a:t> </a:t>
            </a:r>
            <a:r>
              <a:rPr sz="2300" dirty="0">
                <a:latin typeface="Calibri"/>
                <a:cs typeface="Calibri"/>
              </a:rPr>
              <a:t>hard</a:t>
            </a:r>
            <a:r>
              <a:rPr sz="2300" spc="-55" dirty="0">
                <a:latin typeface="Calibri"/>
                <a:cs typeface="Calibri"/>
              </a:rPr>
              <a:t> </a:t>
            </a:r>
            <a:r>
              <a:rPr sz="2300" dirty="0">
                <a:latin typeface="Calibri"/>
                <a:cs typeface="Calibri"/>
              </a:rPr>
              <a:t>about</a:t>
            </a:r>
            <a:r>
              <a:rPr sz="2300" spc="-50" dirty="0">
                <a:latin typeface="Calibri"/>
                <a:cs typeface="Calibri"/>
              </a:rPr>
              <a:t> </a:t>
            </a:r>
            <a:r>
              <a:rPr sz="2300" i="1" dirty="0">
                <a:latin typeface="Calibri"/>
                <a:cs typeface="Calibri"/>
              </a:rPr>
              <a:t>ridge</a:t>
            </a:r>
            <a:r>
              <a:rPr sz="2300" i="1" spc="-55" dirty="0">
                <a:latin typeface="Calibri"/>
                <a:cs typeface="Calibri"/>
              </a:rPr>
              <a:t> </a:t>
            </a:r>
            <a:r>
              <a:rPr sz="2300" i="1" dirty="0">
                <a:latin typeface="Calibri"/>
                <a:cs typeface="Calibri"/>
              </a:rPr>
              <a:t>operators</a:t>
            </a:r>
            <a:r>
              <a:rPr sz="2300" i="1" spc="-50" dirty="0">
                <a:latin typeface="Calibri"/>
                <a:cs typeface="Calibri"/>
              </a:rPr>
              <a:t> </a:t>
            </a:r>
            <a:r>
              <a:rPr sz="2300" dirty="0">
                <a:latin typeface="Calibri"/>
                <a:cs typeface="Calibri"/>
              </a:rPr>
              <a:t>which</a:t>
            </a:r>
            <a:r>
              <a:rPr sz="2300" spc="-50" dirty="0">
                <a:latin typeface="Calibri"/>
                <a:cs typeface="Calibri"/>
              </a:rPr>
              <a:t> </a:t>
            </a:r>
            <a:r>
              <a:rPr sz="2300" dirty="0">
                <a:latin typeface="Calibri"/>
                <a:cs typeface="Calibri"/>
              </a:rPr>
              <a:t>let</a:t>
            </a:r>
            <a:r>
              <a:rPr sz="2300" spc="-55" dirty="0">
                <a:latin typeface="Calibri"/>
                <a:cs typeface="Calibri"/>
              </a:rPr>
              <a:t> </a:t>
            </a:r>
            <a:r>
              <a:rPr sz="2300" dirty="0">
                <a:latin typeface="Calibri"/>
                <a:cs typeface="Calibri"/>
              </a:rPr>
              <a:t>you</a:t>
            </a:r>
            <a:r>
              <a:rPr sz="2300" spc="-50" dirty="0">
                <a:latin typeface="Calibri"/>
                <a:cs typeface="Calibri"/>
              </a:rPr>
              <a:t> </a:t>
            </a:r>
            <a:r>
              <a:rPr sz="2300" spc="-20" dirty="0">
                <a:latin typeface="Calibri"/>
                <a:cs typeface="Calibri"/>
              </a:rPr>
              <a:t>jump </a:t>
            </a:r>
            <a:r>
              <a:rPr sz="2300" dirty="0">
                <a:latin typeface="Calibri"/>
                <a:cs typeface="Calibri"/>
              </a:rPr>
              <a:t>around</a:t>
            </a:r>
            <a:r>
              <a:rPr sz="2300" spc="-60" dirty="0">
                <a:latin typeface="Calibri"/>
                <a:cs typeface="Calibri"/>
              </a:rPr>
              <a:t> </a:t>
            </a:r>
            <a:r>
              <a:rPr sz="2300" dirty="0">
                <a:latin typeface="Calibri"/>
                <a:cs typeface="Calibri"/>
              </a:rPr>
              <a:t>the</a:t>
            </a:r>
            <a:r>
              <a:rPr sz="2300" spc="-55" dirty="0">
                <a:latin typeface="Calibri"/>
                <a:cs typeface="Calibri"/>
              </a:rPr>
              <a:t> </a:t>
            </a:r>
            <a:r>
              <a:rPr sz="2300" dirty="0">
                <a:latin typeface="Calibri"/>
                <a:cs typeface="Calibri"/>
              </a:rPr>
              <a:t>space</a:t>
            </a:r>
            <a:r>
              <a:rPr sz="2300" spc="-55" dirty="0">
                <a:latin typeface="Calibri"/>
                <a:cs typeface="Calibri"/>
              </a:rPr>
              <a:t> </a:t>
            </a:r>
            <a:r>
              <a:rPr sz="2300" dirty="0">
                <a:latin typeface="Calibri"/>
                <a:cs typeface="Calibri"/>
              </a:rPr>
              <a:t>in</a:t>
            </a:r>
            <a:r>
              <a:rPr sz="2300" spc="-55" dirty="0">
                <a:latin typeface="Calibri"/>
                <a:cs typeface="Calibri"/>
              </a:rPr>
              <a:t> </a:t>
            </a:r>
            <a:r>
              <a:rPr sz="2300" dirty="0">
                <a:latin typeface="Calibri"/>
                <a:cs typeface="Calibri"/>
              </a:rPr>
              <a:t>better</a:t>
            </a:r>
            <a:r>
              <a:rPr sz="2300" spc="-55" dirty="0">
                <a:latin typeface="Calibri"/>
                <a:cs typeface="Calibri"/>
              </a:rPr>
              <a:t> </a:t>
            </a:r>
            <a:r>
              <a:rPr sz="2300" spc="-20" dirty="0">
                <a:latin typeface="Calibri"/>
                <a:cs typeface="Calibri"/>
              </a:rPr>
              <a:t>ways</a:t>
            </a:r>
            <a:endParaRPr sz="2300" dirty="0">
              <a:latin typeface="Calibri"/>
              <a:cs typeface="Calibri"/>
            </a:endParaRPr>
          </a:p>
        </p:txBody>
      </p:sp>
      <p:pic>
        <p:nvPicPr>
          <p:cNvPr id="4" name="object 4"/>
          <p:cNvPicPr/>
          <p:nvPr/>
        </p:nvPicPr>
        <p:blipFill>
          <a:blip r:embed="rId2" cstate="print"/>
          <a:stretch>
            <a:fillRect/>
          </a:stretch>
        </p:blipFill>
        <p:spPr>
          <a:xfrm>
            <a:off x="3733800" y="2382361"/>
            <a:ext cx="1916402" cy="524949"/>
          </a:xfrm>
          <a:prstGeom prst="rect">
            <a:avLst/>
          </a:prstGeom>
        </p:spPr>
      </p:pic>
      <p:pic>
        <p:nvPicPr>
          <p:cNvPr id="5" name="object 5"/>
          <p:cNvPicPr/>
          <p:nvPr/>
        </p:nvPicPr>
        <p:blipFill>
          <a:blip r:embed="rId3" cstate="print"/>
          <a:stretch>
            <a:fillRect/>
          </a:stretch>
        </p:blipFill>
        <p:spPr>
          <a:xfrm>
            <a:off x="9144001" y="1531441"/>
            <a:ext cx="2484236" cy="3102003"/>
          </a:xfrm>
          <a:prstGeom prst="rect">
            <a:avLst/>
          </a:prstGeom>
        </p:spPr>
      </p:pic>
      <p:sp>
        <p:nvSpPr>
          <p:cNvPr id="7" name="TextBox 6">
            <a:extLst>
              <a:ext uri="{FF2B5EF4-FFF2-40B4-BE49-F238E27FC236}">
                <a16:creationId xmlns:a16="http://schemas.microsoft.com/office/drawing/2014/main" id="{4DAF6C4E-5347-4A10-B2B1-98C0BA923384}"/>
              </a:ext>
            </a:extLst>
          </p:cNvPr>
          <p:cNvSpPr txBox="1"/>
          <p:nvPr/>
        </p:nvSpPr>
        <p:spPr>
          <a:xfrm>
            <a:off x="557770" y="1270058"/>
            <a:ext cx="14295237" cy="830997"/>
          </a:xfrm>
          <a:prstGeom prst="rect">
            <a:avLst/>
          </a:prstGeom>
          <a:noFill/>
        </p:spPr>
        <p:txBody>
          <a:bodyPr wrap="square">
            <a:spAutoFit/>
          </a:bodyPr>
          <a:lstStyle/>
          <a:p>
            <a:pPr marR="4619625" algn="just">
              <a:lnSpc>
                <a:spcPct val="100000"/>
              </a:lnSpc>
              <a:spcBef>
                <a:spcPts val="310"/>
              </a:spcBef>
            </a:pPr>
            <a:r>
              <a:rPr lang="en-US" sz="2400" dirty="0">
                <a:solidFill>
                  <a:srgbClr val="333399"/>
                </a:solidFill>
                <a:latin typeface="Calibri"/>
                <a:cs typeface="Calibri"/>
              </a:rPr>
              <a:t>Simulated Annealing is an optimization algorithm designed to search for an optimal or near-optimal solution in a large solution space.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D291E-16F1-B5A6-1EB6-239751C4437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5387FE2-D247-B6A6-CD95-00F8D2E3CCC4}"/>
              </a:ext>
            </a:extLst>
          </p:cNvPr>
          <p:cNvSpPr txBox="1">
            <a:spLocks noGrp="1"/>
          </p:cNvSpPr>
          <p:nvPr>
            <p:ph type="title"/>
          </p:nvPr>
        </p:nvSpPr>
        <p:spPr>
          <a:prstGeom prst="rect">
            <a:avLst/>
          </a:prstGeom>
        </p:spPr>
        <p:txBody>
          <a:bodyPr vert="horz" wrap="square" lIns="0" tIns="269676" rIns="0" bIns="0" rtlCol="0">
            <a:spAutoFit/>
          </a:bodyPr>
          <a:lstStyle/>
          <a:p>
            <a:pPr marL="3627754">
              <a:lnSpc>
                <a:spcPct val="100000"/>
              </a:lnSpc>
              <a:spcBef>
                <a:spcPts val="100"/>
              </a:spcBef>
            </a:pPr>
            <a:r>
              <a:rPr dirty="0"/>
              <a:t>Simulated</a:t>
            </a:r>
            <a:r>
              <a:rPr spc="-225" dirty="0"/>
              <a:t> </a:t>
            </a:r>
            <a:r>
              <a:rPr spc="-10" dirty="0"/>
              <a:t>Annealing</a:t>
            </a:r>
          </a:p>
        </p:txBody>
      </p:sp>
      <p:pic>
        <p:nvPicPr>
          <p:cNvPr id="4" name="object 4">
            <a:extLst>
              <a:ext uri="{FF2B5EF4-FFF2-40B4-BE49-F238E27FC236}">
                <a16:creationId xmlns:a16="http://schemas.microsoft.com/office/drawing/2014/main" id="{539B5ECB-B67C-DD62-E45D-8E0FE028F992}"/>
              </a:ext>
            </a:extLst>
          </p:cNvPr>
          <p:cNvPicPr/>
          <p:nvPr/>
        </p:nvPicPr>
        <p:blipFill>
          <a:blip r:embed="rId2" cstate="print"/>
          <a:stretch>
            <a:fillRect/>
          </a:stretch>
        </p:blipFill>
        <p:spPr>
          <a:xfrm>
            <a:off x="3733800" y="2382361"/>
            <a:ext cx="1916402" cy="524949"/>
          </a:xfrm>
          <a:prstGeom prst="rect">
            <a:avLst/>
          </a:prstGeom>
        </p:spPr>
      </p:pic>
      <p:pic>
        <p:nvPicPr>
          <p:cNvPr id="2050" name="Picture 2">
            <a:extLst>
              <a:ext uri="{FF2B5EF4-FFF2-40B4-BE49-F238E27FC236}">
                <a16:creationId xmlns:a16="http://schemas.microsoft.com/office/drawing/2014/main" id="{27686700-38F4-9FBD-4830-9DE21F6E32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875" y="1531441"/>
            <a:ext cx="8096250" cy="5126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5542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D4F75DE4-5C1B-4D35-BC08-6B5AE9FA1BA4}"/>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12</a:t>
            </a:fld>
            <a:endParaRPr lang="en-US" altLang="en-US" sz="1200">
              <a:latin typeface="Garamond" panose="02020404030301010803" pitchFamily="18" charset="0"/>
            </a:endParaRPr>
          </a:p>
        </p:txBody>
      </p:sp>
      <p:sp>
        <p:nvSpPr>
          <p:cNvPr id="8195" name="Rectangle 4">
            <a:extLst>
              <a:ext uri="{FF2B5EF4-FFF2-40B4-BE49-F238E27FC236}">
                <a16:creationId xmlns:a16="http://schemas.microsoft.com/office/drawing/2014/main" id="{4B35CFA4-9B1E-48C5-A5C4-185DC03792C1}"/>
              </a:ext>
            </a:extLst>
          </p:cNvPr>
          <p:cNvSpPr>
            <a:spLocks noGrp="1" noChangeArrowheads="1"/>
          </p:cNvSpPr>
          <p:nvPr>
            <p:ph type="title"/>
          </p:nvPr>
        </p:nvSpPr>
        <p:spPr>
          <a:xfrm>
            <a:off x="1659652" y="222647"/>
            <a:ext cx="11920696" cy="615553"/>
          </a:xfrm>
        </p:spPr>
        <p:txBody>
          <a:bodyPr/>
          <a:lstStyle/>
          <a:p>
            <a:pPr eaLnBrk="1" hangingPunct="1"/>
            <a:r>
              <a:rPr lang="en-US" altLang="en-US" sz="4000" b="1" u="sng" dirty="0"/>
              <a:t>What Are Genetic Algorithms (GAs)?</a:t>
            </a:r>
          </a:p>
        </p:txBody>
      </p:sp>
      <p:sp>
        <p:nvSpPr>
          <p:cNvPr id="8196" name="Rectangle 5">
            <a:extLst>
              <a:ext uri="{FF2B5EF4-FFF2-40B4-BE49-F238E27FC236}">
                <a16:creationId xmlns:a16="http://schemas.microsoft.com/office/drawing/2014/main" id="{0DC4E7EB-8F82-440A-82D0-270A081A00EB}"/>
              </a:ext>
            </a:extLst>
          </p:cNvPr>
          <p:cNvSpPr>
            <a:spLocks noGrp="1" noChangeArrowheads="1"/>
          </p:cNvSpPr>
          <p:nvPr>
            <p:ph type="body" idx="1"/>
          </p:nvPr>
        </p:nvSpPr>
        <p:spPr>
          <a:xfrm>
            <a:off x="1981200" y="1600200"/>
            <a:ext cx="8229600" cy="2462213"/>
          </a:xfrm>
        </p:spPr>
        <p:txBody>
          <a:bodyPr/>
          <a:lstStyle/>
          <a:p>
            <a:pPr eaLnBrk="1" hangingPunct="1">
              <a:buFont typeface="Wingdings" panose="05000000000000000000" pitchFamily="2" charset="2"/>
              <a:buNone/>
            </a:pPr>
            <a:r>
              <a:rPr lang="en-US" altLang="en-US" dirty="0"/>
              <a:t>   </a:t>
            </a:r>
          </a:p>
          <a:p>
            <a:pPr eaLnBrk="1" hangingPunct="1">
              <a:buFont typeface="Wingdings" panose="05000000000000000000" pitchFamily="2" charset="2"/>
              <a:buNone/>
            </a:pPr>
            <a:endParaRPr lang="en-US" altLang="en-US" dirty="0"/>
          </a:p>
          <a:p>
            <a:pPr algn="just" eaLnBrk="1" hangingPunct="1">
              <a:buFont typeface="Wingdings" panose="05000000000000000000" pitchFamily="2" charset="2"/>
              <a:buNone/>
            </a:pPr>
            <a:r>
              <a:rPr lang="en-US" altLang="en-US" dirty="0"/>
              <a:t>   Genetic Algorithms are </a:t>
            </a:r>
            <a:r>
              <a:rPr lang="en-US" altLang="en-US" i="1" dirty="0">
                <a:solidFill>
                  <a:srgbClr val="CC3300"/>
                </a:solidFill>
              </a:rPr>
              <a:t>search</a:t>
            </a:r>
            <a:r>
              <a:rPr lang="en-US" altLang="en-US" dirty="0"/>
              <a:t> and </a:t>
            </a:r>
            <a:r>
              <a:rPr lang="en-US" altLang="en-US" i="1" dirty="0">
                <a:solidFill>
                  <a:srgbClr val="CC3300"/>
                </a:solidFill>
              </a:rPr>
              <a:t>optimization</a:t>
            </a:r>
            <a:r>
              <a:rPr lang="en-US" altLang="en-US" dirty="0"/>
              <a:t> techniques based on Darwin’s Principle of </a:t>
            </a:r>
            <a:r>
              <a:rPr lang="en-US" altLang="en-US" i="1" dirty="0">
                <a:solidFill>
                  <a:srgbClr val="CC3300"/>
                </a:solidFill>
              </a:rPr>
              <a:t>Natural Selection</a:t>
            </a:r>
            <a:r>
              <a:rPr lang="en-US" altLang="en-US" dirty="0"/>
              <a:t>.</a:t>
            </a:r>
          </a:p>
        </p:txBody>
      </p:sp>
      <p:graphicFrame>
        <p:nvGraphicFramePr>
          <p:cNvPr id="8197" name="Object 4">
            <a:extLst>
              <a:ext uri="{FF2B5EF4-FFF2-40B4-BE49-F238E27FC236}">
                <a16:creationId xmlns:a16="http://schemas.microsoft.com/office/drawing/2014/main" id="{3B9CBAB9-D38A-4168-A710-61A361455E00}"/>
              </a:ext>
            </a:extLst>
          </p:cNvPr>
          <p:cNvGraphicFramePr>
            <a:graphicFrameLocks/>
          </p:cNvGraphicFramePr>
          <p:nvPr>
            <p:extLst>
              <p:ext uri="{D42A27DB-BD31-4B8C-83A1-F6EECF244321}">
                <p14:modId xmlns:p14="http://schemas.microsoft.com/office/powerpoint/2010/main" val="1159305536"/>
              </p:ext>
            </p:extLst>
          </p:nvPr>
        </p:nvGraphicFramePr>
        <p:xfrm>
          <a:off x="762000" y="0"/>
          <a:ext cx="457200" cy="838200"/>
        </p:xfrm>
        <a:graphic>
          <a:graphicData uri="http://schemas.openxmlformats.org/presentationml/2006/ole">
            <mc:AlternateContent xmlns:mc="http://schemas.openxmlformats.org/markup-compatibility/2006">
              <mc:Choice xmlns:v="urn:schemas-microsoft-com:vml" Requires="v">
                <p:oleObj name="Klip" r:id="rId3" imgW="1423988" imgH="3055938" progId="MS_ClipArt_Gallery.2">
                  <p:embed/>
                </p:oleObj>
              </mc:Choice>
              <mc:Fallback>
                <p:oleObj name="Klip" r:id="rId3" imgW="1423988" imgH="3055938" progId="MS_ClipArt_Gallery.2">
                  <p:embed/>
                  <p:pic>
                    <p:nvPicPr>
                      <p:cNvPr id="8197" name="Object 4">
                        <a:extLst>
                          <a:ext uri="{FF2B5EF4-FFF2-40B4-BE49-F238E27FC236}">
                            <a16:creationId xmlns:a16="http://schemas.microsoft.com/office/drawing/2014/main" id="{3B9CBAB9-D38A-4168-A710-61A361455E0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7890" name="Picture 2">
            <a:extLst>
              <a:ext uri="{FF2B5EF4-FFF2-40B4-BE49-F238E27FC236}">
                <a16:creationId xmlns:a16="http://schemas.microsoft.com/office/drawing/2014/main" id="{6EABA494-F1D8-43A1-99B0-92DB2452CE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4514850"/>
            <a:ext cx="9670551" cy="17287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B1393052-48B6-4D8A-94A2-BBDDFA5AA1C0}"/>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13</a:t>
            </a:fld>
            <a:endParaRPr lang="en-US" altLang="en-US" sz="1200">
              <a:latin typeface="Garamond" panose="02020404030301010803" pitchFamily="18" charset="0"/>
            </a:endParaRPr>
          </a:p>
        </p:txBody>
      </p:sp>
      <p:sp>
        <p:nvSpPr>
          <p:cNvPr id="16387" name="Rectangle 2">
            <a:extLst>
              <a:ext uri="{FF2B5EF4-FFF2-40B4-BE49-F238E27FC236}">
                <a16:creationId xmlns:a16="http://schemas.microsoft.com/office/drawing/2014/main" id="{B29BC76C-AFCE-4550-B06B-6B85E696D38C}"/>
              </a:ext>
            </a:extLst>
          </p:cNvPr>
          <p:cNvSpPr>
            <a:spLocks noGrp="1" noChangeArrowheads="1"/>
          </p:cNvSpPr>
          <p:nvPr>
            <p:ph type="title"/>
          </p:nvPr>
        </p:nvSpPr>
        <p:spPr>
          <a:xfrm>
            <a:off x="1981200" y="277813"/>
            <a:ext cx="8229600" cy="1046440"/>
          </a:xfrm>
        </p:spPr>
        <p:txBody>
          <a:bodyPr/>
          <a:lstStyle/>
          <a:p>
            <a:pPr algn="ctr" eaLnBrk="1" hangingPunct="1"/>
            <a:r>
              <a:rPr lang="en-US" altLang="en-US" sz="3400" b="1" u="sng"/>
              <a:t>Working Mechanism Of GAs</a:t>
            </a:r>
            <a:br>
              <a:rPr lang="en-US" altLang="en-US" sz="3400" b="1" u="sng"/>
            </a:br>
            <a:endParaRPr lang="en-US" altLang="en-US" sz="3400" b="1" u="sng"/>
          </a:p>
        </p:txBody>
      </p:sp>
      <p:sp>
        <p:nvSpPr>
          <p:cNvPr id="16388" name="AutoShape 5">
            <a:extLst>
              <a:ext uri="{FF2B5EF4-FFF2-40B4-BE49-F238E27FC236}">
                <a16:creationId xmlns:a16="http://schemas.microsoft.com/office/drawing/2014/main" id="{837C6A47-CE79-4A02-A7DE-DAAF15730A34}"/>
              </a:ext>
            </a:extLst>
          </p:cNvPr>
          <p:cNvSpPr>
            <a:spLocks noChangeArrowheads="1"/>
          </p:cNvSpPr>
          <p:nvPr/>
        </p:nvSpPr>
        <p:spPr bwMode="auto">
          <a:xfrm>
            <a:off x="5514976" y="914400"/>
            <a:ext cx="1038225" cy="304800"/>
          </a:xfrm>
          <a:prstGeom prst="flowChartConnector">
            <a:avLst/>
          </a:prstGeom>
          <a:solidFill>
            <a:srgbClr val="FFFFFF"/>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Begin</a:t>
            </a:r>
            <a:endParaRPr lang="en-US" altLang="en-US" sz="1800"/>
          </a:p>
        </p:txBody>
      </p:sp>
      <p:sp>
        <p:nvSpPr>
          <p:cNvPr id="16389" name="Line 6">
            <a:extLst>
              <a:ext uri="{FF2B5EF4-FFF2-40B4-BE49-F238E27FC236}">
                <a16:creationId xmlns:a16="http://schemas.microsoft.com/office/drawing/2014/main" id="{1860C4B1-EBEC-4BC6-9609-37696E3CD25D}"/>
              </a:ext>
            </a:extLst>
          </p:cNvPr>
          <p:cNvSpPr>
            <a:spLocks noChangeShapeType="1"/>
          </p:cNvSpPr>
          <p:nvPr/>
        </p:nvSpPr>
        <p:spPr bwMode="auto">
          <a:xfrm flipH="1">
            <a:off x="6035675" y="1227139"/>
            <a:ext cx="0" cy="3968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0" name="AutoShape 7">
            <a:extLst>
              <a:ext uri="{FF2B5EF4-FFF2-40B4-BE49-F238E27FC236}">
                <a16:creationId xmlns:a16="http://schemas.microsoft.com/office/drawing/2014/main" id="{9F5FA273-C7C6-45CF-B8AF-9022F09A9C38}"/>
              </a:ext>
            </a:extLst>
          </p:cNvPr>
          <p:cNvSpPr>
            <a:spLocks noChangeArrowheads="1"/>
          </p:cNvSpPr>
          <p:nvPr/>
        </p:nvSpPr>
        <p:spPr bwMode="auto">
          <a:xfrm>
            <a:off x="5300663" y="1636714"/>
            <a:ext cx="1452562" cy="471487"/>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Initialize population</a:t>
            </a:r>
            <a:endParaRPr lang="en-US" altLang="en-US" sz="1800"/>
          </a:p>
        </p:txBody>
      </p:sp>
      <p:sp>
        <p:nvSpPr>
          <p:cNvPr id="16391" name="Line 8">
            <a:extLst>
              <a:ext uri="{FF2B5EF4-FFF2-40B4-BE49-F238E27FC236}">
                <a16:creationId xmlns:a16="http://schemas.microsoft.com/office/drawing/2014/main" id="{F930B46D-4BFE-49A7-8935-B505CFF1D6E8}"/>
              </a:ext>
            </a:extLst>
          </p:cNvPr>
          <p:cNvSpPr>
            <a:spLocks noChangeShapeType="1"/>
          </p:cNvSpPr>
          <p:nvPr/>
        </p:nvSpPr>
        <p:spPr bwMode="auto">
          <a:xfrm>
            <a:off x="6035675" y="2320925"/>
            <a:ext cx="0" cy="4968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2" name="AutoShape 9">
            <a:extLst>
              <a:ext uri="{FF2B5EF4-FFF2-40B4-BE49-F238E27FC236}">
                <a16:creationId xmlns:a16="http://schemas.microsoft.com/office/drawing/2014/main" id="{FD5FA9E2-6B4F-41C3-81AA-FB7FFB9F32C7}"/>
              </a:ext>
            </a:extLst>
          </p:cNvPr>
          <p:cNvSpPr>
            <a:spLocks noChangeArrowheads="1"/>
          </p:cNvSpPr>
          <p:nvPr/>
        </p:nvSpPr>
        <p:spPr bwMode="auto">
          <a:xfrm>
            <a:off x="5105400" y="3346451"/>
            <a:ext cx="1905000" cy="701675"/>
          </a:xfrm>
          <a:prstGeom prst="flowChartDecision">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Optimum Solution?</a:t>
            </a:r>
            <a:endParaRPr lang="en-US" altLang="en-US" sz="1800"/>
          </a:p>
        </p:txBody>
      </p:sp>
      <p:sp>
        <p:nvSpPr>
          <p:cNvPr id="16393" name="AutoShape 15">
            <a:extLst>
              <a:ext uri="{FF2B5EF4-FFF2-40B4-BE49-F238E27FC236}">
                <a16:creationId xmlns:a16="http://schemas.microsoft.com/office/drawing/2014/main" id="{CB3BCE74-04AD-483D-ABA2-32445731188A}"/>
              </a:ext>
            </a:extLst>
          </p:cNvPr>
          <p:cNvSpPr>
            <a:spLocks noChangeArrowheads="1"/>
          </p:cNvSpPr>
          <p:nvPr/>
        </p:nvSpPr>
        <p:spPr bwMode="auto">
          <a:xfrm>
            <a:off x="2471739" y="4657726"/>
            <a:ext cx="1349375" cy="296863"/>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T=T+1</a:t>
            </a:r>
            <a:endParaRPr lang="en-US" altLang="en-US" sz="1800"/>
          </a:p>
        </p:txBody>
      </p:sp>
      <p:sp>
        <p:nvSpPr>
          <p:cNvPr id="16394" name="Line 16">
            <a:extLst>
              <a:ext uri="{FF2B5EF4-FFF2-40B4-BE49-F238E27FC236}">
                <a16:creationId xmlns:a16="http://schemas.microsoft.com/office/drawing/2014/main" id="{99F2755E-55DC-4FA4-8148-F3E90119AFB3}"/>
              </a:ext>
            </a:extLst>
          </p:cNvPr>
          <p:cNvSpPr>
            <a:spLocks noChangeShapeType="1"/>
          </p:cNvSpPr>
          <p:nvPr/>
        </p:nvSpPr>
        <p:spPr bwMode="auto">
          <a:xfrm flipH="1">
            <a:off x="3124200" y="5943600"/>
            <a:ext cx="57912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5" name="AutoShape 12">
            <a:extLst>
              <a:ext uri="{FF2B5EF4-FFF2-40B4-BE49-F238E27FC236}">
                <a16:creationId xmlns:a16="http://schemas.microsoft.com/office/drawing/2014/main" id="{7A3204B3-7281-497F-AFAF-18A4D4EE707E}"/>
              </a:ext>
            </a:extLst>
          </p:cNvPr>
          <p:cNvSpPr>
            <a:spLocks noChangeArrowheads="1"/>
          </p:cNvSpPr>
          <p:nvPr/>
        </p:nvSpPr>
        <p:spPr bwMode="auto">
          <a:xfrm>
            <a:off x="8281988" y="3887789"/>
            <a:ext cx="1306512" cy="396875"/>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Selection</a:t>
            </a:r>
            <a:endParaRPr lang="en-US" altLang="en-US" sz="1800"/>
          </a:p>
        </p:txBody>
      </p:sp>
      <p:sp>
        <p:nvSpPr>
          <p:cNvPr id="16396" name="AutoShape 13">
            <a:extLst>
              <a:ext uri="{FF2B5EF4-FFF2-40B4-BE49-F238E27FC236}">
                <a16:creationId xmlns:a16="http://schemas.microsoft.com/office/drawing/2014/main" id="{E79A2416-00E4-441E-8A13-2CB36B24EB79}"/>
              </a:ext>
            </a:extLst>
          </p:cNvPr>
          <p:cNvSpPr>
            <a:spLocks noChangeArrowheads="1"/>
          </p:cNvSpPr>
          <p:nvPr/>
        </p:nvSpPr>
        <p:spPr bwMode="auto">
          <a:xfrm>
            <a:off x="8224838" y="4687888"/>
            <a:ext cx="1452562" cy="315912"/>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Crossover</a:t>
            </a:r>
            <a:endParaRPr lang="en-US" altLang="en-US" sz="1800"/>
          </a:p>
        </p:txBody>
      </p:sp>
      <p:sp>
        <p:nvSpPr>
          <p:cNvPr id="16397" name="AutoShape 14">
            <a:extLst>
              <a:ext uri="{FF2B5EF4-FFF2-40B4-BE49-F238E27FC236}">
                <a16:creationId xmlns:a16="http://schemas.microsoft.com/office/drawing/2014/main" id="{F761FCD6-C1BE-4792-8B65-45FE8529A407}"/>
              </a:ext>
            </a:extLst>
          </p:cNvPr>
          <p:cNvSpPr>
            <a:spLocks noChangeArrowheads="1"/>
          </p:cNvSpPr>
          <p:nvPr/>
        </p:nvSpPr>
        <p:spPr bwMode="auto">
          <a:xfrm>
            <a:off x="8224838" y="5416550"/>
            <a:ext cx="1452562" cy="298450"/>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Mutation             </a:t>
            </a:r>
            <a:endParaRPr lang="en-US" altLang="en-US" sz="1800"/>
          </a:p>
        </p:txBody>
      </p:sp>
      <p:sp>
        <p:nvSpPr>
          <p:cNvPr id="16398" name="Line 17">
            <a:extLst>
              <a:ext uri="{FF2B5EF4-FFF2-40B4-BE49-F238E27FC236}">
                <a16:creationId xmlns:a16="http://schemas.microsoft.com/office/drawing/2014/main" id="{AF031623-448E-49D3-BB36-8A78B240DF37}"/>
              </a:ext>
            </a:extLst>
          </p:cNvPr>
          <p:cNvSpPr>
            <a:spLocks noChangeShapeType="1"/>
          </p:cNvSpPr>
          <p:nvPr/>
        </p:nvSpPr>
        <p:spPr bwMode="auto">
          <a:xfrm>
            <a:off x="8942388" y="4292600"/>
            <a:ext cx="0" cy="3952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399" name="Line 18">
            <a:extLst>
              <a:ext uri="{FF2B5EF4-FFF2-40B4-BE49-F238E27FC236}">
                <a16:creationId xmlns:a16="http://schemas.microsoft.com/office/drawing/2014/main" id="{EBA8AF22-FEEE-491C-9E2E-EE6DBFF7AD6A}"/>
              </a:ext>
            </a:extLst>
          </p:cNvPr>
          <p:cNvSpPr>
            <a:spLocks noChangeShapeType="1"/>
          </p:cNvSpPr>
          <p:nvPr/>
        </p:nvSpPr>
        <p:spPr bwMode="auto">
          <a:xfrm>
            <a:off x="8942388" y="5019676"/>
            <a:ext cx="0" cy="3968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00" name="Text Box 25">
            <a:extLst>
              <a:ext uri="{FF2B5EF4-FFF2-40B4-BE49-F238E27FC236}">
                <a16:creationId xmlns:a16="http://schemas.microsoft.com/office/drawing/2014/main" id="{C312E6BF-1C31-464E-8126-0A7E479DDAFB}"/>
              </a:ext>
            </a:extLst>
          </p:cNvPr>
          <p:cNvSpPr txBox="1">
            <a:spLocks noChangeArrowheads="1"/>
          </p:cNvSpPr>
          <p:nvPr/>
        </p:nvSpPr>
        <p:spPr bwMode="auto">
          <a:xfrm>
            <a:off x="7391400" y="3448050"/>
            <a:ext cx="685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200"/>
              <a:t>N</a:t>
            </a:r>
          </a:p>
        </p:txBody>
      </p:sp>
      <p:sp>
        <p:nvSpPr>
          <p:cNvPr id="16401" name="AutoShape 27">
            <a:extLst>
              <a:ext uri="{FF2B5EF4-FFF2-40B4-BE49-F238E27FC236}">
                <a16:creationId xmlns:a16="http://schemas.microsoft.com/office/drawing/2014/main" id="{3DCE212F-EE93-4B5A-A2AA-E3AB21B82281}"/>
              </a:ext>
            </a:extLst>
          </p:cNvPr>
          <p:cNvSpPr>
            <a:spLocks noChangeArrowheads="1"/>
          </p:cNvSpPr>
          <p:nvPr/>
        </p:nvSpPr>
        <p:spPr bwMode="auto">
          <a:xfrm>
            <a:off x="5295901" y="2495550"/>
            <a:ext cx="1452563" cy="471488"/>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Evaluate Solutions</a:t>
            </a:r>
            <a:endParaRPr lang="en-US" altLang="en-US" sz="1800"/>
          </a:p>
        </p:txBody>
      </p:sp>
      <p:sp>
        <p:nvSpPr>
          <p:cNvPr id="16402" name="Line 28">
            <a:extLst>
              <a:ext uri="{FF2B5EF4-FFF2-40B4-BE49-F238E27FC236}">
                <a16:creationId xmlns:a16="http://schemas.microsoft.com/office/drawing/2014/main" id="{6E4D9F3E-3904-4CCB-A845-01BAE0874F55}"/>
              </a:ext>
            </a:extLst>
          </p:cNvPr>
          <p:cNvSpPr>
            <a:spLocks noChangeShapeType="1"/>
          </p:cNvSpPr>
          <p:nvPr/>
        </p:nvSpPr>
        <p:spPr bwMode="auto">
          <a:xfrm flipH="1">
            <a:off x="6034088" y="2093914"/>
            <a:ext cx="0" cy="3968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03" name="Line 29">
            <a:extLst>
              <a:ext uri="{FF2B5EF4-FFF2-40B4-BE49-F238E27FC236}">
                <a16:creationId xmlns:a16="http://schemas.microsoft.com/office/drawing/2014/main" id="{3F0427D2-7EA5-47C3-B45F-66F1BBCF6BB3}"/>
              </a:ext>
            </a:extLst>
          </p:cNvPr>
          <p:cNvSpPr>
            <a:spLocks noChangeShapeType="1"/>
          </p:cNvSpPr>
          <p:nvPr/>
        </p:nvSpPr>
        <p:spPr bwMode="auto">
          <a:xfrm flipH="1">
            <a:off x="6048375" y="2955926"/>
            <a:ext cx="0" cy="3968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04" name="Line 33">
            <a:extLst>
              <a:ext uri="{FF2B5EF4-FFF2-40B4-BE49-F238E27FC236}">
                <a16:creationId xmlns:a16="http://schemas.microsoft.com/office/drawing/2014/main" id="{6F09E799-1A74-42FC-8422-84D8B994DB8A}"/>
              </a:ext>
            </a:extLst>
          </p:cNvPr>
          <p:cNvSpPr>
            <a:spLocks noChangeShapeType="1"/>
          </p:cNvSpPr>
          <p:nvPr/>
        </p:nvSpPr>
        <p:spPr bwMode="auto">
          <a:xfrm>
            <a:off x="8943975" y="3676650"/>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05" name="Line 36">
            <a:extLst>
              <a:ext uri="{FF2B5EF4-FFF2-40B4-BE49-F238E27FC236}">
                <a16:creationId xmlns:a16="http://schemas.microsoft.com/office/drawing/2014/main" id="{9941735F-DFC5-4538-8BC9-4A6DF9BD41AD}"/>
              </a:ext>
            </a:extLst>
          </p:cNvPr>
          <p:cNvSpPr>
            <a:spLocks noChangeShapeType="1"/>
          </p:cNvSpPr>
          <p:nvPr/>
        </p:nvSpPr>
        <p:spPr bwMode="auto">
          <a:xfrm>
            <a:off x="6962775" y="3686175"/>
            <a:ext cx="19812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06" name="Line 37">
            <a:extLst>
              <a:ext uri="{FF2B5EF4-FFF2-40B4-BE49-F238E27FC236}">
                <a16:creationId xmlns:a16="http://schemas.microsoft.com/office/drawing/2014/main" id="{7E78AAE2-6452-43D9-B6B1-F571F06F5623}"/>
              </a:ext>
            </a:extLst>
          </p:cNvPr>
          <p:cNvSpPr>
            <a:spLocks noChangeShapeType="1"/>
          </p:cNvSpPr>
          <p:nvPr/>
        </p:nvSpPr>
        <p:spPr bwMode="auto">
          <a:xfrm>
            <a:off x="3124200" y="2743200"/>
            <a:ext cx="21336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07" name="Line 38">
            <a:extLst>
              <a:ext uri="{FF2B5EF4-FFF2-40B4-BE49-F238E27FC236}">
                <a16:creationId xmlns:a16="http://schemas.microsoft.com/office/drawing/2014/main" id="{07F68762-3574-4D2D-9974-5D95F02EAB1F}"/>
              </a:ext>
            </a:extLst>
          </p:cNvPr>
          <p:cNvSpPr>
            <a:spLocks noChangeShapeType="1"/>
          </p:cNvSpPr>
          <p:nvPr/>
        </p:nvSpPr>
        <p:spPr bwMode="auto">
          <a:xfrm flipV="1">
            <a:off x="3124200" y="2743200"/>
            <a:ext cx="0" cy="1905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08" name="Line 39">
            <a:extLst>
              <a:ext uri="{FF2B5EF4-FFF2-40B4-BE49-F238E27FC236}">
                <a16:creationId xmlns:a16="http://schemas.microsoft.com/office/drawing/2014/main" id="{8759765C-5B55-4302-A3C7-A09145D13505}"/>
              </a:ext>
            </a:extLst>
          </p:cNvPr>
          <p:cNvSpPr>
            <a:spLocks noChangeShapeType="1"/>
          </p:cNvSpPr>
          <p:nvPr/>
        </p:nvSpPr>
        <p:spPr bwMode="auto">
          <a:xfrm flipV="1">
            <a:off x="3124200" y="4938713"/>
            <a:ext cx="0" cy="99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09" name="Line 40">
            <a:extLst>
              <a:ext uri="{FF2B5EF4-FFF2-40B4-BE49-F238E27FC236}">
                <a16:creationId xmlns:a16="http://schemas.microsoft.com/office/drawing/2014/main" id="{7C6444D0-236B-4F69-89BA-A83B23908841}"/>
              </a:ext>
            </a:extLst>
          </p:cNvPr>
          <p:cNvSpPr>
            <a:spLocks noChangeShapeType="1"/>
          </p:cNvSpPr>
          <p:nvPr/>
        </p:nvSpPr>
        <p:spPr bwMode="auto">
          <a:xfrm>
            <a:off x="8915400" y="5715000"/>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10" name="Line 41">
            <a:extLst>
              <a:ext uri="{FF2B5EF4-FFF2-40B4-BE49-F238E27FC236}">
                <a16:creationId xmlns:a16="http://schemas.microsoft.com/office/drawing/2014/main" id="{920D53DD-DB4F-421C-8633-FB341AB60A79}"/>
              </a:ext>
            </a:extLst>
          </p:cNvPr>
          <p:cNvSpPr>
            <a:spLocks noChangeShapeType="1"/>
          </p:cNvSpPr>
          <p:nvPr/>
        </p:nvSpPr>
        <p:spPr bwMode="auto">
          <a:xfrm>
            <a:off x="6048375" y="4052888"/>
            <a:ext cx="0" cy="609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411" name="Text Box 42">
            <a:extLst>
              <a:ext uri="{FF2B5EF4-FFF2-40B4-BE49-F238E27FC236}">
                <a16:creationId xmlns:a16="http://schemas.microsoft.com/office/drawing/2014/main" id="{A86DDD7E-F492-4F65-94D5-06A2B72FE476}"/>
              </a:ext>
            </a:extLst>
          </p:cNvPr>
          <p:cNvSpPr txBox="1">
            <a:spLocks noChangeArrowheads="1"/>
          </p:cNvSpPr>
          <p:nvPr/>
        </p:nvSpPr>
        <p:spPr bwMode="auto">
          <a:xfrm>
            <a:off x="5562600" y="4114800"/>
            <a:ext cx="685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200"/>
              <a:t>Y</a:t>
            </a:r>
          </a:p>
        </p:txBody>
      </p:sp>
      <p:sp>
        <p:nvSpPr>
          <p:cNvPr id="16412" name="AutoShape 43">
            <a:extLst>
              <a:ext uri="{FF2B5EF4-FFF2-40B4-BE49-F238E27FC236}">
                <a16:creationId xmlns:a16="http://schemas.microsoft.com/office/drawing/2014/main" id="{360216D8-0B4F-41BB-9716-8A538787FC6F}"/>
              </a:ext>
            </a:extLst>
          </p:cNvPr>
          <p:cNvSpPr>
            <a:spLocks noChangeArrowheads="1"/>
          </p:cNvSpPr>
          <p:nvPr/>
        </p:nvSpPr>
        <p:spPr bwMode="auto">
          <a:xfrm>
            <a:off x="5641976" y="4675188"/>
            <a:ext cx="830263" cy="296862"/>
          </a:xfrm>
          <a:prstGeom prst="flowChartConnector">
            <a:avLst/>
          </a:prstGeom>
          <a:solidFill>
            <a:srgbClr val="FFFFFF"/>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Stop</a:t>
            </a:r>
            <a:endParaRPr lang="en-US" altLang="en-US" sz="1800"/>
          </a:p>
        </p:txBody>
      </p:sp>
      <p:sp>
        <p:nvSpPr>
          <p:cNvPr id="16413" name="Text Box 44">
            <a:extLst>
              <a:ext uri="{FF2B5EF4-FFF2-40B4-BE49-F238E27FC236}">
                <a16:creationId xmlns:a16="http://schemas.microsoft.com/office/drawing/2014/main" id="{7CC45281-D0C9-4716-9471-E7741873A905}"/>
              </a:ext>
            </a:extLst>
          </p:cNvPr>
          <p:cNvSpPr txBox="1">
            <a:spLocks noChangeArrowheads="1"/>
          </p:cNvSpPr>
          <p:nvPr/>
        </p:nvSpPr>
        <p:spPr bwMode="auto">
          <a:xfrm>
            <a:off x="5957888" y="3001964"/>
            <a:ext cx="685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200"/>
              <a:t>T =0</a:t>
            </a:r>
          </a:p>
        </p:txBody>
      </p:sp>
      <p:graphicFrame>
        <p:nvGraphicFramePr>
          <p:cNvPr id="16414" name="Object 4">
            <a:extLst>
              <a:ext uri="{FF2B5EF4-FFF2-40B4-BE49-F238E27FC236}">
                <a16:creationId xmlns:a16="http://schemas.microsoft.com/office/drawing/2014/main" id="{46D82BF4-00FA-44D9-9291-E89397E8D52F}"/>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3" imgW="1423988" imgH="3055938" progId="MS_ClipArt_Gallery.2">
                  <p:embed/>
                </p:oleObj>
              </mc:Choice>
              <mc:Fallback>
                <p:oleObj name="Klip" r:id="rId3" imgW="1423988" imgH="3055938" progId="MS_ClipArt_Gallery.2">
                  <p:embed/>
                  <p:pic>
                    <p:nvPicPr>
                      <p:cNvPr id="16414" name="Object 4">
                        <a:extLst>
                          <a:ext uri="{FF2B5EF4-FFF2-40B4-BE49-F238E27FC236}">
                            <a16:creationId xmlns:a16="http://schemas.microsoft.com/office/drawing/2014/main" id="{46D82BF4-00FA-44D9-9291-E89397E8D52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BC8E9712-BBB9-4125-9292-F251BE2D199B}"/>
              </a:ext>
            </a:extLst>
          </p:cNvPr>
          <p:cNvSpPr>
            <a:spLocks noGrp="1"/>
          </p:cNvSpPr>
          <p:nvPr>
            <p:ph type="title"/>
          </p:nvPr>
        </p:nvSpPr>
        <p:spPr>
          <a:xfrm>
            <a:off x="2971800" y="157162"/>
            <a:ext cx="5867400" cy="677108"/>
          </a:xfrm>
        </p:spPr>
        <p:txBody>
          <a:bodyPr/>
          <a:lstStyle/>
          <a:p>
            <a:r>
              <a:rPr lang="en-CA" altLang="en-US" dirty="0"/>
              <a:t>The Cycle of Evolution</a:t>
            </a:r>
          </a:p>
        </p:txBody>
      </p:sp>
      <p:sp>
        <p:nvSpPr>
          <p:cNvPr id="18435" name="Slide Number Placeholder 3">
            <a:extLst>
              <a:ext uri="{FF2B5EF4-FFF2-40B4-BE49-F238E27FC236}">
                <a16:creationId xmlns:a16="http://schemas.microsoft.com/office/drawing/2014/main" id="{D584158A-D97E-473F-A826-149F03D9E892}"/>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14</a:t>
            </a:fld>
            <a:endParaRPr lang="en-US" altLang="en-US" sz="1200">
              <a:latin typeface="Garamond" panose="02020404030301010803" pitchFamily="18" charset="0"/>
            </a:endParaRPr>
          </a:p>
        </p:txBody>
      </p:sp>
      <p:pic>
        <p:nvPicPr>
          <p:cNvPr id="18436" name="Picture 2" descr="http://physiol.gu.se/maberg/figures/EAalgorithm.png">
            <a:extLst>
              <a:ext uri="{FF2B5EF4-FFF2-40B4-BE49-F238E27FC236}">
                <a16:creationId xmlns:a16="http://schemas.microsoft.com/office/drawing/2014/main" id="{DCE12BB4-CDAC-4B2A-BB2D-C0FC46249F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524001"/>
            <a:ext cx="8229600" cy="450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72D64997-401F-4A86-A6AC-A790E5187D37}"/>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15</a:t>
            </a:fld>
            <a:endParaRPr lang="en-US" altLang="en-US" sz="1200">
              <a:latin typeface="Garamond" panose="02020404030301010803" pitchFamily="18" charset="0"/>
            </a:endParaRPr>
          </a:p>
        </p:txBody>
      </p:sp>
      <p:sp>
        <p:nvSpPr>
          <p:cNvPr id="19459" name="Rectangle 2">
            <a:extLst>
              <a:ext uri="{FF2B5EF4-FFF2-40B4-BE49-F238E27FC236}">
                <a16:creationId xmlns:a16="http://schemas.microsoft.com/office/drawing/2014/main" id="{F7A85378-4F67-4C0C-923F-3E6083A17609}"/>
              </a:ext>
            </a:extLst>
          </p:cNvPr>
          <p:cNvSpPr>
            <a:spLocks noGrp="1" noChangeArrowheads="1"/>
          </p:cNvSpPr>
          <p:nvPr>
            <p:ph type="title"/>
          </p:nvPr>
        </p:nvSpPr>
        <p:spPr>
          <a:xfrm>
            <a:off x="-1143000" y="130722"/>
            <a:ext cx="11920696" cy="553998"/>
          </a:xfrm>
        </p:spPr>
        <p:txBody>
          <a:bodyPr/>
          <a:lstStyle/>
          <a:p>
            <a:pPr algn="ctr" eaLnBrk="1" hangingPunct="1"/>
            <a:r>
              <a:rPr lang="en-US" altLang="en-US" sz="3600" b="1" u="sng"/>
              <a:t>Simple Genetic Algorithm</a:t>
            </a:r>
          </a:p>
        </p:txBody>
      </p:sp>
      <p:sp>
        <p:nvSpPr>
          <p:cNvPr id="19460" name="Rectangle 3">
            <a:extLst>
              <a:ext uri="{FF2B5EF4-FFF2-40B4-BE49-F238E27FC236}">
                <a16:creationId xmlns:a16="http://schemas.microsoft.com/office/drawing/2014/main" id="{DC0FDD71-965B-4A11-A48C-222AF59491EB}"/>
              </a:ext>
            </a:extLst>
          </p:cNvPr>
          <p:cNvSpPr>
            <a:spLocks noGrp="1" noChangeArrowheads="1"/>
          </p:cNvSpPr>
          <p:nvPr>
            <p:ph type="body" idx="1"/>
          </p:nvPr>
        </p:nvSpPr>
        <p:spPr>
          <a:xfrm>
            <a:off x="1792840" y="1319213"/>
            <a:ext cx="8229600" cy="4924425"/>
          </a:xfrm>
        </p:spPr>
        <p:txBody>
          <a:bodyPr/>
          <a:lstStyle/>
          <a:p>
            <a:pPr eaLnBrk="1" hangingPunct="1">
              <a:buFont typeface="Wingdings" panose="05000000000000000000" pitchFamily="2" charset="2"/>
              <a:buNone/>
            </a:pPr>
            <a:r>
              <a:rPr lang="en-US" altLang="en-US" sz="2000" b="1" dirty="0" err="1">
                <a:latin typeface="Courier New" panose="02070309020205020404" pitchFamily="49" charset="0"/>
              </a:rPr>
              <a:t>Simple_Genetic_Algorithm</a:t>
            </a:r>
            <a:r>
              <a:rPr lang="en-US" altLang="en-US" sz="2000" b="1" dirty="0">
                <a:latin typeface="Courier New" panose="02070309020205020404" pitchFamily="49" charset="0"/>
              </a:rPr>
              <a:t>()</a:t>
            </a:r>
            <a:br>
              <a:rPr lang="en-US" altLang="en-US" sz="2000" b="1" dirty="0">
                <a:latin typeface="Courier New" panose="02070309020205020404" pitchFamily="49" charset="0"/>
              </a:rPr>
            </a:br>
            <a:r>
              <a:rPr lang="en-US" altLang="en-US" sz="2000" b="1" dirty="0">
                <a:latin typeface="Courier New" panose="02070309020205020404" pitchFamily="49" charset="0"/>
              </a:rPr>
              <a:t>	{</a:t>
            </a:r>
            <a:br>
              <a:rPr lang="en-US" altLang="en-US" sz="2000" b="1" dirty="0">
                <a:latin typeface="Courier New" panose="02070309020205020404" pitchFamily="49" charset="0"/>
              </a:rPr>
            </a:br>
            <a:r>
              <a:rPr lang="en-US" altLang="en-US" sz="2000" b="1" dirty="0">
                <a:latin typeface="Courier New" panose="02070309020205020404" pitchFamily="49" charset="0"/>
              </a:rPr>
              <a:t>	Initialize the </a:t>
            </a:r>
            <a:r>
              <a:rPr lang="en-US" altLang="en-US" sz="2000" b="1" dirty="0">
                <a:solidFill>
                  <a:srgbClr val="0000FF"/>
                </a:solidFill>
                <a:latin typeface="Courier New" panose="02070309020205020404" pitchFamily="49" charset="0"/>
              </a:rPr>
              <a:t>Population</a:t>
            </a:r>
            <a:r>
              <a:rPr lang="en-US" altLang="en-US" sz="2000" b="1" dirty="0">
                <a:latin typeface="Courier New" panose="02070309020205020404" pitchFamily="49" charset="0"/>
              </a:rPr>
              <a:t>;</a:t>
            </a:r>
            <a:br>
              <a:rPr lang="en-US" altLang="en-US" sz="2000" b="1" dirty="0">
                <a:latin typeface="Courier New" panose="02070309020205020404" pitchFamily="49" charset="0"/>
              </a:rPr>
            </a:br>
            <a:r>
              <a:rPr lang="en-US" altLang="en-US" sz="2000" b="1" dirty="0">
                <a:latin typeface="Courier New" panose="02070309020205020404" pitchFamily="49" charset="0"/>
              </a:rPr>
              <a:t>	Calculate </a:t>
            </a:r>
            <a:r>
              <a:rPr lang="en-US" altLang="en-US" sz="2000" b="1" dirty="0">
                <a:solidFill>
                  <a:srgbClr val="0000FF"/>
                </a:solidFill>
                <a:latin typeface="Courier New" panose="02070309020205020404" pitchFamily="49" charset="0"/>
              </a:rPr>
              <a:t>Fitness Function</a:t>
            </a:r>
            <a:r>
              <a:rPr lang="en-US" altLang="en-US" sz="2000" b="1" dirty="0">
                <a:latin typeface="Courier New" panose="02070309020205020404" pitchFamily="49" charset="0"/>
              </a:rPr>
              <a:t>;</a:t>
            </a:r>
            <a:br>
              <a:rPr lang="en-US" altLang="en-US" sz="2000" b="1" dirty="0">
                <a:latin typeface="Courier New" panose="02070309020205020404" pitchFamily="49" charset="0"/>
              </a:rPr>
            </a:br>
            <a:br>
              <a:rPr lang="en-US" altLang="en-US" sz="2000" b="1" dirty="0">
                <a:latin typeface="Courier New" panose="02070309020205020404" pitchFamily="49" charset="0"/>
              </a:rPr>
            </a:br>
            <a:r>
              <a:rPr lang="en-US" altLang="en-US" sz="2000" b="1" dirty="0">
                <a:latin typeface="Courier New" panose="02070309020205020404" pitchFamily="49" charset="0"/>
              </a:rPr>
              <a:t>	While(Fitness Value != Optimal Value)</a:t>
            </a:r>
            <a:br>
              <a:rPr lang="en-US" altLang="en-US" sz="2000" b="1" dirty="0">
                <a:latin typeface="Courier New" panose="02070309020205020404" pitchFamily="49" charset="0"/>
              </a:rPr>
            </a:br>
            <a:r>
              <a:rPr lang="en-US" altLang="en-US" sz="2000" b="1" dirty="0">
                <a:latin typeface="Courier New" panose="02070309020205020404" pitchFamily="49" charset="0"/>
              </a:rPr>
              <a:t>		{</a:t>
            </a:r>
            <a:br>
              <a:rPr lang="en-US" altLang="en-US" sz="2000" b="1" dirty="0">
                <a:latin typeface="Courier New" panose="02070309020205020404" pitchFamily="49" charset="0"/>
              </a:rPr>
            </a:br>
            <a:r>
              <a:rPr lang="en-US" altLang="en-US" sz="2000" b="1" dirty="0">
                <a:latin typeface="Courier New" panose="02070309020205020404" pitchFamily="49" charset="0"/>
              </a:rPr>
              <a:t>		</a:t>
            </a:r>
            <a:r>
              <a:rPr lang="en-US" altLang="en-US" sz="2000" b="1" dirty="0">
                <a:solidFill>
                  <a:srgbClr val="0000FF"/>
                </a:solidFill>
                <a:latin typeface="Courier New" panose="02070309020205020404" pitchFamily="49" charset="0"/>
              </a:rPr>
              <a:t>Selection</a:t>
            </a:r>
            <a:r>
              <a:rPr lang="en-US" altLang="en-US" sz="2000" b="1" dirty="0">
                <a:solidFill>
                  <a:srgbClr val="CC3300"/>
                </a:solidFill>
                <a:latin typeface="Courier New" panose="02070309020205020404" pitchFamily="49" charset="0"/>
              </a:rPr>
              <a:t>;//Natural Selection, Survival Of Fittest				</a:t>
            </a:r>
          </a:p>
          <a:p>
            <a:pPr eaLnBrk="1" hangingPunct="1">
              <a:buFont typeface="Wingdings" panose="05000000000000000000" pitchFamily="2" charset="2"/>
              <a:buNone/>
            </a:pPr>
            <a:r>
              <a:rPr lang="en-US" altLang="en-US" sz="2000" b="1" dirty="0">
                <a:latin typeface="Courier New" panose="02070309020205020404" pitchFamily="49" charset="0"/>
              </a:rPr>
              <a:t>			</a:t>
            </a:r>
            <a:r>
              <a:rPr lang="en-US" altLang="en-US" sz="2000" b="1" dirty="0">
                <a:solidFill>
                  <a:srgbClr val="0000FF"/>
                </a:solidFill>
                <a:latin typeface="Courier New" panose="02070309020205020404" pitchFamily="49" charset="0"/>
              </a:rPr>
              <a:t>Crossover</a:t>
            </a:r>
            <a:r>
              <a:rPr lang="en-US" altLang="en-US" sz="2000" b="1" dirty="0">
                <a:solidFill>
                  <a:srgbClr val="CC3300"/>
                </a:solidFill>
                <a:latin typeface="Courier New" panose="02070309020205020404" pitchFamily="49" charset="0"/>
              </a:rPr>
              <a:t>;//Reproduction, Propagate favorable characteristics</a:t>
            </a:r>
          </a:p>
          <a:p>
            <a:pPr eaLnBrk="1" hangingPunct="1">
              <a:buFont typeface="Wingdings" panose="05000000000000000000" pitchFamily="2" charset="2"/>
              <a:buNone/>
            </a:pPr>
            <a:endParaRPr lang="en-US" altLang="en-US" sz="2000" b="1" dirty="0">
              <a:solidFill>
                <a:srgbClr val="996633"/>
              </a:solidFill>
              <a:latin typeface="Courier New" panose="02070309020205020404" pitchFamily="49" charset="0"/>
            </a:endParaRPr>
          </a:p>
          <a:p>
            <a:pPr eaLnBrk="1" hangingPunct="1">
              <a:buFont typeface="Wingdings" panose="05000000000000000000" pitchFamily="2" charset="2"/>
              <a:buNone/>
            </a:pPr>
            <a:r>
              <a:rPr lang="en-US" altLang="en-US" sz="2000" b="1" dirty="0">
                <a:latin typeface="Courier New" panose="02070309020205020404" pitchFamily="49" charset="0"/>
              </a:rPr>
              <a:t>			</a:t>
            </a:r>
            <a:r>
              <a:rPr lang="en-US" altLang="en-US" sz="2000" b="1" dirty="0">
                <a:solidFill>
                  <a:srgbClr val="0000FF"/>
                </a:solidFill>
                <a:latin typeface="Courier New" panose="02070309020205020404" pitchFamily="49" charset="0"/>
              </a:rPr>
              <a:t>Mutation</a:t>
            </a:r>
            <a:r>
              <a:rPr lang="en-US" altLang="en-US" sz="2000" b="1" dirty="0">
                <a:latin typeface="Courier New" panose="02070309020205020404" pitchFamily="49" charset="0"/>
              </a:rPr>
              <a:t>;</a:t>
            </a:r>
            <a:r>
              <a:rPr lang="en-US" altLang="en-US" sz="2000" b="1" dirty="0">
                <a:solidFill>
                  <a:srgbClr val="CC3300"/>
                </a:solidFill>
                <a:latin typeface="Courier New" panose="02070309020205020404" pitchFamily="49" charset="0"/>
              </a:rPr>
              <a:t>//Mutation</a:t>
            </a:r>
          </a:p>
          <a:p>
            <a:pPr eaLnBrk="1" hangingPunct="1">
              <a:buFont typeface="Wingdings" panose="05000000000000000000" pitchFamily="2" charset="2"/>
              <a:buNone/>
            </a:pPr>
            <a:r>
              <a:rPr lang="en-US" altLang="en-US" sz="2000" b="1" dirty="0">
                <a:latin typeface="Courier New" panose="02070309020205020404" pitchFamily="49" charset="0"/>
              </a:rPr>
              <a:t>			Calculate Fitness Function;</a:t>
            </a:r>
            <a:br>
              <a:rPr lang="en-US" altLang="en-US" sz="2000" b="1" dirty="0">
                <a:latin typeface="Courier New" panose="02070309020205020404" pitchFamily="49" charset="0"/>
              </a:rPr>
            </a:br>
            <a:r>
              <a:rPr lang="en-US" altLang="en-US" sz="2000" b="1" dirty="0">
                <a:latin typeface="Courier New" panose="02070309020205020404" pitchFamily="49" charset="0"/>
              </a:rPr>
              <a:t>		}</a:t>
            </a:r>
            <a:br>
              <a:rPr lang="en-US" altLang="en-US" sz="2000" b="1" dirty="0">
                <a:latin typeface="Courier New" panose="02070309020205020404" pitchFamily="49" charset="0"/>
              </a:rPr>
            </a:br>
            <a:r>
              <a:rPr lang="en-US" altLang="en-US" sz="2000" b="1" dirty="0">
                <a:latin typeface="Courier New" panose="02070309020205020404" pitchFamily="49" charset="0"/>
              </a:rPr>
              <a:t>	}</a:t>
            </a:r>
          </a:p>
        </p:txBody>
      </p:sp>
      <p:graphicFrame>
        <p:nvGraphicFramePr>
          <p:cNvPr id="19461" name="Object 4">
            <a:extLst>
              <a:ext uri="{FF2B5EF4-FFF2-40B4-BE49-F238E27FC236}">
                <a16:creationId xmlns:a16="http://schemas.microsoft.com/office/drawing/2014/main" id="{52DDDFAE-19D3-4127-A10B-55C4407F7D7B}"/>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2" imgW="1423988" imgH="3055938" progId="MS_ClipArt_Gallery.2">
                  <p:embed/>
                </p:oleObj>
              </mc:Choice>
              <mc:Fallback>
                <p:oleObj name="Klip" r:id="rId2" imgW="1423988" imgH="3055938" progId="MS_ClipArt_Gallery.2">
                  <p:embed/>
                  <p:pic>
                    <p:nvPicPr>
                      <p:cNvPr id="19461" name="Object 4">
                        <a:extLst>
                          <a:ext uri="{FF2B5EF4-FFF2-40B4-BE49-F238E27FC236}">
                            <a16:creationId xmlns:a16="http://schemas.microsoft.com/office/drawing/2014/main" id="{52DDDFAE-19D3-4127-A10B-55C4407F7D7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012AF0ED-4D67-4B4D-9610-905402AB021E}"/>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16</a:t>
            </a:fld>
            <a:endParaRPr lang="en-US" altLang="en-US" sz="1200">
              <a:latin typeface="Garamond" panose="02020404030301010803" pitchFamily="18" charset="0"/>
            </a:endParaRPr>
          </a:p>
        </p:txBody>
      </p:sp>
      <p:sp>
        <p:nvSpPr>
          <p:cNvPr id="20483" name="Rectangle 2">
            <a:extLst>
              <a:ext uri="{FF2B5EF4-FFF2-40B4-BE49-F238E27FC236}">
                <a16:creationId xmlns:a16="http://schemas.microsoft.com/office/drawing/2014/main" id="{72159D89-B1BE-4CEE-8DA7-2D271EABE372}"/>
              </a:ext>
            </a:extLst>
          </p:cNvPr>
          <p:cNvSpPr>
            <a:spLocks noGrp="1" noChangeArrowheads="1"/>
          </p:cNvSpPr>
          <p:nvPr>
            <p:ph type="title"/>
          </p:nvPr>
        </p:nvSpPr>
        <p:spPr>
          <a:xfrm>
            <a:off x="-533400" y="85328"/>
            <a:ext cx="11920696" cy="615553"/>
          </a:xfrm>
        </p:spPr>
        <p:txBody>
          <a:bodyPr/>
          <a:lstStyle/>
          <a:p>
            <a:pPr algn="ctr" eaLnBrk="1" hangingPunct="1"/>
            <a:r>
              <a:rPr lang="en-US" altLang="en-US" sz="4000" b="1" u="sng">
                <a:solidFill>
                  <a:srgbClr val="FF0000"/>
                </a:solidFill>
              </a:rPr>
              <a:t>Nature to Computer Mapping</a:t>
            </a:r>
          </a:p>
        </p:txBody>
      </p:sp>
      <p:graphicFrame>
        <p:nvGraphicFramePr>
          <p:cNvPr id="14375" name="Group 39">
            <a:extLst>
              <a:ext uri="{FF2B5EF4-FFF2-40B4-BE49-F238E27FC236}">
                <a16:creationId xmlns:a16="http://schemas.microsoft.com/office/drawing/2014/main" id="{987065C3-61F3-4CB0-A864-D5FD64E066C5}"/>
              </a:ext>
            </a:extLst>
          </p:cNvPr>
          <p:cNvGraphicFramePr>
            <a:graphicFrameLocks noGrp="1"/>
          </p:cNvGraphicFramePr>
          <p:nvPr/>
        </p:nvGraphicFramePr>
        <p:xfrm>
          <a:off x="2819400" y="2133600"/>
          <a:ext cx="6705600" cy="3276600"/>
        </p:xfrm>
        <a:graphic>
          <a:graphicData uri="http://schemas.openxmlformats.org/drawingml/2006/table">
            <a:tbl>
              <a:tblPr/>
              <a:tblGrid>
                <a:gridCol w="25146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6985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400" b="1" i="0" u="none" strike="noStrike" cap="none" normalizeH="0" baseline="0" dirty="0">
                          <a:ln>
                            <a:noFill/>
                          </a:ln>
                          <a:solidFill>
                            <a:srgbClr val="CC3300"/>
                          </a:solidFill>
                          <a:effectLst/>
                          <a:latin typeface="Arial" charset="0"/>
                        </a:rPr>
                        <a:t>Nature</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400" b="1" i="0" u="none" strike="noStrike" cap="none" normalizeH="0" baseline="0">
                          <a:ln>
                            <a:noFill/>
                          </a:ln>
                          <a:solidFill>
                            <a:srgbClr val="CC3300"/>
                          </a:solidFill>
                          <a:effectLst/>
                          <a:latin typeface="Arial" charset="0"/>
                        </a:rPr>
                        <a:t>Computer</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781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Population</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Individual</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Fitness</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Chromosome</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Gene</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Reproduction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Set of solutions.</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Solution to a problem.</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Quality of a solution.</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Encoding for a Solution.</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Part of the encoding of a solution.</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Crossover</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0495" name="Object 4">
            <a:extLst>
              <a:ext uri="{FF2B5EF4-FFF2-40B4-BE49-F238E27FC236}">
                <a16:creationId xmlns:a16="http://schemas.microsoft.com/office/drawing/2014/main" id="{F5EBC558-D7B6-4D0B-A5D6-321BB68A73A3}"/>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3" imgW="1423988" imgH="3055938" progId="MS_ClipArt_Gallery.2">
                  <p:embed/>
                </p:oleObj>
              </mc:Choice>
              <mc:Fallback>
                <p:oleObj name="Klip" r:id="rId3" imgW="1423988" imgH="3055938" progId="MS_ClipArt_Gallery.2">
                  <p:embed/>
                  <p:pic>
                    <p:nvPicPr>
                      <p:cNvPr id="20495" name="Object 4">
                        <a:extLst>
                          <a:ext uri="{FF2B5EF4-FFF2-40B4-BE49-F238E27FC236}">
                            <a16:creationId xmlns:a16="http://schemas.microsoft.com/office/drawing/2014/main" id="{F5EBC558-D7B6-4D0B-A5D6-321BB68A73A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A35AC2F8-A40A-4823-907E-FF7936C4F592}"/>
              </a:ext>
            </a:extLst>
          </p:cNvPr>
          <p:cNvSpPr>
            <a:spLocks noGrp="1"/>
          </p:cNvSpPr>
          <p:nvPr>
            <p:ph type="title"/>
          </p:nvPr>
        </p:nvSpPr>
        <p:spPr>
          <a:xfrm>
            <a:off x="4724400" y="190726"/>
            <a:ext cx="11920696" cy="677108"/>
          </a:xfrm>
        </p:spPr>
        <p:txBody>
          <a:bodyPr/>
          <a:lstStyle/>
          <a:p>
            <a:r>
              <a:rPr lang="en-US" altLang="en-US" dirty="0"/>
              <a:t>Genetic Algorithm</a:t>
            </a:r>
          </a:p>
        </p:txBody>
      </p:sp>
      <p:sp>
        <p:nvSpPr>
          <p:cNvPr id="23556" name="Slide Number Placeholder 3">
            <a:extLst>
              <a:ext uri="{FF2B5EF4-FFF2-40B4-BE49-F238E27FC236}">
                <a16:creationId xmlns:a16="http://schemas.microsoft.com/office/drawing/2014/main" id="{343A76B3-D608-486E-95A6-5FCA14383BE9}"/>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17</a:t>
            </a:fld>
            <a:endParaRPr lang="en-US" altLang="en-US" sz="1200">
              <a:latin typeface="Garamond" panose="02020404030301010803" pitchFamily="18" charset="0"/>
            </a:endParaRPr>
          </a:p>
        </p:txBody>
      </p:sp>
      <p:sp>
        <p:nvSpPr>
          <p:cNvPr id="6" name="TextBox 5">
            <a:extLst>
              <a:ext uri="{FF2B5EF4-FFF2-40B4-BE49-F238E27FC236}">
                <a16:creationId xmlns:a16="http://schemas.microsoft.com/office/drawing/2014/main" id="{C9E67979-07F7-4734-8E83-E6CE6BB7F4F5}"/>
              </a:ext>
            </a:extLst>
          </p:cNvPr>
          <p:cNvSpPr txBox="1"/>
          <p:nvPr/>
        </p:nvSpPr>
        <p:spPr>
          <a:xfrm>
            <a:off x="1934967" y="1293578"/>
            <a:ext cx="8322066" cy="4524315"/>
          </a:xfrm>
          <a:prstGeom prst="rect">
            <a:avLst/>
          </a:prstGeom>
          <a:noFill/>
        </p:spPr>
        <p:txBody>
          <a:bodyPr wrap="square">
            <a:spAutoFit/>
          </a:bodyPr>
          <a:lstStyle/>
          <a:p>
            <a:pPr algn="l" fontAlgn="base">
              <a:lnSpc>
                <a:spcPct val="150000"/>
              </a:lnSpc>
            </a:pPr>
            <a:r>
              <a:rPr lang="en-US" sz="3600" b="1" i="0" dirty="0">
                <a:solidFill>
                  <a:srgbClr val="273239"/>
                </a:solidFill>
                <a:effectLst/>
                <a:latin typeface="+mj-lt"/>
              </a:rPr>
              <a:t>Operators of Genetic Algorithms:</a:t>
            </a:r>
          </a:p>
          <a:p>
            <a:pPr marL="342900" lvl="8" indent="-342900">
              <a:lnSpc>
                <a:spcPct val="150000"/>
              </a:lnSpc>
              <a:buFont typeface="Wingdings" panose="05000000000000000000" pitchFamily="2" charset="2"/>
              <a:buChar char="Ø"/>
            </a:pPr>
            <a:r>
              <a:rPr lang="en-US" altLang="en-US" sz="3600" dirty="0">
                <a:latin typeface="+mj-lt"/>
              </a:rPr>
              <a:t>Encoding</a:t>
            </a:r>
          </a:p>
          <a:p>
            <a:pPr marL="342900" lvl="8" indent="-342900">
              <a:lnSpc>
                <a:spcPct val="150000"/>
              </a:lnSpc>
              <a:buFont typeface="Wingdings" panose="05000000000000000000" pitchFamily="2" charset="2"/>
              <a:buChar char="Ø"/>
            </a:pPr>
            <a:r>
              <a:rPr lang="en-US" altLang="en-US" sz="3600" dirty="0">
                <a:latin typeface="+mj-lt"/>
              </a:rPr>
              <a:t>Selection</a:t>
            </a:r>
          </a:p>
          <a:p>
            <a:pPr marL="342900" lvl="8" indent="-342900">
              <a:lnSpc>
                <a:spcPct val="150000"/>
              </a:lnSpc>
              <a:buFont typeface="Wingdings" panose="05000000000000000000" pitchFamily="2" charset="2"/>
              <a:buChar char="Ø"/>
            </a:pPr>
            <a:r>
              <a:rPr lang="en-US" altLang="en-US" sz="3600" dirty="0">
                <a:latin typeface="+mj-lt"/>
              </a:rPr>
              <a:t>Crossover</a:t>
            </a:r>
          </a:p>
          <a:p>
            <a:pPr marL="342900" lvl="8" indent="-342900">
              <a:lnSpc>
                <a:spcPct val="150000"/>
              </a:lnSpc>
              <a:buFont typeface="Wingdings" panose="05000000000000000000" pitchFamily="2" charset="2"/>
              <a:buChar char="Ø"/>
            </a:pPr>
            <a:r>
              <a:rPr lang="en-US" altLang="en-US" sz="3600" dirty="0">
                <a:latin typeface="+mj-lt"/>
              </a:rPr>
              <a:t>Mutation</a:t>
            </a:r>
          </a:p>
          <a:p>
            <a:pPr algn="l" fontAlgn="base"/>
            <a:endParaRPr lang="en-US" b="1" i="0" dirty="0">
              <a:solidFill>
                <a:srgbClr val="273239"/>
              </a:solidFill>
              <a:effectLst/>
              <a:latin typeface="Nunito" pitchFamily="2"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C2194763-EDB9-410D-AC58-ADF389868E08}"/>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18</a:t>
            </a:fld>
            <a:endParaRPr lang="en-US" altLang="en-US" sz="1200">
              <a:latin typeface="Garamond" panose="02020404030301010803" pitchFamily="18" charset="0"/>
            </a:endParaRPr>
          </a:p>
        </p:txBody>
      </p:sp>
      <p:sp>
        <p:nvSpPr>
          <p:cNvPr id="24579" name="Rectangle 6">
            <a:extLst>
              <a:ext uri="{FF2B5EF4-FFF2-40B4-BE49-F238E27FC236}">
                <a16:creationId xmlns:a16="http://schemas.microsoft.com/office/drawing/2014/main" id="{00B89ADA-994C-4FB9-AC2D-574EC95C8072}"/>
              </a:ext>
            </a:extLst>
          </p:cNvPr>
          <p:cNvSpPr>
            <a:spLocks noGrp="1" noChangeArrowheads="1"/>
          </p:cNvSpPr>
          <p:nvPr>
            <p:ph type="title"/>
          </p:nvPr>
        </p:nvSpPr>
        <p:spPr>
          <a:xfrm>
            <a:off x="1981200" y="277814"/>
            <a:ext cx="8229600" cy="615553"/>
          </a:xfrm>
        </p:spPr>
        <p:txBody>
          <a:bodyPr/>
          <a:lstStyle/>
          <a:p>
            <a:pPr algn="ctr" eaLnBrk="1" hangingPunct="1"/>
            <a:r>
              <a:rPr lang="en-US" altLang="en-US" sz="4000" b="1" u="sng" dirty="0"/>
              <a:t>Encoding</a:t>
            </a:r>
          </a:p>
        </p:txBody>
      </p:sp>
      <p:sp>
        <p:nvSpPr>
          <p:cNvPr id="24580" name="Rectangle 7">
            <a:extLst>
              <a:ext uri="{FF2B5EF4-FFF2-40B4-BE49-F238E27FC236}">
                <a16:creationId xmlns:a16="http://schemas.microsoft.com/office/drawing/2014/main" id="{1E5FBCA6-4E7D-4DFB-8683-10231C1A7CCE}"/>
              </a:ext>
            </a:extLst>
          </p:cNvPr>
          <p:cNvSpPr>
            <a:spLocks noGrp="1" noChangeArrowheads="1"/>
          </p:cNvSpPr>
          <p:nvPr>
            <p:ph type="body" idx="1"/>
          </p:nvPr>
        </p:nvSpPr>
        <p:spPr>
          <a:xfrm>
            <a:off x="1219200" y="1371600"/>
            <a:ext cx="8229600" cy="4708981"/>
          </a:xfrm>
        </p:spPr>
        <p:txBody>
          <a:bodyPr/>
          <a:lstStyle/>
          <a:p>
            <a:pPr algn="just" eaLnBrk="1" hangingPunct="1">
              <a:buFont typeface="Wingdings" panose="05000000000000000000" pitchFamily="2" charset="2"/>
              <a:buNone/>
            </a:pPr>
            <a:r>
              <a:rPr lang="en-US" altLang="en-US" i="1" dirty="0"/>
              <a:t>   </a:t>
            </a:r>
            <a:r>
              <a:rPr lang="en-US" altLang="en-US" sz="2800" i="1" dirty="0">
                <a:solidFill>
                  <a:schemeClr val="tx2"/>
                </a:solidFill>
              </a:rPr>
              <a:t>The process of representing the solution in the form of a </a:t>
            </a:r>
            <a:r>
              <a:rPr lang="en-US" altLang="en-US" sz="2800" b="1" i="1" dirty="0">
                <a:solidFill>
                  <a:schemeClr val="tx2"/>
                </a:solidFill>
              </a:rPr>
              <a:t>string</a:t>
            </a:r>
            <a:r>
              <a:rPr lang="en-US" altLang="en-US" sz="2800" i="1" dirty="0">
                <a:solidFill>
                  <a:schemeClr val="tx2"/>
                </a:solidFill>
              </a:rPr>
              <a:t> that conveys the necessary information.</a:t>
            </a:r>
          </a:p>
          <a:p>
            <a:pPr algn="just" eaLnBrk="1" hangingPunct="1">
              <a:buFont typeface="Wingdings" panose="05000000000000000000" pitchFamily="2" charset="2"/>
              <a:buNone/>
            </a:pPr>
            <a:endParaRPr lang="en-US" altLang="en-US" sz="2800" i="1" dirty="0">
              <a:solidFill>
                <a:schemeClr val="tx2"/>
              </a:solidFill>
            </a:endParaRPr>
          </a:p>
          <a:p>
            <a:pPr eaLnBrk="1" hangingPunct="1">
              <a:buFont typeface="Wingdings" panose="05000000000000000000" pitchFamily="2" charset="2"/>
              <a:buNone/>
            </a:pPr>
            <a:r>
              <a:rPr lang="en-US" altLang="en-US" sz="2000" dirty="0"/>
              <a:t>     Just as in a chromosome, each gene controls a particular characteristic of the individual, similarly, each bit in the string represents a characteristic of the solution.</a:t>
            </a:r>
            <a:endParaRPr lang="en-US" altLang="en-US" i="1" dirty="0"/>
          </a:p>
          <a:p>
            <a:pPr algn="just" eaLnBrk="1" hangingPunct="1">
              <a:lnSpc>
                <a:spcPct val="200000"/>
              </a:lnSpc>
            </a:pPr>
            <a:r>
              <a:rPr lang="en-US" altLang="en-US" sz="2200" dirty="0"/>
              <a:t>Binary encoding</a:t>
            </a:r>
          </a:p>
          <a:p>
            <a:pPr algn="just" eaLnBrk="1" hangingPunct="1"/>
            <a:r>
              <a:rPr lang="en-US" altLang="en-US" sz="2200" dirty="0"/>
              <a:t>Permutation encoding </a:t>
            </a:r>
          </a:p>
          <a:p>
            <a:pPr algn="just" eaLnBrk="1" hangingPunct="1"/>
            <a:r>
              <a:rPr lang="en-US" altLang="en-US" sz="2200" dirty="0"/>
              <a:t>Value encoding</a:t>
            </a:r>
          </a:p>
          <a:p>
            <a:pPr algn="just" eaLnBrk="1" hangingPunct="1"/>
            <a:r>
              <a:rPr lang="en-US" altLang="en-US" sz="2200" dirty="0"/>
              <a:t>Tree encoding</a:t>
            </a:r>
          </a:p>
          <a:p>
            <a:pPr algn="just" eaLnBrk="1" hangingPunct="1"/>
            <a:r>
              <a:rPr lang="en-US" altLang="en-US" sz="2400" dirty="0"/>
              <a:t>….</a:t>
            </a:r>
          </a:p>
          <a:p>
            <a:pPr algn="just" eaLnBrk="1" hangingPunct="1">
              <a:buFont typeface="Wingdings" panose="05000000000000000000" pitchFamily="2" charset="2"/>
              <a:buNone/>
            </a:pPr>
            <a:endParaRPr lang="en-US" altLang="en-US" sz="2400" dirty="0"/>
          </a:p>
        </p:txBody>
      </p:sp>
      <p:graphicFrame>
        <p:nvGraphicFramePr>
          <p:cNvPr id="24581" name="Object 4">
            <a:extLst>
              <a:ext uri="{FF2B5EF4-FFF2-40B4-BE49-F238E27FC236}">
                <a16:creationId xmlns:a16="http://schemas.microsoft.com/office/drawing/2014/main" id="{45554A68-C130-4091-91D1-6F2993901DB4}"/>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3" imgW="1423988" imgH="3055938" progId="MS_ClipArt_Gallery.2">
                  <p:embed/>
                </p:oleObj>
              </mc:Choice>
              <mc:Fallback>
                <p:oleObj name="Klip" r:id="rId3" imgW="1423988" imgH="3055938" progId="MS_ClipArt_Gallery.2">
                  <p:embed/>
                  <p:pic>
                    <p:nvPicPr>
                      <p:cNvPr id="24581" name="Object 4">
                        <a:extLst>
                          <a:ext uri="{FF2B5EF4-FFF2-40B4-BE49-F238E27FC236}">
                            <a16:creationId xmlns:a16="http://schemas.microsoft.com/office/drawing/2014/main" id="{45554A68-C130-4091-91D1-6F2993901DB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A8255822-AB6A-4723-A6C5-50FD2A9B105F}"/>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19</a:t>
            </a:fld>
            <a:endParaRPr lang="en-US" altLang="en-US" sz="1200">
              <a:latin typeface="Garamond" panose="02020404030301010803" pitchFamily="18" charset="0"/>
            </a:endParaRPr>
          </a:p>
        </p:txBody>
      </p:sp>
      <p:sp>
        <p:nvSpPr>
          <p:cNvPr id="29699" name="Rectangle 2">
            <a:extLst>
              <a:ext uri="{FF2B5EF4-FFF2-40B4-BE49-F238E27FC236}">
                <a16:creationId xmlns:a16="http://schemas.microsoft.com/office/drawing/2014/main" id="{B1A3A162-A6F6-4B3E-A60E-DF0A683EB741}"/>
              </a:ext>
            </a:extLst>
          </p:cNvPr>
          <p:cNvSpPr>
            <a:spLocks noGrp="1" noChangeArrowheads="1"/>
          </p:cNvSpPr>
          <p:nvPr>
            <p:ph type="title"/>
          </p:nvPr>
        </p:nvSpPr>
        <p:spPr>
          <a:xfrm>
            <a:off x="1981200" y="228601"/>
            <a:ext cx="8077200" cy="1200329"/>
          </a:xfrm>
        </p:spPr>
        <p:txBody>
          <a:bodyPr/>
          <a:lstStyle/>
          <a:p>
            <a:pPr algn="ctr" eaLnBrk="1" hangingPunct="1"/>
            <a:r>
              <a:rPr lang="en-US" altLang="en-US" sz="4000" b="1" u="sng"/>
              <a:t>Fitness Function</a:t>
            </a:r>
            <a:br>
              <a:rPr lang="en-US" altLang="en-US" sz="3800"/>
            </a:br>
            <a:endParaRPr lang="en-US" altLang="en-US" sz="3800"/>
          </a:p>
        </p:txBody>
      </p:sp>
      <p:sp>
        <p:nvSpPr>
          <p:cNvPr id="29700" name="Rectangle 3">
            <a:extLst>
              <a:ext uri="{FF2B5EF4-FFF2-40B4-BE49-F238E27FC236}">
                <a16:creationId xmlns:a16="http://schemas.microsoft.com/office/drawing/2014/main" id="{50B948A8-CCC8-48AF-98C2-023215251891}"/>
              </a:ext>
            </a:extLst>
          </p:cNvPr>
          <p:cNvSpPr>
            <a:spLocks noGrp="1" noChangeArrowheads="1"/>
          </p:cNvSpPr>
          <p:nvPr>
            <p:ph type="body" idx="1"/>
          </p:nvPr>
        </p:nvSpPr>
        <p:spPr>
          <a:xfrm>
            <a:off x="1524000" y="1338675"/>
            <a:ext cx="8229600" cy="4390433"/>
          </a:xfrm>
        </p:spPr>
        <p:txBody>
          <a:bodyPr/>
          <a:lstStyle/>
          <a:p>
            <a:pPr algn="just" eaLnBrk="1" hangingPunct="1">
              <a:lnSpc>
                <a:spcPct val="90000"/>
              </a:lnSpc>
              <a:buFont typeface="Wingdings" panose="05000000000000000000" pitchFamily="2" charset="2"/>
              <a:buNone/>
            </a:pPr>
            <a:r>
              <a:rPr lang="en-US" altLang="en-US" sz="3700" i="1" dirty="0">
                <a:solidFill>
                  <a:schemeClr val="tx2"/>
                </a:solidFill>
              </a:rPr>
              <a:t> </a:t>
            </a:r>
            <a:r>
              <a:rPr lang="en-US" altLang="en-US" dirty="0">
                <a:solidFill>
                  <a:schemeClr val="hlink"/>
                </a:solidFill>
              </a:rPr>
              <a:t>  </a:t>
            </a:r>
            <a:r>
              <a:rPr lang="en-US" altLang="en-US" sz="2800" i="1" dirty="0">
                <a:solidFill>
                  <a:schemeClr val="tx2"/>
                </a:solidFill>
              </a:rPr>
              <a:t>A fitness function quantifies the optimality of a solution (chromosome) so that particular solution may be ranked against all the other solutions. </a:t>
            </a:r>
          </a:p>
          <a:p>
            <a:pPr algn="just" eaLnBrk="1" hangingPunct="1">
              <a:lnSpc>
                <a:spcPct val="90000"/>
              </a:lnSpc>
            </a:pPr>
            <a:r>
              <a:rPr lang="en-US" altLang="en-US" dirty="0"/>
              <a:t> </a:t>
            </a:r>
            <a:r>
              <a:rPr lang="en-US" altLang="en-US" sz="2400" dirty="0"/>
              <a:t>A fitness value is assigned to each solution depending on how close it actually is to solving the problem. </a:t>
            </a:r>
          </a:p>
          <a:p>
            <a:pPr algn="just" eaLnBrk="1" hangingPunct="1">
              <a:lnSpc>
                <a:spcPct val="90000"/>
              </a:lnSpc>
              <a:buFont typeface="Wingdings" panose="05000000000000000000" pitchFamily="2" charset="2"/>
              <a:buNone/>
            </a:pPr>
            <a:endParaRPr lang="en-US" altLang="en-US" sz="2400" dirty="0"/>
          </a:p>
          <a:p>
            <a:pPr algn="just" eaLnBrk="1" hangingPunct="1">
              <a:lnSpc>
                <a:spcPct val="90000"/>
              </a:lnSpc>
            </a:pPr>
            <a:r>
              <a:rPr lang="en-US" altLang="en-US" sz="2400" dirty="0"/>
              <a:t> Ideal fitness function correlates closely to goal + quickly computable.</a:t>
            </a:r>
          </a:p>
          <a:p>
            <a:pPr algn="just" eaLnBrk="1" hangingPunct="1">
              <a:lnSpc>
                <a:spcPct val="90000"/>
              </a:lnSpc>
              <a:buFont typeface="Wingdings" panose="05000000000000000000" pitchFamily="2" charset="2"/>
              <a:buNone/>
            </a:pPr>
            <a:endParaRPr lang="en-US" altLang="en-US" sz="2400" dirty="0"/>
          </a:p>
          <a:p>
            <a:pPr algn="just" eaLnBrk="1" hangingPunct="1">
              <a:lnSpc>
                <a:spcPct val="90000"/>
              </a:lnSpc>
            </a:pPr>
            <a:r>
              <a:rPr lang="en-US" altLang="en-US" sz="2400" dirty="0"/>
              <a:t>Example. In TSP, f(x) is sum of distances between the cities in solution. The lesser the value, the fitter the solution is.</a:t>
            </a:r>
          </a:p>
          <a:p>
            <a:pPr eaLnBrk="1" hangingPunct="1">
              <a:lnSpc>
                <a:spcPct val="90000"/>
              </a:lnSpc>
            </a:pPr>
            <a:endParaRPr lang="en-US" altLang="en-US" sz="2400" dirty="0"/>
          </a:p>
        </p:txBody>
      </p:sp>
      <p:graphicFrame>
        <p:nvGraphicFramePr>
          <p:cNvPr id="29701" name="Object 4">
            <a:extLst>
              <a:ext uri="{FF2B5EF4-FFF2-40B4-BE49-F238E27FC236}">
                <a16:creationId xmlns:a16="http://schemas.microsoft.com/office/drawing/2014/main" id="{DEB7F531-C012-492E-83F8-E5C35EEF3234}"/>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2" imgW="1423988" imgH="3055938" progId="MS_ClipArt_Gallery.2">
                  <p:embed/>
                </p:oleObj>
              </mc:Choice>
              <mc:Fallback>
                <p:oleObj name="Klip" r:id="rId2" imgW="1423988" imgH="3055938" progId="MS_ClipArt_Gallery.2">
                  <p:embed/>
                  <p:pic>
                    <p:nvPicPr>
                      <p:cNvPr id="29701" name="Object 4">
                        <a:extLst>
                          <a:ext uri="{FF2B5EF4-FFF2-40B4-BE49-F238E27FC236}">
                            <a16:creationId xmlns:a16="http://schemas.microsoft.com/office/drawing/2014/main" id="{DEB7F531-C012-492E-83F8-E5C35EEF323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006E7F7D-A2FC-4ADE-B33C-3DC09F836417}"/>
              </a:ext>
            </a:extLst>
          </p:cNvPr>
          <p:cNvSpPr>
            <a:spLocks noGrp="1"/>
          </p:cNvSpPr>
          <p:nvPr>
            <p:ph type="title"/>
          </p:nvPr>
        </p:nvSpPr>
        <p:spPr>
          <a:xfrm>
            <a:off x="4800600" y="157162"/>
            <a:ext cx="3505200" cy="677108"/>
          </a:xfrm>
        </p:spPr>
        <p:txBody>
          <a:bodyPr/>
          <a:lstStyle/>
          <a:p>
            <a:r>
              <a:rPr lang="en-US" altLang="en-US" dirty="0"/>
              <a:t>Selection</a:t>
            </a:r>
          </a:p>
        </p:txBody>
      </p:sp>
      <p:sp>
        <p:nvSpPr>
          <p:cNvPr id="30723" name="Content Placeholder 2">
            <a:extLst>
              <a:ext uri="{FF2B5EF4-FFF2-40B4-BE49-F238E27FC236}">
                <a16:creationId xmlns:a16="http://schemas.microsoft.com/office/drawing/2014/main" id="{84A2C93B-6216-4F1E-A790-86E972545604}"/>
              </a:ext>
            </a:extLst>
          </p:cNvPr>
          <p:cNvSpPr>
            <a:spLocks noGrp="1"/>
          </p:cNvSpPr>
          <p:nvPr>
            <p:ph idx="1"/>
          </p:nvPr>
        </p:nvSpPr>
        <p:spPr>
          <a:xfrm>
            <a:off x="1143000" y="1584852"/>
            <a:ext cx="8229600" cy="3939540"/>
          </a:xfrm>
        </p:spPr>
        <p:txBody>
          <a:bodyPr/>
          <a:lstStyle/>
          <a:p>
            <a:pPr algn="just"/>
            <a:r>
              <a:rPr lang="en-US" altLang="en-US" dirty="0"/>
              <a:t>After deciding on an encoding, the next step is to decide how to perform </a:t>
            </a:r>
            <a:r>
              <a:rPr lang="en-US" altLang="en-US" b="1" dirty="0"/>
              <a:t>selection</a:t>
            </a:r>
            <a:r>
              <a:rPr lang="en-US" altLang="en-US" dirty="0"/>
              <a:t>.</a:t>
            </a:r>
          </a:p>
          <a:p>
            <a:pPr algn="just"/>
            <a:r>
              <a:rPr lang="en-US" altLang="en-US" dirty="0"/>
              <a:t>That means </a:t>
            </a:r>
            <a:r>
              <a:rPr lang="en-US" altLang="en-US" b="1" dirty="0"/>
              <a:t>how to choose </a:t>
            </a:r>
            <a:r>
              <a:rPr lang="en-US" altLang="en-US" dirty="0"/>
              <a:t>individuals in the population that will create offspring for the next generation.</a:t>
            </a:r>
          </a:p>
          <a:p>
            <a:pPr algn="just"/>
            <a:r>
              <a:rPr lang="en-US" altLang="en-US" dirty="0"/>
              <a:t>The </a:t>
            </a:r>
            <a:r>
              <a:rPr lang="en-US" altLang="en-US" b="1" dirty="0"/>
              <a:t>purpose</a:t>
            </a:r>
            <a:r>
              <a:rPr lang="en-US" altLang="en-US" dirty="0"/>
              <a:t> of selection is to emphasize fitter individuals in the population in hopes that their off springs have better fitness.</a:t>
            </a:r>
          </a:p>
        </p:txBody>
      </p:sp>
      <p:sp>
        <p:nvSpPr>
          <p:cNvPr id="30724" name="Slide Number Placeholder 3">
            <a:extLst>
              <a:ext uri="{FF2B5EF4-FFF2-40B4-BE49-F238E27FC236}">
                <a16:creationId xmlns:a16="http://schemas.microsoft.com/office/drawing/2014/main" id="{FCD40C4E-03D8-4394-85B8-8F167B417670}"/>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20</a:t>
            </a:fld>
            <a:endParaRPr lang="en-US" altLang="en-US" sz="1200">
              <a:latin typeface="Garamond" panose="02020404030301010803"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A6489820-3CCA-4790-8A6F-85F1AD70C1C2}"/>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21</a:t>
            </a:fld>
            <a:endParaRPr lang="en-US" altLang="en-US" sz="1200">
              <a:latin typeface="Garamond" panose="02020404030301010803" pitchFamily="18" charset="0"/>
            </a:endParaRPr>
          </a:p>
        </p:txBody>
      </p:sp>
      <p:sp>
        <p:nvSpPr>
          <p:cNvPr id="31747" name="Rectangle 2">
            <a:extLst>
              <a:ext uri="{FF2B5EF4-FFF2-40B4-BE49-F238E27FC236}">
                <a16:creationId xmlns:a16="http://schemas.microsoft.com/office/drawing/2014/main" id="{481841AD-091A-49A1-A6A5-10BB7FBC2230}"/>
              </a:ext>
            </a:extLst>
          </p:cNvPr>
          <p:cNvSpPr>
            <a:spLocks noGrp="1" noChangeArrowheads="1"/>
          </p:cNvSpPr>
          <p:nvPr>
            <p:ph type="title"/>
          </p:nvPr>
        </p:nvSpPr>
        <p:spPr>
          <a:xfrm>
            <a:off x="1981200" y="277813"/>
            <a:ext cx="8229600" cy="1231106"/>
          </a:xfrm>
        </p:spPr>
        <p:txBody>
          <a:bodyPr/>
          <a:lstStyle/>
          <a:p>
            <a:pPr algn="ctr" eaLnBrk="1" hangingPunct="1"/>
            <a:r>
              <a:rPr lang="en-US" altLang="en-US" sz="4000" b="1" u="sng"/>
              <a:t>Selection</a:t>
            </a:r>
            <a:br>
              <a:rPr lang="en-US" altLang="en-US" sz="4000" b="1" u="sng"/>
            </a:br>
            <a:endParaRPr lang="en-US" altLang="en-US" sz="4000" b="1" u="sng"/>
          </a:p>
        </p:txBody>
      </p:sp>
      <p:sp>
        <p:nvSpPr>
          <p:cNvPr id="31748" name="Rectangle 3">
            <a:extLst>
              <a:ext uri="{FF2B5EF4-FFF2-40B4-BE49-F238E27FC236}">
                <a16:creationId xmlns:a16="http://schemas.microsoft.com/office/drawing/2014/main" id="{F623942F-109F-406A-88D0-39AEBC7E90D9}"/>
              </a:ext>
            </a:extLst>
          </p:cNvPr>
          <p:cNvSpPr>
            <a:spLocks noGrp="1" noChangeArrowheads="1"/>
          </p:cNvSpPr>
          <p:nvPr>
            <p:ph type="body" idx="1"/>
          </p:nvPr>
        </p:nvSpPr>
        <p:spPr>
          <a:xfrm>
            <a:off x="1981200" y="1219201"/>
            <a:ext cx="8229600" cy="3268587"/>
          </a:xfrm>
        </p:spPr>
        <p:txBody>
          <a:bodyPr/>
          <a:lstStyle/>
          <a:p>
            <a:pPr algn="just" eaLnBrk="1" hangingPunct="1">
              <a:lnSpc>
                <a:spcPct val="90000"/>
              </a:lnSpc>
              <a:buFont typeface="Wingdings" panose="05000000000000000000" pitchFamily="2" charset="2"/>
              <a:buNone/>
            </a:pPr>
            <a:r>
              <a:rPr lang="en-US" altLang="en-US" b="1" dirty="0"/>
              <a:t>   </a:t>
            </a:r>
            <a:r>
              <a:rPr lang="en-US" altLang="en-US" sz="2800" i="1" dirty="0">
                <a:solidFill>
                  <a:schemeClr val="tx2"/>
                </a:solidFill>
              </a:rPr>
              <a:t>The process that determines which solutions are to be preserved and allowed to reproduce and which ones deserve to die out.</a:t>
            </a:r>
          </a:p>
          <a:p>
            <a:pPr algn="just" eaLnBrk="1" hangingPunct="1">
              <a:lnSpc>
                <a:spcPct val="90000"/>
              </a:lnSpc>
              <a:buFont typeface="Wingdings" panose="05000000000000000000" pitchFamily="2" charset="2"/>
              <a:buNone/>
            </a:pPr>
            <a:endParaRPr lang="en-US" altLang="en-US" sz="2800" i="1" dirty="0">
              <a:solidFill>
                <a:schemeClr val="tx2"/>
              </a:solidFill>
            </a:endParaRPr>
          </a:p>
          <a:p>
            <a:pPr algn="just" eaLnBrk="1" hangingPunct="1">
              <a:lnSpc>
                <a:spcPct val="90000"/>
              </a:lnSpc>
            </a:pPr>
            <a:r>
              <a:rPr lang="en-US" altLang="en-US" sz="2400" dirty="0"/>
              <a:t>The primary objective is to </a:t>
            </a:r>
            <a:r>
              <a:rPr lang="en-US" altLang="en-US" sz="2400" dirty="0">
                <a:solidFill>
                  <a:srgbClr val="CC3300"/>
                </a:solidFill>
              </a:rPr>
              <a:t>emphasize the good solutions</a:t>
            </a:r>
            <a:r>
              <a:rPr lang="en-US" altLang="en-US" sz="2400" dirty="0"/>
              <a:t> and </a:t>
            </a:r>
            <a:r>
              <a:rPr lang="en-US" altLang="en-US" sz="2400" dirty="0">
                <a:solidFill>
                  <a:srgbClr val="CC3300"/>
                </a:solidFill>
              </a:rPr>
              <a:t>eliminate the bad solutions</a:t>
            </a:r>
            <a:r>
              <a:rPr lang="en-US" altLang="en-US" sz="2400" dirty="0"/>
              <a:t> in a population, </a:t>
            </a:r>
            <a:r>
              <a:rPr lang="en-US" altLang="en-US" sz="2400" dirty="0">
                <a:solidFill>
                  <a:srgbClr val="CC3300"/>
                </a:solidFill>
              </a:rPr>
              <a:t>while keeping the population size constant. </a:t>
            </a:r>
          </a:p>
          <a:p>
            <a:pPr algn="just" eaLnBrk="1" hangingPunct="1">
              <a:lnSpc>
                <a:spcPct val="90000"/>
              </a:lnSpc>
              <a:buFont typeface="Wingdings" panose="05000000000000000000" pitchFamily="2" charset="2"/>
              <a:buNone/>
            </a:pPr>
            <a:endParaRPr lang="en-US" altLang="en-US" sz="2400" dirty="0">
              <a:solidFill>
                <a:srgbClr val="CC3300"/>
              </a:solidFill>
            </a:endParaRPr>
          </a:p>
          <a:p>
            <a:pPr algn="just" eaLnBrk="1" hangingPunct="1">
              <a:lnSpc>
                <a:spcPct val="90000"/>
              </a:lnSpc>
            </a:pPr>
            <a:r>
              <a:rPr lang="en-US" altLang="en-US" sz="2400" dirty="0"/>
              <a:t>“Selects The Best, Discards The Rest”.</a:t>
            </a:r>
          </a:p>
        </p:txBody>
      </p:sp>
      <p:graphicFrame>
        <p:nvGraphicFramePr>
          <p:cNvPr id="31749" name="Object 4">
            <a:extLst>
              <a:ext uri="{FF2B5EF4-FFF2-40B4-BE49-F238E27FC236}">
                <a16:creationId xmlns:a16="http://schemas.microsoft.com/office/drawing/2014/main" id="{E31F98F9-C1FD-4842-AF56-FF312CB07DF5}"/>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2" imgW="1423988" imgH="3055938" progId="MS_ClipArt_Gallery.2">
                  <p:embed/>
                </p:oleObj>
              </mc:Choice>
              <mc:Fallback>
                <p:oleObj name="Klip" r:id="rId2" imgW="1423988" imgH="3055938" progId="MS_ClipArt_Gallery.2">
                  <p:embed/>
                  <p:pic>
                    <p:nvPicPr>
                      <p:cNvPr id="31749" name="Object 4">
                        <a:extLst>
                          <a:ext uri="{FF2B5EF4-FFF2-40B4-BE49-F238E27FC236}">
                            <a16:creationId xmlns:a16="http://schemas.microsoft.com/office/drawing/2014/main" id="{E31F98F9-C1FD-4842-AF56-FF312CB07DF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88494A86-AC3C-4BB8-A117-D4254A392E34}"/>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22</a:t>
            </a:fld>
            <a:endParaRPr lang="en-US" altLang="en-US" sz="1200">
              <a:latin typeface="Garamond" panose="02020404030301010803" pitchFamily="18" charset="0"/>
            </a:endParaRPr>
          </a:p>
        </p:txBody>
      </p:sp>
      <p:sp>
        <p:nvSpPr>
          <p:cNvPr id="32771" name="Rectangle 2">
            <a:extLst>
              <a:ext uri="{FF2B5EF4-FFF2-40B4-BE49-F238E27FC236}">
                <a16:creationId xmlns:a16="http://schemas.microsoft.com/office/drawing/2014/main" id="{A0DC207F-9147-4381-B553-14A87F32EBAC}"/>
              </a:ext>
            </a:extLst>
          </p:cNvPr>
          <p:cNvSpPr>
            <a:spLocks noGrp="1" noChangeArrowheads="1"/>
          </p:cNvSpPr>
          <p:nvPr>
            <p:ph type="title"/>
          </p:nvPr>
        </p:nvSpPr>
        <p:spPr>
          <a:xfrm>
            <a:off x="-506244" y="187523"/>
            <a:ext cx="11920696" cy="615553"/>
          </a:xfrm>
        </p:spPr>
        <p:txBody>
          <a:bodyPr/>
          <a:lstStyle/>
          <a:p>
            <a:pPr algn="ctr" eaLnBrk="1" hangingPunct="1"/>
            <a:r>
              <a:rPr lang="en-US" altLang="en-US" sz="4000" b="1" u="sng" dirty="0"/>
              <a:t>Selection</a:t>
            </a:r>
          </a:p>
        </p:txBody>
      </p:sp>
      <p:sp>
        <p:nvSpPr>
          <p:cNvPr id="32772" name="Rectangle 3">
            <a:extLst>
              <a:ext uri="{FF2B5EF4-FFF2-40B4-BE49-F238E27FC236}">
                <a16:creationId xmlns:a16="http://schemas.microsoft.com/office/drawing/2014/main" id="{7B3F90EC-4133-416F-833E-DC79A99F05BB}"/>
              </a:ext>
            </a:extLst>
          </p:cNvPr>
          <p:cNvSpPr>
            <a:spLocks noGrp="1" noChangeArrowheads="1"/>
          </p:cNvSpPr>
          <p:nvPr>
            <p:ph type="body" idx="1"/>
          </p:nvPr>
        </p:nvSpPr>
        <p:spPr>
          <a:xfrm>
            <a:off x="914400" y="1319213"/>
            <a:ext cx="11049000" cy="4924425"/>
          </a:xfrm>
        </p:spPr>
        <p:txBody>
          <a:bodyPr/>
          <a:lstStyle/>
          <a:p>
            <a:pPr marL="609600" indent="-609600" algn="just"/>
            <a:r>
              <a:rPr lang="en-US" altLang="en-US" dirty="0"/>
              <a:t>Identify the good solutions in a population.</a:t>
            </a:r>
          </a:p>
          <a:p>
            <a:pPr marL="609600" indent="-609600" algn="just"/>
            <a:endParaRPr lang="en-US" altLang="en-US" dirty="0"/>
          </a:p>
          <a:p>
            <a:pPr marL="609600" indent="-609600" algn="just"/>
            <a:r>
              <a:rPr lang="en-US" altLang="en-US" dirty="0"/>
              <a:t>Make multiple solutions from the good solutions.</a:t>
            </a:r>
          </a:p>
          <a:p>
            <a:pPr marL="609600" indent="-609600" algn="just"/>
            <a:endParaRPr lang="en-US" altLang="en-US" dirty="0"/>
          </a:p>
          <a:p>
            <a:pPr marL="609600" indent="-609600" algn="just"/>
            <a:r>
              <a:rPr lang="en-US" altLang="en-US" dirty="0"/>
              <a:t>Eliminate bad solutions from the population so that multiple copies of good solutions can be placed in the population.</a:t>
            </a:r>
          </a:p>
        </p:txBody>
      </p:sp>
      <p:graphicFrame>
        <p:nvGraphicFramePr>
          <p:cNvPr id="32773" name="Object 4">
            <a:extLst>
              <a:ext uri="{FF2B5EF4-FFF2-40B4-BE49-F238E27FC236}">
                <a16:creationId xmlns:a16="http://schemas.microsoft.com/office/drawing/2014/main" id="{D7F4D67A-B3AE-45DA-9709-8C14E1CF2F3D}"/>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2" imgW="1423988" imgH="3055938" progId="MS_ClipArt_Gallery.2">
                  <p:embed/>
                </p:oleObj>
              </mc:Choice>
              <mc:Fallback>
                <p:oleObj name="Klip" r:id="rId2" imgW="1423988" imgH="3055938" progId="MS_ClipArt_Gallery.2">
                  <p:embed/>
                  <p:pic>
                    <p:nvPicPr>
                      <p:cNvPr id="32773" name="Object 4">
                        <a:extLst>
                          <a:ext uri="{FF2B5EF4-FFF2-40B4-BE49-F238E27FC236}">
                            <a16:creationId xmlns:a16="http://schemas.microsoft.com/office/drawing/2014/main" id="{D7F4D67A-B3AE-45DA-9709-8C14E1CF2F3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E39AA2CE-460B-4ABD-8F5F-8706319A53E7}"/>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23</a:t>
            </a:fld>
            <a:endParaRPr lang="en-US" altLang="en-US" sz="1200">
              <a:latin typeface="Garamond" panose="02020404030301010803" pitchFamily="18" charset="0"/>
            </a:endParaRPr>
          </a:p>
        </p:txBody>
      </p:sp>
      <p:sp>
        <p:nvSpPr>
          <p:cNvPr id="47107" name="Rectangle 2">
            <a:extLst>
              <a:ext uri="{FF2B5EF4-FFF2-40B4-BE49-F238E27FC236}">
                <a16:creationId xmlns:a16="http://schemas.microsoft.com/office/drawing/2014/main" id="{9923FC9B-A2F4-4FFD-A4A4-2C97396E405B}"/>
              </a:ext>
            </a:extLst>
          </p:cNvPr>
          <p:cNvSpPr>
            <a:spLocks noGrp="1" noChangeArrowheads="1"/>
          </p:cNvSpPr>
          <p:nvPr>
            <p:ph type="title"/>
          </p:nvPr>
        </p:nvSpPr>
        <p:spPr>
          <a:xfrm>
            <a:off x="1981200" y="277814"/>
            <a:ext cx="8077200" cy="1200329"/>
          </a:xfrm>
        </p:spPr>
        <p:txBody>
          <a:bodyPr/>
          <a:lstStyle/>
          <a:p>
            <a:pPr algn="ctr" eaLnBrk="1" hangingPunct="1"/>
            <a:r>
              <a:rPr lang="en-US" altLang="en-US" sz="4000" b="1" u="sng"/>
              <a:t>Crossover</a:t>
            </a:r>
            <a:br>
              <a:rPr lang="en-US" altLang="en-US" sz="3800"/>
            </a:br>
            <a:endParaRPr lang="en-US" altLang="en-US" sz="3800"/>
          </a:p>
        </p:txBody>
      </p:sp>
      <p:sp>
        <p:nvSpPr>
          <p:cNvPr id="47108" name="Rectangle 3">
            <a:extLst>
              <a:ext uri="{FF2B5EF4-FFF2-40B4-BE49-F238E27FC236}">
                <a16:creationId xmlns:a16="http://schemas.microsoft.com/office/drawing/2014/main" id="{51552335-23D5-4311-B99A-889571C998A7}"/>
              </a:ext>
            </a:extLst>
          </p:cNvPr>
          <p:cNvSpPr>
            <a:spLocks noGrp="1" noChangeArrowheads="1"/>
          </p:cNvSpPr>
          <p:nvPr>
            <p:ph type="body" idx="1"/>
          </p:nvPr>
        </p:nvSpPr>
        <p:spPr>
          <a:xfrm>
            <a:off x="1981200" y="1295401"/>
            <a:ext cx="8229600" cy="4001095"/>
          </a:xfrm>
        </p:spPr>
        <p:txBody>
          <a:bodyPr/>
          <a:lstStyle/>
          <a:p>
            <a:pPr eaLnBrk="1" hangingPunct="1">
              <a:buFont typeface="Wingdings" panose="05000000000000000000" pitchFamily="2" charset="2"/>
              <a:buNone/>
            </a:pPr>
            <a:r>
              <a:rPr lang="en-US" altLang="en-US" i="1"/>
              <a:t>   </a:t>
            </a:r>
            <a:r>
              <a:rPr lang="en-US" altLang="en-US" sz="2800" i="1">
                <a:solidFill>
                  <a:schemeClr val="tx2"/>
                </a:solidFill>
              </a:rPr>
              <a:t>It is the process in which two chromosomes (strings) combine their genetic material (bits) to produce a  new offspring which possesses both their characteristics.</a:t>
            </a:r>
          </a:p>
          <a:p>
            <a:pPr eaLnBrk="1" hangingPunct="1">
              <a:buFont typeface="Wingdings" panose="05000000000000000000" pitchFamily="2" charset="2"/>
              <a:buNone/>
            </a:pPr>
            <a:endParaRPr lang="en-US" altLang="en-US" sz="2800" i="1">
              <a:solidFill>
                <a:schemeClr val="tx2"/>
              </a:solidFill>
            </a:endParaRPr>
          </a:p>
          <a:p>
            <a:pPr eaLnBrk="1" hangingPunct="1"/>
            <a:r>
              <a:rPr lang="en-US" altLang="en-US" sz="2400" i="1"/>
              <a:t>Two strings are picked from the mating pool at random to cross over.</a:t>
            </a:r>
          </a:p>
          <a:p>
            <a:pPr eaLnBrk="1" hangingPunct="1">
              <a:buFont typeface="Wingdings" panose="05000000000000000000" pitchFamily="2" charset="2"/>
              <a:buNone/>
            </a:pPr>
            <a:endParaRPr lang="en-US" altLang="en-US" sz="2400" i="1"/>
          </a:p>
          <a:p>
            <a:pPr eaLnBrk="1" hangingPunct="1"/>
            <a:r>
              <a:rPr lang="en-US" altLang="en-US" sz="2400" i="1"/>
              <a:t>The method chosen depends on the Encoding Method such as special crossover for TSP.</a:t>
            </a:r>
          </a:p>
          <a:p>
            <a:pPr eaLnBrk="1" hangingPunct="1">
              <a:buFont typeface="Wingdings" panose="05000000000000000000" pitchFamily="2" charset="2"/>
              <a:buNone/>
            </a:pPr>
            <a:endParaRPr lang="en-US" altLang="en-US" sz="2400" i="1"/>
          </a:p>
        </p:txBody>
      </p:sp>
      <p:graphicFrame>
        <p:nvGraphicFramePr>
          <p:cNvPr id="47109" name="Object 4">
            <a:extLst>
              <a:ext uri="{FF2B5EF4-FFF2-40B4-BE49-F238E27FC236}">
                <a16:creationId xmlns:a16="http://schemas.microsoft.com/office/drawing/2014/main" id="{0E719672-BB44-4810-A42D-8CEFE0A94648}"/>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2" imgW="1423988" imgH="3055938" progId="MS_ClipArt_Gallery.2">
                  <p:embed/>
                </p:oleObj>
              </mc:Choice>
              <mc:Fallback>
                <p:oleObj name="Klip" r:id="rId2" imgW="1423988" imgH="3055938" progId="MS_ClipArt_Gallery.2">
                  <p:embed/>
                  <p:pic>
                    <p:nvPicPr>
                      <p:cNvPr id="47109" name="Object 4">
                        <a:extLst>
                          <a:ext uri="{FF2B5EF4-FFF2-40B4-BE49-F238E27FC236}">
                            <a16:creationId xmlns:a16="http://schemas.microsoft.com/office/drawing/2014/main" id="{0E719672-BB44-4810-A42D-8CEFE0A9464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6">
            <a:extLst>
              <a:ext uri="{FF2B5EF4-FFF2-40B4-BE49-F238E27FC236}">
                <a16:creationId xmlns:a16="http://schemas.microsoft.com/office/drawing/2014/main" id="{3DEEB5D8-CCA7-4F09-87CA-97B0F48C5DFB}"/>
              </a:ext>
            </a:extLst>
          </p:cNvPr>
          <p:cNvSpPr>
            <a:spLocks noGrp="1"/>
          </p:cNvSpPr>
          <p:nvPr>
            <p:ph type="sldNum" sz="quarter" idx="12"/>
          </p:nvPr>
        </p:nvSpPr>
        <p:spPr>
          <a:xfrm>
            <a:off x="10302240" y="6377940"/>
            <a:ext cx="2804160"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428C225-321C-4897-AF74-5885A0398A95}" type="slidenum">
              <a:rPr lang="en-US" altLang="en-US" sz="1200">
                <a:latin typeface="Garamond" panose="02020404030301010803" pitchFamily="18" charset="0"/>
              </a:rPr>
              <a:pPr>
                <a:spcBef>
                  <a:spcPct val="0"/>
                </a:spcBef>
                <a:buClrTx/>
                <a:buSzTx/>
                <a:buFontTx/>
                <a:buNone/>
              </a:pPr>
              <a:t>24</a:t>
            </a:fld>
            <a:endParaRPr lang="en-US" altLang="en-US" sz="1200">
              <a:latin typeface="Garamond" panose="02020404030301010803" pitchFamily="18" charset="0"/>
            </a:endParaRPr>
          </a:p>
        </p:txBody>
      </p:sp>
      <p:sp>
        <p:nvSpPr>
          <p:cNvPr id="48131" name="Rectangle 2">
            <a:extLst>
              <a:ext uri="{FF2B5EF4-FFF2-40B4-BE49-F238E27FC236}">
                <a16:creationId xmlns:a16="http://schemas.microsoft.com/office/drawing/2014/main" id="{803D2AAD-61D0-471B-A21B-82AC2EFDD500}"/>
              </a:ext>
            </a:extLst>
          </p:cNvPr>
          <p:cNvSpPr>
            <a:spLocks noGrp="1" noChangeArrowheads="1"/>
          </p:cNvSpPr>
          <p:nvPr>
            <p:ph type="title"/>
          </p:nvPr>
        </p:nvSpPr>
        <p:spPr>
          <a:xfrm>
            <a:off x="1981200" y="277814"/>
            <a:ext cx="8229600" cy="560387"/>
          </a:xfrm>
        </p:spPr>
        <p:txBody>
          <a:bodyPr/>
          <a:lstStyle/>
          <a:p>
            <a:pPr algn="ctr" eaLnBrk="1" hangingPunct="1"/>
            <a:r>
              <a:rPr lang="en-US" altLang="en-US" sz="3600" b="1" u="sng"/>
              <a:t>Crossover Methods</a:t>
            </a:r>
          </a:p>
        </p:txBody>
      </p:sp>
      <p:sp>
        <p:nvSpPr>
          <p:cNvPr id="48132" name="Rectangle 3">
            <a:extLst>
              <a:ext uri="{FF2B5EF4-FFF2-40B4-BE49-F238E27FC236}">
                <a16:creationId xmlns:a16="http://schemas.microsoft.com/office/drawing/2014/main" id="{29BA3CC8-FAD1-4CA8-935F-FA849A6C14BF}"/>
              </a:ext>
            </a:extLst>
          </p:cNvPr>
          <p:cNvSpPr>
            <a:spLocks noGrp="1" noChangeArrowheads="1"/>
          </p:cNvSpPr>
          <p:nvPr>
            <p:ph type="body" sz="half" idx="1"/>
          </p:nvPr>
        </p:nvSpPr>
        <p:spPr>
          <a:xfrm>
            <a:off x="1981200" y="1066800"/>
            <a:ext cx="7620000" cy="3157788"/>
          </a:xfrm>
        </p:spPr>
        <p:txBody>
          <a:bodyPr/>
          <a:lstStyle/>
          <a:p>
            <a:pPr eaLnBrk="1" hangingPunct="1">
              <a:lnSpc>
                <a:spcPct val="90000"/>
              </a:lnSpc>
            </a:pPr>
            <a:r>
              <a:rPr lang="en-US" altLang="en-US" sz="2600" b="1">
                <a:solidFill>
                  <a:schemeClr val="tx2"/>
                </a:solidFill>
              </a:rPr>
              <a:t>Single Point Crossover- </a:t>
            </a:r>
            <a:r>
              <a:rPr lang="en-US" altLang="en-US" sz="2400"/>
              <a:t>A random point is chosen on the individual chromosomes (strings) and the genetic material is exchanged at this point.</a:t>
            </a:r>
          </a:p>
          <a:p>
            <a:pPr eaLnBrk="1" hangingPunct="1">
              <a:lnSpc>
                <a:spcPct val="90000"/>
              </a:lnSpc>
            </a:pPr>
            <a:endParaRPr lang="en-US" altLang="en-US" sz="2400"/>
          </a:p>
          <a:p>
            <a:pPr eaLnBrk="1" hangingPunct="1">
              <a:lnSpc>
                <a:spcPct val="90000"/>
              </a:lnSpc>
            </a:pPr>
            <a:endParaRPr lang="en-US" altLang="en-US" sz="2600" b="1">
              <a:solidFill>
                <a:schemeClr val="tx2"/>
              </a:solidFill>
            </a:endParaRPr>
          </a:p>
          <a:p>
            <a:pPr eaLnBrk="1" hangingPunct="1">
              <a:lnSpc>
                <a:spcPct val="90000"/>
              </a:lnSpc>
            </a:pPr>
            <a:endParaRPr lang="en-US" altLang="en-US" sz="2600" b="1">
              <a:solidFill>
                <a:schemeClr val="tx2"/>
              </a:solidFill>
            </a:endParaRPr>
          </a:p>
          <a:p>
            <a:pPr eaLnBrk="1" hangingPunct="1">
              <a:lnSpc>
                <a:spcPct val="90000"/>
              </a:lnSpc>
            </a:pPr>
            <a:endParaRPr lang="en-US" altLang="en-US" sz="2600" b="1">
              <a:solidFill>
                <a:schemeClr val="tx2"/>
              </a:solidFill>
            </a:endParaRPr>
          </a:p>
          <a:p>
            <a:pPr eaLnBrk="1" hangingPunct="1">
              <a:lnSpc>
                <a:spcPct val="90000"/>
              </a:lnSpc>
              <a:buFont typeface="Wingdings" panose="05000000000000000000" pitchFamily="2" charset="2"/>
              <a:buNone/>
            </a:pPr>
            <a:endParaRPr lang="en-US" altLang="en-US" sz="2600"/>
          </a:p>
          <a:p>
            <a:pPr eaLnBrk="1" hangingPunct="1">
              <a:lnSpc>
                <a:spcPct val="90000"/>
              </a:lnSpc>
              <a:buFont typeface="Wingdings" panose="05000000000000000000" pitchFamily="2" charset="2"/>
              <a:buNone/>
            </a:pPr>
            <a:endParaRPr lang="en-US" altLang="en-US" sz="2600"/>
          </a:p>
        </p:txBody>
      </p:sp>
      <p:pic>
        <p:nvPicPr>
          <p:cNvPr id="48133" name="Picture 4">
            <a:extLst>
              <a:ext uri="{FF2B5EF4-FFF2-40B4-BE49-F238E27FC236}">
                <a16:creationId xmlns:a16="http://schemas.microsoft.com/office/drawing/2014/main" id="{04915915-66BA-4D17-8AA2-0B4EAD80955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352801" y="2336801"/>
            <a:ext cx="5148263" cy="3821113"/>
          </a:xfrm>
          <a:noFill/>
        </p:spPr>
      </p:pic>
      <p:graphicFrame>
        <p:nvGraphicFramePr>
          <p:cNvPr id="48134" name="Object 4">
            <a:extLst>
              <a:ext uri="{FF2B5EF4-FFF2-40B4-BE49-F238E27FC236}">
                <a16:creationId xmlns:a16="http://schemas.microsoft.com/office/drawing/2014/main" id="{21D9E1C7-5D82-4198-BB51-DA5961404635}"/>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3" imgW="1423988" imgH="3055938" progId="MS_ClipArt_Gallery.2">
                  <p:embed/>
                </p:oleObj>
              </mc:Choice>
              <mc:Fallback>
                <p:oleObj name="Klip" r:id="rId3" imgW="1423988" imgH="3055938" progId="MS_ClipArt_Gallery.2">
                  <p:embed/>
                  <p:pic>
                    <p:nvPicPr>
                      <p:cNvPr id="48134" name="Object 4">
                        <a:extLst>
                          <a:ext uri="{FF2B5EF4-FFF2-40B4-BE49-F238E27FC236}">
                            <a16:creationId xmlns:a16="http://schemas.microsoft.com/office/drawing/2014/main" id="{21D9E1C7-5D82-4198-BB51-DA596140463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89F1F304-AF52-45D7-9CF8-E3E48D914E4B}"/>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25</a:t>
            </a:fld>
            <a:endParaRPr lang="en-US" altLang="en-US" sz="1200">
              <a:latin typeface="Garamond" panose="02020404030301010803" pitchFamily="18" charset="0"/>
            </a:endParaRPr>
          </a:p>
        </p:txBody>
      </p:sp>
      <p:sp>
        <p:nvSpPr>
          <p:cNvPr id="49155" name="Rectangle 5">
            <a:extLst>
              <a:ext uri="{FF2B5EF4-FFF2-40B4-BE49-F238E27FC236}">
                <a16:creationId xmlns:a16="http://schemas.microsoft.com/office/drawing/2014/main" id="{3C83298C-B9C3-4294-A8B0-DA6E29A432E3}"/>
              </a:ext>
            </a:extLst>
          </p:cNvPr>
          <p:cNvSpPr>
            <a:spLocks noGrp="1" noChangeArrowheads="1"/>
          </p:cNvSpPr>
          <p:nvPr>
            <p:ph type="title"/>
          </p:nvPr>
        </p:nvSpPr>
        <p:spPr>
          <a:xfrm>
            <a:off x="1981200" y="277813"/>
            <a:ext cx="8229600" cy="553998"/>
          </a:xfrm>
        </p:spPr>
        <p:txBody>
          <a:bodyPr/>
          <a:lstStyle/>
          <a:p>
            <a:pPr algn="ctr" eaLnBrk="1" hangingPunct="1"/>
            <a:r>
              <a:rPr lang="en-US" altLang="en-US" sz="3600" b="1" u="sng"/>
              <a:t>Crossover Methods </a:t>
            </a:r>
            <a:r>
              <a:rPr lang="en-US" altLang="en-US" sz="3600" b="1"/>
              <a:t>(contd.)</a:t>
            </a:r>
            <a:endParaRPr lang="en-US" altLang="en-US" sz="3600" b="1" u="sng"/>
          </a:p>
        </p:txBody>
      </p:sp>
      <p:sp>
        <p:nvSpPr>
          <p:cNvPr id="49156" name="Rectangle 31">
            <a:extLst>
              <a:ext uri="{FF2B5EF4-FFF2-40B4-BE49-F238E27FC236}">
                <a16:creationId xmlns:a16="http://schemas.microsoft.com/office/drawing/2014/main" id="{5E7A4216-2078-45E9-B1F6-9A013E8470FA}"/>
              </a:ext>
            </a:extLst>
          </p:cNvPr>
          <p:cNvSpPr>
            <a:spLocks noGrp="1" noChangeArrowheads="1"/>
          </p:cNvSpPr>
          <p:nvPr>
            <p:ph type="body" idx="1"/>
          </p:nvPr>
        </p:nvSpPr>
        <p:spPr>
          <a:xfrm>
            <a:off x="1981200" y="1219201"/>
            <a:ext cx="8229600" cy="430887"/>
          </a:xfrm>
        </p:spPr>
        <p:txBody>
          <a:bodyPr/>
          <a:lstStyle/>
          <a:p>
            <a:pPr eaLnBrk="1" hangingPunct="1"/>
            <a:r>
              <a:rPr lang="en-US" altLang="en-US" sz="2800" b="1">
                <a:solidFill>
                  <a:schemeClr val="tx2"/>
                </a:solidFill>
              </a:rPr>
              <a:t>Single Point Crossover</a:t>
            </a:r>
          </a:p>
        </p:txBody>
      </p:sp>
      <p:graphicFrame>
        <p:nvGraphicFramePr>
          <p:cNvPr id="28701" name="Group 29">
            <a:extLst>
              <a:ext uri="{FF2B5EF4-FFF2-40B4-BE49-F238E27FC236}">
                <a16:creationId xmlns:a16="http://schemas.microsoft.com/office/drawing/2014/main" id="{1AF2925D-BC52-4819-B614-A08A62E8B5B1}"/>
              </a:ext>
            </a:extLst>
          </p:cNvPr>
          <p:cNvGraphicFramePr>
            <a:graphicFrameLocks noGrp="1"/>
          </p:cNvGraphicFramePr>
          <p:nvPr>
            <p:ph idx="4294967295"/>
          </p:nvPr>
        </p:nvGraphicFramePr>
        <p:xfrm>
          <a:off x="3149601" y="2809875"/>
          <a:ext cx="5946775" cy="2667000"/>
        </p:xfrm>
        <a:graphic>
          <a:graphicData uri="http://schemas.openxmlformats.org/drawingml/2006/table">
            <a:tbl>
              <a:tblPr/>
              <a:tblGrid>
                <a:gridCol w="2209800">
                  <a:extLst>
                    <a:ext uri="{9D8B030D-6E8A-4147-A177-3AD203B41FA5}">
                      <a16:colId xmlns:a16="http://schemas.microsoft.com/office/drawing/2014/main" val="20000"/>
                    </a:ext>
                  </a:extLst>
                </a:gridCol>
                <a:gridCol w="3736975">
                  <a:extLst>
                    <a:ext uri="{9D8B030D-6E8A-4147-A177-3AD203B41FA5}">
                      <a16:colId xmlns:a16="http://schemas.microsoft.com/office/drawing/2014/main" val="20001"/>
                    </a:ext>
                  </a:extLst>
                </a:gridCol>
              </a:tblGrid>
              <a:tr h="6667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rgbClr val="FF0000"/>
                          </a:solidFill>
                          <a:effectLst/>
                          <a:latin typeface="Arial" charset="0"/>
                        </a:rPr>
                        <a:t>Chromosome1</a:t>
                      </a:r>
                      <a:endParaRPr kumimoji="0" lang="en-US" sz="1800" b="1" i="0" u="none" strike="noStrike" cap="none" normalizeH="0" baseline="0" dirty="0">
                        <a:ln>
                          <a:noFill/>
                        </a:ln>
                        <a:solidFill>
                          <a:srgbClr val="0000FF"/>
                        </a:solidFill>
                        <a:effectLst/>
                        <a:latin typeface="Arial"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rgbClr val="FF0000"/>
                          </a:solidFill>
                          <a:effectLst/>
                          <a:latin typeface="Arial" charset="0"/>
                        </a:rPr>
                        <a:t>11011 | 00100110110</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67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a:ln>
                            <a:noFill/>
                          </a:ln>
                          <a:solidFill>
                            <a:srgbClr val="0000FF"/>
                          </a:solidFill>
                          <a:effectLst/>
                          <a:latin typeface="Arial" charset="0"/>
                        </a:rPr>
                        <a:t>Chromosome 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rgbClr val="0000FF"/>
                          </a:solidFill>
                          <a:effectLst/>
                          <a:latin typeface="Arial" charset="0"/>
                        </a:rPr>
                        <a:t>11011 | 11000011110</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67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a:ln>
                            <a:noFill/>
                          </a:ln>
                          <a:solidFill>
                            <a:schemeClr val="tx1"/>
                          </a:solidFill>
                          <a:effectLst/>
                          <a:latin typeface="Arial" charset="0"/>
                        </a:rPr>
                        <a:t>Offspring 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a:ln>
                            <a:noFill/>
                          </a:ln>
                          <a:solidFill>
                            <a:srgbClr val="FF0000"/>
                          </a:solidFill>
                          <a:effectLst/>
                          <a:latin typeface="Arial" charset="0"/>
                        </a:rPr>
                        <a:t>11011</a:t>
                      </a:r>
                      <a:r>
                        <a:rPr kumimoji="0" lang="en-US" sz="1800" b="1" i="0" u="none" strike="noStrike" cap="none" normalizeH="0" baseline="0">
                          <a:ln>
                            <a:noFill/>
                          </a:ln>
                          <a:solidFill>
                            <a:srgbClr val="800040"/>
                          </a:solidFill>
                          <a:effectLst/>
                          <a:latin typeface="Arial" charset="0"/>
                        </a:rPr>
                        <a:t> </a:t>
                      </a:r>
                      <a:r>
                        <a:rPr kumimoji="0" lang="en-US" sz="1800" b="1" i="0" u="none" strike="noStrike" cap="none" normalizeH="0" baseline="0">
                          <a:ln>
                            <a:noFill/>
                          </a:ln>
                          <a:solidFill>
                            <a:srgbClr val="000000"/>
                          </a:solidFill>
                          <a:effectLst/>
                          <a:latin typeface="Arial" charset="0"/>
                        </a:rPr>
                        <a:t>|</a:t>
                      </a:r>
                      <a:r>
                        <a:rPr kumimoji="0" lang="en-US" sz="1800" b="1" i="0" u="none" strike="noStrike" cap="none" normalizeH="0" baseline="0">
                          <a:ln>
                            <a:noFill/>
                          </a:ln>
                          <a:solidFill>
                            <a:srgbClr val="000080"/>
                          </a:solidFill>
                          <a:effectLst/>
                          <a:latin typeface="Arial" charset="0"/>
                        </a:rPr>
                        <a:t> </a:t>
                      </a:r>
                      <a:r>
                        <a:rPr kumimoji="0" lang="en-US" sz="1800" b="1" i="0" u="none" strike="noStrike" cap="none" normalizeH="0" baseline="0">
                          <a:ln>
                            <a:noFill/>
                          </a:ln>
                          <a:solidFill>
                            <a:srgbClr val="0000FF"/>
                          </a:solidFill>
                          <a:effectLst/>
                          <a:latin typeface="Arial" charset="0"/>
                        </a:rPr>
                        <a:t>11000011110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67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a:ln>
                            <a:noFill/>
                          </a:ln>
                          <a:solidFill>
                            <a:schemeClr val="tx1"/>
                          </a:solidFill>
                          <a:effectLst/>
                          <a:latin typeface="Arial" charset="0"/>
                        </a:rPr>
                        <a:t>Offspring 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a:ln>
                            <a:noFill/>
                          </a:ln>
                          <a:solidFill>
                            <a:srgbClr val="0000FF"/>
                          </a:solidFill>
                          <a:effectLst/>
                          <a:latin typeface="Arial" charset="0"/>
                        </a:rPr>
                        <a:t>11011 </a:t>
                      </a:r>
                      <a:r>
                        <a:rPr kumimoji="0" lang="en-US" sz="1800" b="1" i="0" u="none" strike="noStrike" cap="none" normalizeH="0" baseline="0">
                          <a:ln>
                            <a:noFill/>
                          </a:ln>
                          <a:solidFill>
                            <a:srgbClr val="000000"/>
                          </a:solidFill>
                          <a:effectLst/>
                          <a:latin typeface="Arial" charset="0"/>
                        </a:rPr>
                        <a:t>|</a:t>
                      </a:r>
                      <a:r>
                        <a:rPr kumimoji="0" lang="en-US" sz="1800" b="1" i="0" u="none" strike="noStrike" cap="none" normalizeH="0" baseline="0">
                          <a:ln>
                            <a:noFill/>
                          </a:ln>
                          <a:solidFill>
                            <a:schemeClr val="tx1"/>
                          </a:solidFill>
                          <a:effectLst/>
                          <a:latin typeface="Arial" charset="0"/>
                        </a:rPr>
                        <a:t> </a:t>
                      </a:r>
                      <a:r>
                        <a:rPr kumimoji="0" lang="en-US" sz="1800" b="1" i="0" u="none" strike="noStrike" cap="none" normalizeH="0" baseline="0">
                          <a:ln>
                            <a:noFill/>
                          </a:ln>
                          <a:solidFill>
                            <a:srgbClr val="FF0000"/>
                          </a:solidFill>
                          <a:effectLst/>
                          <a:latin typeface="Arial" charset="0"/>
                        </a:rPr>
                        <a:t>00100110110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49174" name="Object 4">
            <a:extLst>
              <a:ext uri="{FF2B5EF4-FFF2-40B4-BE49-F238E27FC236}">
                <a16:creationId xmlns:a16="http://schemas.microsoft.com/office/drawing/2014/main" id="{ED85BE5B-6DF6-42DE-B618-8C65A9B925B4}"/>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2" imgW="1423988" imgH="3055938" progId="MS_ClipArt_Gallery.2">
                  <p:embed/>
                </p:oleObj>
              </mc:Choice>
              <mc:Fallback>
                <p:oleObj name="Klip" r:id="rId2" imgW="1423988" imgH="3055938" progId="MS_ClipArt_Gallery.2">
                  <p:embed/>
                  <p:pic>
                    <p:nvPicPr>
                      <p:cNvPr id="49174" name="Object 4">
                        <a:extLst>
                          <a:ext uri="{FF2B5EF4-FFF2-40B4-BE49-F238E27FC236}">
                            <a16:creationId xmlns:a16="http://schemas.microsoft.com/office/drawing/2014/main" id="{ED85BE5B-6DF6-42DE-B618-8C65A9B925B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6">
            <a:extLst>
              <a:ext uri="{FF2B5EF4-FFF2-40B4-BE49-F238E27FC236}">
                <a16:creationId xmlns:a16="http://schemas.microsoft.com/office/drawing/2014/main" id="{861A4202-2110-4E8F-BABB-07AC0E81FDFC}"/>
              </a:ext>
            </a:extLst>
          </p:cNvPr>
          <p:cNvSpPr>
            <a:spLocks noGrp="1"/>
          </p:cNvSpPr>
          <p:nvPr>
            <p:ph type="sldNum" sz="quarter" idx="12"/>
          </p:nvPr>
        </p:nvSpPr>
        <p:spPr>
          <a:xfrm>
            <a:off x="10302240" y="6377940"/>
            <a:ext cx="2804160"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F9C850C-D381-4DCE-9575-9A35C699B5D2}" type="slidenum">
              <a:rPr lang="en-US" altLang="en-US" sz="1200">
                <a:latin typeface="Garamond" panose="02020404030301010803" pitchFamily="18" charset="0"/>
              </a:rPr>
              <a:pPr>
                <a:spcBef>
                  <a:spcPct val="0"/>
                </a:spcBef>
                <a:buClrTx/>
                <a:buSzTx/>
                <a:buFontTx/>
                <a:buNone/>
              </a:pPr>
              <a:t>26</a:t>
            </a:fld>
            <a:endParaRPr lang="en-US" altLang="en-US" sz="1200">
              <a:latin typeface="Garamond" panose="02020404030301010803" pitchFamily="18" charset="0"/>
            </a:endParaRPr>
          </a:p>
        </p:txBody>
      </p:sp>
      <p:sp>
        <p:nvSpPr>
          <p:cNvPr id="52227" name="Rectangle 2">
            <a:extLst>
              <a:ext uri="{FF2B5EF4-FFF2-40B4-BE49-F238E27FC236}">
                <a16:creationId xmlns:a16="http://schemas.microsoft.com/office/drawing/2014/main" id="{5DBB130E-1218-4D35-A4D0-68B1078B7D4E}"/>
              </a:ext>
            </a:extLst>
          </p:cNvPr>
          <p:cNvSpPr>
            <a:spLocks noGrp="1" noChangeArrowheads="1"/>
          </p:cNvSpPr>
          <p:nvPr>
            <p:ph type="title"/>
          </p:nvPr>
        </p:nvSpPr>
        <p:spPr>
          <a:xfrm>
            <a:off x="495300" y="190917"/>
            <a:ext cx="10972800" cy="553998"/>
          </a:xfrm>
        </p:spPr>
        <p:txBody>
          <a:bodyPr/>
          <a:lstStyle/>
          <a:p>
            <a:pPr algn="ctr" eaLnBrk="1" hangingPunct="1"/>
            <a:r>
              <a:rPr lang="en-GB" altLang="en-US" sz="3600" b="1" u="sng" dirty="0"/>
              <a:t>Crossover  Methods </a:t>
            </a:r>
            <a:r>
              <a:rPr lang="en-GB" altLang="en-US" sz="3600" dirty="0"/>
              <a:t>(contd.)</a:t>
            </a:r>
            <a:endParaRPr lang="en-US" altLang="en-US" sz="3600" dirty="0"/>
          </a:p>
        </p:txBody>
      </p:sp>
      <p:sp>
        <p:nvSpPr>
          <p:cNvPr id="52228" name="Rectangle 3">
            <a:extLst>
              <a:ext uri="{FF2B5EF4-FFF2-40B4-BE49-F238E27FC236}">
                <a16:creationId xmlns:a16="http://schemas.microsoft.com/office/drawing/2014/main" id="{AA797C2B-3D87-4C88-B8B8-7AE2AC09835D}"/>
              </a:ext>
            </a:extLst>
          </p:cNvPr>
          <p:cNvSpPr>
            <a:spLocks noGrp="1" noChangeArrowheads="1"/>
          </p:cNvSpPr>
          <p:nvPr>
            <p:ph type="body" sz="half" idx="1"/>
          </p:nvPr>
        </p:nvSpPr>
        <p:spPr>
          <a:xfrm>
            <a:off x="1981200" y="1285875"/>
            <a:ext cx="8001000" cy="3077766"/>
          </a:xfrm>
        </p:spPr>
        <p:txBody>
          <a:bodyPr/>
          <a:lstStyle/>
          <a:p>
            <a:pPr eaLnBrk="1" hangingPunct="1"/>
            <a:r>
              <a:rPr lang="en-US" altLang="en-US" sz="2600" b="1">
                <a:solidFill>
                  <a:schemeClr val="tx2"/>
                </a:solidFill>
              </a:rPr>
              <a:t>Two-Point Crossover- </a:t>
            </a:r>
            <a:r>
              <a:rPr lang="en-US" altLang="en-US" sz="2400"/>
              <a:t>Two random points are chosen on the individual chromosomes (strings) and the genetic material is exchanged at these points.</a:t>
            </a:r>
          </a:p>
          <a:p>
            <a:pPr eaLnBrk="1" hangingPunct="1"/>
            <a:endParaRPr lang="en-US" altLang="en-US" sz="2400"/>
          </a:p>
          <a:p>
            <a:pPr eaLnBrk="1" hangingPunct="1"/>
            <a:endParaRPr lang="en-US" altLang="en-US" sz="2400"/>
          </a:p>
          <a:p>
            <a:pPr eaLnBrk="1" hangingPunct="1"/>
            <a:endParaRPr lang="en-US" altLang="en-US" sz="2600"/>
          </a:p>
          <a:p>
            <a:pPr eaLnBrk="1" hangingPunct="1"/>
            <a:endParaRPr lang="en-US" altLang="en-US" sz="2600"/>
          </a:p>
          <a:p>
            <a:pPr eaLnBrk="1" hangingPunct="1"/>
            <a:endParaRPr lang="en-US" altLang="en-US" sz="2600"/>
          </a:p>
        </p:txBody>
      </p:sp>
      <p:graphicFrame>
        <p:nvGraphicFramePr>
          <p:cNvPr id="36872" name="Group 8">
            <a:extLst>
              <a:ext uri="{FF2B5EF4-FFF2-40B4-BE49-F238E27FC236}">
                <a16:creationId xmlns:a16="http://schemas.microsoft.com/office/drawing/2014/main" id="{41E9870F-0DFF-45C1-B74C-51F855F7020B}"/>
              </a:ext>
            </a:extLst>
          </p:cNvPr>
          <p:cNvGraphicFramePr>
            <a:graphicFrameLocks noGrp="1"/>
          </p:cNvGraphicFramePr>
          <p:nvPr>
            <p:ph sz="half" idx="2"/>
            <p:extLst>
              <p:ext uri="{D42A27DB-BD31-4B8C-83A1-F6EECF244321}">
                <p14:modId xmlns:p14="http://schemas.microsoft.com/office/powerpoint/2010/main" val="2320492269"/>
              </p:ext>
            </p:extLst>
          </p:nvPr>
        </p:nvGraphicFramePr>
        <p:xfrm>
          <a:off x="3102769" y="2971800"/>
          <a:ext cx="5757862" cy="2209800"/>
        </p:xfrm>
        <a:graphic>
          <a:graphicData uri="http://schemas.openxmlformats.org/drawingml/2006/table">
            <a:tbl>
              <a:tblPr/>
              <a:tblGrid>
                <a:gridCol w="2446460">
                  <a:extLst>
                    <a:ext uri="{9D8B030D-6E8A-4147-A177-3AD203B41FA5}">
                      <a16:colId xmlns:a16="http://schemas.microsoft.com/office/drawing/2014/main" val="20000"/>
                    </a:ext>
                  </a:extLst>
                </a:gridCol>
                <a:gridCol w="3311402">
                  <a:extLst>
                    <a:ext uri="{9D8B030D-6E8A-4147-A177-3AD203B41FA5}">
                      <a16:colId xmlns:a16="http://schemas.microsoft.com/office/drawing/2014/main" val="20001"/>
                    </a:ext>
                  </a:extLst>
                </a:gridCol>
              </a:tblGrid>
              <a:tr h="553099">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rgbClr val="FF0000"/>
                          </a:solidFill>
                          <a:effectLst/>
                          <a:latin typeface="Arial" charset="0"/>
                        </a:rPr>
                        <a:t>Chromosome1</a:t>
                      </a:r>
                      <a:endParaRPr kumimoji="0" lang="en-US" sz="1800" b="1" i="0" u="none" strike="noStrike" cap="none" normalizeH="0" baseline="0" dirty="0">
                        <a:ln>
                          <a:noFill/>
                        </a:ln>
                        <a:solidFill>
                          <a:srgbClr val="0000FF"/>
                        </a:solidFill>
                        <a:effectLst/>
                        <a:latin typeface="Arial"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rgbClr val="FF0000"/>
                          </a:solidFill>
                          <a:effectLst/>
                          <a:latin typeface="Arial" charset="0"/>
                        </a:rPr>
                        <a:t>11011 | 00100 | 110110</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1801">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a:ln>
                            <a:noFill/>
                          </a:ln>
                          <a:solidFill>
                            <a:srgbClr val="0000FF"/>
                          </a:solidFill>
                          <a:effectLst/>
                          <a:latin typeface="Arial" charset="0"/>
                        </a:rPr>
                        <a:t>Chromosome 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rgbClr val="0000FF"/>
                          </a:solidFill>
                          <a:effectLst/>
                          <a:latin typeface="Arial" charset="0"/>
                        </a:rPr>
                        <a:t>10101 | 11000 | 011110</a:t>
                      </a: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3099">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a:ln>
                            <a:noFill/>
                          </a:ln>
                          <a:solidFill>
                            <a:schemeClr val="tx1"/>
                          </a:solidFill>
                          <a:effectLst/>
                          <a:latin typeface="Arial" charset="0"/>
                        </a:rPr>
                        <a:t>Offspring 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rgbClr val="0000FF"/>
                          </a:solidFill>
                          <a:effectLst/>
                          <a:latin typeface="Arial" charset="0"/>
                        </a:rPr>
                        <a:t>10101 </a:t>
                      </a:r>
                      <a:r>
                        <a:rPr kumimoji="0" lang="en-US" sz="1800" b="1" i="0" u="none" strike="noStrike" cap="none" normalizeH="0" baseline="0" dirty="0">
                          <a:ln>
                            <a:noFill/>
                          </a:ln>
                          <a:solidFill>
                            <a:schemeClr val="tx1"/>
                          </a:solidFill>
                          <a:effectLst/>
                          <a:latin typeface="Arial" charset="0"/>
                        </a:rPr>
                        <a:t>|</a:t>
                      </a:r>
                      <a:r>
                        <a:rPr kumimoji="0" lang="en-US" sz="1800" b="1" i="0" u="none" strike="noStrike" cap="none" normalizeH="0" baseline="0" dirty="0">
                          <a:ln>
                            <a:noFill/>
                          </a:ln>
                          <a:solidFill>
                            <a:srgbClr val="0000FF"/>
                          </a:solidFill>
                          <a:effectLst/>
                          <a:latin typeface="Arial" charset="0"/>
                        </a:rPr>
                        <a:t> </a:t>
                      </a:r>
                      <a:r>
                        <a:rPr kumimoji="0" lang="en-US" sz="1800" b="1" i="0" u="none" strike="noStrike" cap="none" normalizeH="0" baseline="0" dirty="0">
                          <a:ln>
                            <a:noFill/>
                          </a:ln>
                          <a:solidFill>
                            <a:srgbClr val="FF0000"/>
                          </a:solidFill>
                          <a:effectLst/>
                          <a:latin typeface="Arial" charset="0"/>
                        </a:rPr>
                        <a:t> 00100</a:t>
                      </a:r>
                      <a:r>
                        <a:rPr kumimoji="0" lang="en-US" sz="1800" b="1" i="0" u="none" strike="noStrike" cap="none" normalizeH="0" baseline="0" dirty="0">
                          <a:ln>
                            <a:noFill/>
                          </a:ln>
                          <a:solidFill>
                            <a:srgbClr val="0000FF"/>
                          </a:solidFill>
                          <a:effectLst/>
                          <a:latin typeface="Arial" charset="0"/>
                        </a:rPr>
                        <a:t> </a:t>
                      </a:r>
                      <a:r>
                        <a:rPr kumimoji="0" lang="en-US" sz="1800" b="1" i="0" u="none" strike="noStrike" cap="none" normalizeH="0" baseline="0" dirty="0">
                          <a:ln>
                            <a:noFill/>
                          </a:ln>
                          <a:solidFill>
                            <a:schemeClr val="tx1"/>
                          </a:solidFill>
                          <a:effectLst/>
                          <a:latin typeface="Arial" charset="0"/>
                        </a:rPr>
                        <a:t>|</a:t>
                      </a:r>
                      <a:r>
                        <a:rPr kumimoji="0" lang="en-US" sz="1800" b="1" i="0" u="none" strike="noStrike" cap="none" normalizeH="0" baseline="0" dirty="0">
                          <a:ln>
                            <a:noFill/>
                          </a:ln>
                          <a:solidFill>
                            <a:srgbClr val="0000FF"/>
                          </a:solidFill>
                          <a:effectLst/>
                          <a:latin typeface="Arial" charset="0"/>
                        </a:rPr>
                        <a:t>  011110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1801">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a:ln>
                            <a:noFill/>
                          </a:ln>
                          <a:solidFill>
                            <a:schemeClr val="tx1"/>
                          </a:solidFill>
                          <a:effectLst/>
                          <a:latin typeface="Arial" charset="0"/>
                        </a:rPr>
                        <a:t>Offspring 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rgbClr val="FF0000"/>
                          </a:solidFill>
                          <a:effectLst/>
                          <a:latin typeface="Arial" charset="0"/>
                        </a:rPr>
                        <a:t>11011 </a:t>
                      </a:r>
                      <a:r>
                        <a:rPr kumimoji="0" lang="en-US" sz="1800" b="1" i="0" u="none" strike="noStrike" cap="none" normalizeH="0" baseline="0" dirty="0">
                          <a:ln>
                            <a:noFill/>
                          </a:ln>
                          <a:solidFill>
                            <a:schemeClr val="tx1"/>
                          </a:solidFill>
                          <a:effectLst/>
                          <a:latin typeface="Arial" charset="0"/>
                        </a:rPr>
                        <a:t>|</a:t>
                      </a:r>
                      <a:r>
                        <a:rPr kumimoji="0" lang="en-US" sz="1800" b="1" i="0" u="none" strike="noStrike" cap="none" normalizeH="0" baseline="0" dirty="0">
                          <a:ln>
                            <a:noFill/>
                          </a:ln>
                          <a:solidFill>
                            <a:srgbClr val="FF0000"/>
                          </a:solidFill>
                          <a:effectLst/>
                          <a:latin typeface="Arial" charset="0"/>
                        </a:rPr>
                        <a:t>  </a:t>
                      </a:r>
                      <a:r>
                        <a:rPr kumimoji="0" lang="en-US" sz="1800" b="1" i="0" u="none" strike="noStrike" cap="none" normalizeH="0" baseline="0" dirty="0">
                          <a:ln>
                            <a:noFill/>
                          </a:ln>
                          <a:solidFill>
                            <a:srgbClr val="0000FF"/>
                          </a:solidFill>
                          <a:effectLst/>
                          <a:latin typeface="Arial" charset="0"/>
                        </a:rPr>
                        <a:t>11000</a:t>
                      </a:r>
                      <a:r>
                        <a:rPr kumimoji="0" lang="en-US" sz="1800" b="1" i="0" u="none" strike="noStrike" cap="none" normalizeH="0" baseline="0" dirty="0">
                          <a:ln>
                            <a:noFill/>
                          </a:ln>
                          <a:solidFill>
                            <a:srgbClr val="FF0000"/>
                          </a:solidFill>
                          <a:effectLst/>
                          <a:latin typeface="Arial" charset="0"/>
                        </a:rPr>
                        <a:t> </a:t>
                      </a:r>
                      <a:r>
                        <a:rPr kumimoji="0" lang="en-US" sz="1800" b="1" i="0" u="none" strike="noStrike" cap="none" normalizeH="0" baseline="0" dirty="0">
                          <a:ln>
                            <a:noFill/>
                          </a:ln>
                          <a:solidFill>
                            <a:schemeClr val="tx1"/>
                          </a:solidFill>
                          <a:effectLst/>
                          <a:latin typeface="Arial" charset="0"/>
                        </a:rPr>
                        <a:t>|</a:t>
                      </a:r>
                      <a:r>
                        <a:rPr kumimoji="0" lang="en-US" sz="1800" b="1" i="0" u="none" strike="noStrike" cap="none" normalizeH="0" baseline="0" dirty="0">
                          <a:ln>
                            <a:noFill/>
                          </a:ln>
                          <a:solidFill>
                            <a:srgbClr val="FF0000"/>
                          </a:solidFill>
                          <a:effectLst/>
                          <a:latin typeface="Arial" charset="0"/>
                        </a:rPr>
                        <a:t>  110110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2246" name="Object 4">
            <a:extLst>
              <a:ext uri="{FF2B5EF4-FFF2-40B4-BE49-F238E27FC236}">
                <a16:creationId xmlns:a16="http://schemas.microsoft.com/office/drawing/2014/main" id="{10CE8D31-97A3-43D5-80E2-99B8795649A4}"/>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2" imgW="1423988" imgH="3055938" progId="MS_ClipArt_Gallery.2">
                  <p:embed/>
                </p:oleObj>
              </mc:Choice>
              <mc:Fallback>
                <p:oleObj name="Klip" r:id="rId2" imgW="1423988" imgH="3055938" progId="MS_ClipArt_Gallery.2">
                  <p:embed/>
                  <p:pic>
                    <p:nvPicPr>
                      <p:cNvPr id="52246" name="Object 4">
                        <a:extLst>
                          <a:ext uri="{FF2B5EF4-FFF2-40B4-BE49-F238E27FC236}">
                            <a16:creationId xmlns:a16="http://schemas.microsoft.com/office/drawing/2014/main" id="{10CE8D31-97A3-43D5-80E2-99B8795649A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6">
            <a:extLst>
              <a:ext uri="{FF2B5EF4-FFF2-40B4-BE49-F238E27FC236}">
                <a16:creationId xmlns:a16="http://schemas.microsoft.com/office/drawing/2014/main" id="{18A2DA7C-1364-4F2E-A87C-3887EE6B4B26}"/>
              </a:ext>
            </a:extLst>
          </p:cNvPr>
          <p:cNvSpPr>
            <a:spLocks noGrp="1"/>
          </p:cNvSpPr>
          <p:nvPr>
            <p:ph type="sldNum" sz="quarter" idx="12"/>
          </p:nvPr>
        </p:nvSpPr>
        <p:spPr>
          <a:xfrm>
            <a:off x="10302240" y="6377940"/>
            <a:ext cx="2804160"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5BBC7B8-3022-4DAA-A3C2-5498C6D09390}" type="slidenum">
              <a:rPr lang="en-US" altLang="en-US" sz="1200">
                <a:latin typeface="Garamond" panose="02020404030301010803" pitchFamily="18" charset="0"/>
              </a:rPr>
              <a:pPr>
                <a:spcBef>
                  <a:spcPct val="0"/>
                </a:spcBef>
                <a:buClrTx/>
                <a:buSzTx/>
                <a:buFontTx/>
                <a:buNone/>
              </a:pPr>
              <a:t>27</a:t>
            </a:fld>
            <a:endParaRPr lang="en-US" altLang="en-US" sz="1200">
              <a:latin typeface="Garamond" panose="02020404030301010803" pitchFamily="18" charset="0"/>
            </a:endParaRPr>
          </a:p>
        </p:txBody>
      </p:sp>
      <p:sp>
        <p:nvSpPr>
          <p:cNvPr id="54275" name="Rectangle 2">
            <a:extLst>
              <a:ext uri="{FF2B5EF4-FFF2-40B4-BE49-F238E27FC236}">
                <a16:creationId xmlns:a16="http://schemas.microsoft.com/office/drawing/2014/main" id="{4B21BA93-92ED-499D-B04F-0E75F027628E}"/>
              </a:ext>
            </a:extLst>
          </p:cNvPr>
          <p:cNvSpPr>
            <a:spLocks noGrp="1" noChangeArrowheads="1"/>
          </p:cNvSpPr>
          <p:nvPr>
            <p:ph type="title"/>
          </p:nvPr>
        </p:nvSpPr>
        <p:spPr>
          <a:xfrm>
            <a:off x="1981200" y="277813"/>
            <a:ext cx="8229600" cy="553998"/>
          </a:xfrm>
        </p:spPr>
        <p:txBody>
          <a:bodyPr/>
          <a:lstStyle/>
          <a:p>
            <a:pPr algn="ctr" eaLnBrk="1" hangingPunct="1"/>
            <a:r>
              <a:rPr lang="en-US" altLang="en-US" sz="3600" b="1" u="sng"/>
              <a:t>Crossover Methods</a:t>
            </a:r>
            <a:r>
              <a:rPr lang="en-US" altLang="en-US" sz="3600" b="1"/>
              <a:t> (contd.)</a:t>
            </a:r>
          </a:p>
        </p:txBody>
      </p:sp>
      <p:sp>
        <p:nvSpPr>
          <p:cNvPr id="54276" name="Rectangle 3">
            <a:extLst>
              <a:ext uri="{FF2B5EF4-FFF2-40B4-BE49-F238E27FC236}">
                <a16:creationId xmlns:a16="http://schemas.microsoft.com/office/drawing/2014/main" id="{F0B5D844-5728-42BE-A655-FFDAF30F7407}"/>
              </a:ext>
            </a:extLst>
          </p:cNvPr>
          <p:cNvSpPr>
            <a:spLocks noGrp="1" noChangeArrowheads="1"/>
          </p:cNvSpPr>
          <p:nvPr>
            <p:ph type="body" sz="half" idx="1"/>
          </p:nvPr>
        </p:nvSpPr>
        <p:spPr>
          <a:xfrm>
            <a:off x="1447800" y="1671995"/>
            <a:ext cx="8305800" cy="1052596"/>
          </a:xfrm>
        </p:spPr>
        <p:txBody>
          <a:bodyPr/>
          <a:lstStyle/>
          <a:p>
            <a:pPr eaLnBrk="1" hangingPunct="1">
              <a:lnSpc>
                <a:spcPct val="90000"/>
              </a:lnSpc>
            </a:pPr>
            <a:r>
              <a:rPr lang="en-US" altLang="en-US" sz="2800" b="1" dirty="0">
                <a:solidFill>
                  <a:schemeClr val="tx2"/>
                </a:solidFill>
              </a:rPr>
              <a:t>Uniform Crossover-</a:t>
            </a:r>
            <a:r>
              <a:rPr lang="en-US" altLang="en-US" sz="2600" dirty="0"/>
              <a:t> </a:t>
            </a:r>
            <a:r>
              <a:rPr lang="en-US" altLang="en-US" sz="2400" dirty="0"/>
              <a:t>Each gene (bit) is selected randomly from one of the corresponding genes of the parent chromosomes.</a:t>
            </a:r>
          </a:p>
          <a:p>
            <a:pPr eaLnBrk="1" hangingPunct="1">
              <a:lnSpc>
                <a:spcPct val="90000"/>
              </a:lnSpc>
              <a:buFont typeface="Wingdings" panose="05000000000000000000" pitchFamily="2" charset="2"/>
              <a:buNone/>
            </a:pPr>
            <a:endParaRPr lang="en-US" altLang="en-US" sz="2400" dirty="0"/>
          </a:p>
        </p:txBody>
      </p:sp>
      <p:graphicFrame>
        <p:nvGraphicFramePr>
          <p:cNvPr id="158744" name="Group 24">
            <a:extLst>
              <a:ext uri="{FF2B5EF4-FFF2-40B4-BE49-F238E27FC236}">
                <a16:creationId xmlns:a16="http://schemas.microsoft.com/office/drawing/2014/main" id="{39789AA0-7FFE-4EDF-BDDD-073BF185F6E4}"/>
              </a:ext>
            </a:extLst>
          </p:cNvPr>
          <p:cNvGraphicFramePr>
            <a:graphicFrameLocks noGrp="1"/>
          </p:cNvGraphicFramePr>
          <p:nvPr>
            <p:ph sz="half" idx="2"/>
          </p:nvPr>
        </p:nvGraphicFramePr>
        <p:xfrm>
          <a:off x="3505200" y="3575050"/>
          <a:ext cx="5715000" cy="2100264"/>
        </p:xfrm>
        <a:graphic>
          <a:graphicData uri="http://schemas.openxmlformats.org/drawingml/2006/table">
            <a:tbl>
              <a:tblPr/>
              <a:tblGrid>
                <a:gridCol w="2124075">
                  <a:extLst>
                    <a:ext uri="{9D8B030D-6E8A-4147-A177-3AD203B41FA5}">
                      <a16:colId xmlns:a16="http://schemas.microsoft.com/office/drawing/2014/main" val="20000"/>
                    </a:ext>
                  </a:extLst>
                </a:gridCol>
                <a:gridCol w="3590925">
                  <a:extLst>
                    <a:ext uri="{9D8B030D-6E8A-4147-A177-3AD203B41FA5}">
                      <a16:colId xmlns:a16="http://schemas.microsoft.com/office/drawing/2014/main" val="20001"/>
                    </a:ext>
                  </a:extLst>
                </a:gridCol>
              </a:tblGrid>
              <a:tr h="466431">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rgbClr val="FF0000"/>
                          </a:solidFill>
                          <a:effectLst/>
                          <a:latin typeface="Arial" charset="0"/>
                        </a:rPr>
                        <a:t>Chromosome1</a:t>
                      </a:r>
                      <a:endParaRPr kumimoji="0" lang="en-US" sz="1800" b="1" i="0" u="none" strike="noStrike" cap="none" normalizeH="0" baseline="0" dirty="0">
                        <a:ln>
                          <a:noFill/>
                        </a:ln>
                        <a:solidFill>
                          <a:srgbClr val="0000FF"/>
                        </a:solidFill>
                        <a:effectLst/>
                        <a:latin typeface="Arial" charset="0"/>
                      </a:endParaRPr>
                    </a:p>
                  </a:txBody>
                  <a:tcPr marT="45705" marB="4570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rgbClr val="FF0000"/>
                          </a:solidFill>
                          <a:effectLst/>
                          <a:latin typeface="Arial" charset="0"/>
                        </a:rPr>
                        <a:t>1101100100110110</a:t>
                      </a:r>
                      <a:endParaRPr kumimoji="0" lang="en-US" sz="1800" b="1" i="0" u="none" strike="noStrike" cap="none" normalizeH="0" baseline="0" dirty="0">
                        <a:ln>
                          <a:noFill/>
                        </a:ln>
                        <a:solidFill>
                          <a:schemeClr val="tx1"/>
                        </a:solidFill>
                        <a:effectLst/>
                        <a:latin typeface="Arial" charset="0"/>
                      </a:endParaRPr>
                    </a:p>
                  </a:txBody>
                  <a:tcPr marT="45705" marB="4570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955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rgbClr val="0000FF"/>
                          </a:solidFill>
                          <a:effectLst/>
                          <a:latin typeface="Arial" charset="0"/>
                        </a:rPr>
                        <a:t>Chromosome 2</a:t>
                      </a:r>
                    </a:p>
                  </a:txBody>
                  <a:tcPr marT="45705" marB="4570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rgbClr val="0000FF"/>
                          </a:solidFill>
                          <a:effectLst/>
                          <a:latin typeface="Arial" charset="0"/>
                        </a:rPr>
                        <a:t>1010111000011110</a:t>
                      </a:r>
                    </a:p>
                  </a:txBody>
                  <a:tcPr marT="45705" marB="4570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9364">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Offspring 1</a:t>
                      </a:r>
                    </a:p>
                  </a:txBody>
                  <a:tcPr marT="45705" marB="4570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rgbClr val="0000FF"/>
                          </a:solidFill>
                          <a:effectLst/>
                          <a:latin typeface="Arial" charset="0"/>
                        </a:rPr>
                        <a:t>101</a:t>
                      </a:r>
                      <a:r>
                        <a:rPr kumimoji="0" lang="en-US" sz="1800" b="1" i="0" u="none" strike="noStrike" cap="none" normalizeH="0" baseline="0" dirty="0">
                          <a:ln>
                            <a:noFill/>
                          </a:ln>
                          <a:solidFill>
                            <a:srgbClr val="FF0000"/>
                          </a:solidFill>
                          <a:effectLst/>
                          <a:latin typeface="Arial" charset="0"/>
                        </a:rPr>
                        <a:t>1100</a:t>
                      </a:r>
                      <a:r>
                        <a:rPr kumimoji="0" lang="en-US" sz="1800" b="1" i="0" u="none" strike="noStrike" cap="none" normalizeH="0" baseline="0" dirty="0">
                          <a:ln>
                            <a:noFill/>
                          </a:ln>
                          <a:solidFill>
                            <a:srgbClr val="0000FF"/>
                          </a:solidFill>
                          <a:effectLst/>
                          <a:latin typeface="Arial" charset="0"/>
                        </a:rPr>
                        <a:t>00</a:t>
                      </a:r>
                      <a:r>
                        <a:rPr kumimoji="0" lang="en-US" sz="1800" b="1" i="0" u="none" strike="noStrike" cap="none" normalizeH="0" baseline="0" dirty="0">
                          <a:ln>
                            <a:noFill/>
                          </a:ln>
                          <a:solidFill>
                            <a:srgbClr val="FF0000"/>
                          </a:solidFill>
                          <a:effectLst/>
                          <a:latin typeface="Arial" charset="0"/>
                        </a:rPr>
                        <a:t>0110</a:t>
                      </a:r>
                      <a:r>
                        <a:rPr kumimoji="0" lang="en-US" sz="1800" b="1" i="0" u="none" strike="noStrike" cap="none" normalizeH="0" baseline="0" dirty="0">
                          <a:ln>
                            <a:noFill/>
                          </a:ln>
                          <a:solidFill>
                            <a:srgbClr val="0000FF"/>
                          </a:solidFill>
                          <a:effectLst/>
                          <a:latin typeface="Arial" charset="0"/>
                        </a:rPr>
                        <a:t>110</a:t>
                      </a:r>
                    </a:p>
                  </a:txBody>
                  <a:tcPr marT="45705" marB="4570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94914">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Offspring 2</a:t>
                      </a:r>
                    </a:p>
                  </a:txBody>
                  <a:tcPr marT="45705" marB="4570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r>
                        <a:rPr kumimoji="0" lang="en-US" sz="1800" b="1" i="0" u="none" strike="noStrike" cap="none" normalizeH="0" baseline="0" dirty="0">
                          <a:ln>
                            <a:noFill/>
                          </a:ln>
                          <a:solidFill>
                            <a:srgbClr val="FF0000"/>
                          </a:solidFill>
                          <a:effectLst/>
                          <a:latin typeface="Arial" charset="0"/>
                        </a:rPr>
                        <a:t>111</a:t>
                      </a:r>
                      <a:r>
                        <a:rPr kumimoji="0" lang="en-US" sz="1800" b="1" i="0" u="none" strike="noStrike" cap="none" normalizeH="0" baseline="0" dirty="0">
                          <a:ln>
                            <a:noFill/>
                          </a:ln>
                          <a:solidFill>
                            <a:srgbClr val="0000FF"/>
                          </a:solidFill>
                          <a:effectLst/>
                          <a:latin typeface="Arial" charset="0"/>
                        </a:rPr>
                        <a:t>0111</a:t>
                      </a:r>
                      <a:r>
                        <a:rPr kumimoji="0" lang="en-US" sz="1800" b="1" i="0" u="none" strike="noStrike" cap="none" normalizeH="0" baseline="0" dirty="0">
                          <a:ln>
                            <a:noFill/>
                          </a:ln>
                          <a:solidFill>
                            <a:srgbClr val="FF0000"/>
                          </a:solidFill>
                          <a:effectLst/>
                          <a:latin typeface="Arial" charset="0"/>
                        </a:rPr>
                        <a:t>10</a:t>
                      </a:r>
                      <a:r>
                        <a:rPr kumimoji="0" lang="en-US" sz="1800" b="1" i="0" u="none" strike="noStrike" cap="none" normalizeH="0" baseline="0" dirty="0">
                          <a:ln>
                            <a:noFill/>
                          </a:ln>
                          <a:solidFill>
                            <a:srgbClr val="0000FF"/>
                          </a:solidFill>
                          <a:effectLst/>
                          <a:latin typeface="Arial" charset="0"/>
                        </a:rPr>
                        <a:t>0011</a:t>
                      </a:r>
                      <a:r>
                        <a:rPr kumimoji="0" lang="en-US" sz="1800" b="1" i="0" u="none" strike="noStrike" cap="none" normalizeH="0" baseline="0" dirty="0">
                          <a:ln>
                            <a:noFill/>
                          </a:ln>
                          <a:solidFill>
                            <a:srgbClr val="FF0000"/>
                          </a:solidFill>
                          <a:effectLst/>
                          <a:latin typeface="Arial" charset="0"/>
                        </a:rPr>
                        <a:t>110</a:t>
                      </a:r>
                      <a:endParaRPr kumimoji="0" lang="en-US" sz="1800" b="1" i="0" u="none" strike="noStrike" cap="none" normalizeH="0" baseline="0" dirty="0">
                        <a:ln>
                          <a:noFill/>
                        </a:ln>
                        <a:solidFill>
                          <a:srgbClr val="0000FF"/>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1800" b="1" i="0" u="none" strike="noStrike" cap="none" normalizeH="0" baseline="0" dirty="0">
                        <a:ln>
                          <a:noFill/>
                        </a:ln>
                        <a:solidFill>
                          <a:srgbClr val="0000FF"/>
                        </a:solidFill>
                        <a:effectLst/>
                        <a:latin typeface="Arial" charset="0"/>
                      </a:endParaRPr>
                    </a:p>
                  </a:txBody>
                  <a:tcPr marT="45705" marB="4570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4294" name="Object 4">
            <a:extLst>
              <a:ext uri="{FF2B5EF4-FFF2-40B4-BE49-F238E27FC236}">
                <a16:creationId xmlns:a16="http://schemas.microsoft.com/office/drawing/2014/main" id="{40A46817-6389-4CA5-8648-78E2B7740189}"/>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2" imgW="1423988" imgH="3055938" progId="MS_ClipArt_Gallery.2">
                  <p:embed/>
                </p:oleObj>
              </mc:Choice>
              <mc:Fallback>
                <p:oleObj name="Klip" r:id="rId2" imgW="1423988" imgH="3055938" progId="MS_ClipArt_Gallery.2">
                  <p:embed/>
                  <p:pic>
                    <p:nvPicPr>
                      <p:cNvPr id="54294" name="Object 4">
                        <a:extLst>
                          <a:ext uri="{FF2B5EF4-FFF2-40B4-BE49-F238E27FC236}">
                            <a16:creationId xmlns:a16="http://schemas.microsoft.com/office/drawing/2014/main" id="{40A46817-6389-4CA5-8648-78E2B774018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514E6-84F6-7006-90FE-763712DC0EA6}"/>
            </a:ext>
          </a:extLst>
        </p:cNvPr>
        <p:cNvGrpSpPr/>
        <p:nvPr/>
      </p:nvGrpSpPr>
      <p:grpSpPr>
        <a:xfrm>
          <a:off x="0" y="0"/>
          <a:ext cx="0" cy="0"/>
          <a:chOff x="0" y="0"/>
          <a:chExt cx="0" cy="0"/>
        </a:xfrm>
      </p:grpSpPr>
      <p:sp>
        <p:nvSpPr>
          <p:cNvPr id="62468" name="Slide Number Placeholder 3">
            <a:extLst>
              <a:ext uri="{FF2B5EF4-FFF2-40B4-BE49-F238E27FC236}">
                <a16:creationId xmlns:a16="http://schemas.microsoft.com/office/drawing/2014/main" id="{DBF0CBEB-90B6-A757-BCA7-0B12FE6171CE}"/>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28</a:t>
            </a:fld>
            <a:endParaRPr lang="en-US" altLang="en-US" sz="1200">
              <a:latin typeface="Garamond" panose="02020404030301010803" pitchFamily="18" charset="0"/>
            </a:endParaRPr>
          </a:p>
        </p:txBody>
      </p:sp>
      <p:pic>
        <p:nvPicPr>
          <p:cNvPr id="1026" name="Picture 2">
            <a:extLst>
              <a:ext uri="{FF2B5EF4-FFF2-40B4-BE49-F238E27FC236}">
                <a16:creationId xmlns:a16="http://schemas.microsoft.com/office/drawing/2014/main" id="{33131203-66FD-C5AB-9FA0-5087F04FB1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363" y="1676401"/>
            <a:ext cx="10963275" cy="500538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274E3787-33C8-B3C6-70FD-114CE9E4F112}"/>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3186991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a:extLst>
              <a:ext uri="{FF2B5EF4-FFF2-40B4-BE49-F238E27FC236}">
                <a16:creationId xmlns:a16="http://schemas.microsoft.com/office/drawing/2014/main" id="{BDD47D17-53DE-49BA-9609-BD1B74EE6260}"/>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29</a:t>
            </a:fld>
            <a:endParaRPr lang="en-US" altLang="en-US" sz="1200">
              <a:latin typeface="Garamond" panose="02020404030301010803" pitchFamily="18" charset="0"/>
            </a:endParaRPr>
          </a:p>
        </p:txBody>
      </p:sp>
      <p:sp>
        <p:nvSpPr>
          <p:cNvPr id="59395" name="Rectangle 5">
            <a:extLst>
              <a:ext uri="{FF2B5EF4-FFF2-40B4-BE49-F238E27FC236}">
                <a16:creationId xmlns:a16="http://schemas.microsoft.com/office/drawing/2014/main" id="{4B5B32C3-7629-4A1B-B492-0B0E290E30FB}"/>
              </a:ext>
            </a:extLst>
          </p:cNvPr>
          <p:cNvSpPr>
            <a:spLocks noGrp="1" noChangeArrowheads="1"/>
          </p:cNvSpPr>
          <p:nvPr>
            <p:ph type="title"/>
          </p:nvPr>
        </p:nvSpPr>
        <p:spPr>
          <a:xfrm>
            <a:off x="1981200" y="277814"/>
            <a:ext cx="8229600" cy="636587"/>
          </a:xfrm>
        </p:spPr>
        <p:txBody>
          <a:bodyPr/>
          <a:lstStyle/>
          <a:p>
            <a:pPr algn="ctr" eaLnBrk="1" hangingPunct="1"/>
            <a:r>
              <a:rPr lang="en-US" altLang="en-US" sz="4000" b="1" u="sng"/>
              <a:t>Mutation</a:t>
            </a:r>
          </a:p>
        </p:txBody>
      </p:sp>
      <p:sp>
        <p:nvSpPr>
          <p:cNvPr id="59396" name="Rectangle 6">
            <a:extLst>
              <a:ext uri="{FF2B5EF4-FFF2-40B4-BE49-F238E27FC236}">
                <a16:creationId xmlns:a16="http://schemas.microsoft.com/office/drawing/2014/main" id="{5CED4F1A-8465-479B-88FD-455BDE4DD4FD}"/>
              </a:ext>
            </a:extLst>
          </p:cNvPr>
          <p:cNvSpPr>
            <a:spLocks noGrp="1" noChangeArrowheads="1"/>
          </p:cNvSpPr>
          <p:nvPr>
            <p:ph type="body" idx="1"/>
          </p:nvPr>
        </p:nvSpPr>
        <p:spPr>
          <a:xfrm>
            <a:off x="1676400" y="1219201"/>
            <a:ext cx="8763000" cy="3877985"/>
          </a:xfrm>
        </p:spPr>
        <p:txBody>
          <a:bodyPr/>
          <a:lstStyle/>
          <a:p>
            <a:pPr eaLnBrk="1" hangingPunct="1">
              <a:buFont typeface="Wingdings" panose="05000000000000000000" pitchFamily="2" charset="2"/>
              <a:buNone/>
            </a:pPr>
            <a:r>
              <a:rPr lang="en-US" altLang="en-US" sz="2800" i="1"/>
              <a:t> </a:t>
            </a:r>
            <a:r>
              <a:rPr lang="en-CA" altLang="en-US" sz="2800" b="1"/>
              <a:t>Mutation</a:t>
            </a:r>
            <a:r>
              <a:rPr lang="en-CA" altLang="en-US" sz="2800"/>
              <a:t> is a genetic operator used to maintain </a:t>
            </a:r>
          </a:p>
          <a:p>
            <a:pPr eaLnBrk="1" hangingPunct="1">
              <a:buFont typeface="Wingdings" panose="05000000000000000000" pitchFamily="2" charset="2"/>
              <a:buNone/>
            </a:pPr>
            <a:r>
              <a:rPr lang="en-CA" altLang="en-US" sz="2800"/>
              <a:t>genetic diversity from one generation of a population </a:t>
            </a:r>
          </a:p>
          <a:p>
            <a:pPr eaLnBrk="1" hangingPunct="1">
              <a:buFont typeface="Wingdings" panose="05000000000000000000" pitchFamily="2" charset="2"/>
              <a:buNone/>
            </a:pPr>
            <a:r>
              <a:rPr lang="en-CA" altLang="en-US" sz="2800"/>
              <a:t>of genetic algorithm chromosomes to the next.</a:t>
            </a:r>
            <a:endParaRPr lang="en-US" altLang="en-US" sz="2800" i="1">
              <a:solidFill>
                <a:schemeClr val="tx2"/>
              </a:solidFill>
            </a:endParaRPr>
          </a:p>
          <a:p>
            <a:pPr eaLnBrk="1" hangingPunct="1">
              <a:buFont typeface="Wingdings" panose="05000000000000000000" pitchFamily="2" charset="2"/>
              <a:buNone/>
            </a:pPr>
            <a:endParaRPr lang="en-US" altLang="en-US" sz="2800" i="1">
              <a:solidFill>
                <a:schemeClr val="tx2"/>
              </a:solidFill>
            </a:endParaRPr>
          </a:p>
          <a:p>
            <a:pPr eaLnBrk="1" hangingPunct="1">
              <a:buFont typeface="Wingdings" panose="05000000000000000000" pitchFamily="2" charset="2"/>
              <a:buNone/>
            </a:pPr>
            <a:r>
              <a:rPr lang="en-US" altLang="en-US" sz="2800" i="1">
                <a:solidFill>
                  <a:schemeClr val="tx2"/>
                </a:solidFill>
              </a:rPr>
              <a:t> </a:t>
            </a:r>
            <a:r>
              <a:rPr lang="en-US" altLang="en-US" sz="2400"/>
              <a:t>We saw in the giraffes’ example, that mutations could be </a:t>
            </a:r>
          </a:p>
          <a:p>
            <a:pPr eaLnBrk="1" hangingPunct="1">
              <a:buFont typeface="Wingdings" panose="05000000000000000000" pitchFamily="2" charset="2"/>
              <a:buNone/>
            </a:pPr>
            <a:r>
              <a:rPr lang="en-US" altLang="en-US" sz="2400"/>
              <a:t>beneficial.</a:t>
            </a:r>
          </a:p>
          <a:p>
            <a:pPr eaLnBrk="1" hangingPunct="1">
              <a:buFont typeface="Wingdings" panose="05000000000000000000" pitchFamily="2" charset="2"/>
              <a:buNone/>
            </a:pPr>
            <a:endParaRPr lang="en-US" altLang="en-US" sz="2400"/>
          </a:p>
          <a:p>
            <a:pPr eaLnBrk="1" hangingPunct="1">
              <a:buFont typeface="Wingdings" panose="05000000000000000000" pitchFamily="2" charset="2"/>
              <a:buNone/>
            </a:pPr>
            <a:r>
              <a:rPr lang="en-US" altLang="en-US" sz="2800" b="1" i="1">
                <a:solidFill>
                  <a:schemeClr val="tx2"/>
                </a:solidFill>
              </a:rPr>
              <a:t> </a:t>
            </a:r>
            <a:r>
              <a:rPr lang="en-US" altLang="en-US" sz="2800" b="1" i="1">
                <a:solidFill>
                  <a:srgbClr val="CC3300"/>
                </a:solidFill>
              </a:rPr>
              <a:t>Mutation Probability-</a:t>
            </a:r>
            <a:r>
              <a:rPr lang="en-US" altLang="en-US" i="1"/>
              <a:t> </a:t>
            </a:r>
            <a:r>
              <a:rPr lang="en-US" altLang="en-US" sz="2400"/>
              <a:t>determines how often the parts of a </a:t>
            </a:r>
          </a:p>
          <a:p>
            <a:pPr eaLnBrk="1" hangingPunct="1">
              <a:buFont typeface="Wingdings" panose="05000000000000000000" pitchFamily="2" charset="2"/>
              <a:buNone/>
            </a:pPr>
            <a:r>
              <a:rPr lang="en-US" altLang="en-US" sz="2400"/>
              <a:t>chromosome will be mutated.</a:t>
            </a:r>
            <a:r>
              <a:rPr lang="en-US" altLang="en-US"/>
              <a:t> </a:t>
            </a:r>
          </a:p>
        </p:txBody>
      </p:sp>
      <p:graphicFrame>
        <p:nvGraphicFramePr>
          <p:cNvPr id="59397" name="Object 4">
            <a:extLst>
              <a:ext uri="{FF2B5EF4-FFF2-40B4-BE49-F238E27FC236}">
                <a16:creationId xmlns:a16="http://schemas.microsoft.com/office/drawing/2014/main" id="{B2B7683F-A445-4097-B935-90705A73E787}"/>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2" imgW="1423988" imgH="3055938" progId="MS_ClipArt_Gallery.2">
                  <p:embed/>
                </p:oleObj>
              </mc:Choice>
              <mc:Fallback>
                <p:oleObj name="Klip" r:id="rId2" imgW="1423988" imgH="3055938" progId="MS_ClipArt_Gallery.2">
                  <p:embed/>
                  <p:pic>
                    <p:nvPicPr>
                      <p:cNvPr id="59397" name="Object 4">
                        <a:extLst>
                          <a:ext uri="{FF2B5EF4-FFF2-40B4-BE49-F238E27FC236}">
                            <a16:creationId xmlns:a16="http://schemas.microsoft.com/office/drawing/2014/main" id="{B2B7683F-A445-4097-B935-90705A73E78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6">
            <a:extLst>
              <a:ext uri="{FF2B5EF4-FFF2-40B4-BE49-F238E27FC236}">
                <a16:creationId xmlns:a16="http://schemas.microsoft.com/office/drawing/2014/main" id="{651BA25C-077B-474A-BC07-D535155A459E}"/>
              </a:ext>
            </a:extLst>
          </p:cNvPr>
          <p:cNvSpPr>
            <a:spLocks noGrp="1"/>
          </p:cNvSpPr>
          <p:nvPr>
            <p:ph type="sldNum" sz="quarter" idx="12"/>
          </p:nvPr>
        </p:nvSpPr>
        <p:spPr>
          <a:xfrm>
            <a:off x="10302240" y="6377940"/>
            <a:ext cx="2804160"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03A1A6F-39A3-4F84-924B-17DBC9EC66D6}" type="slidenum">
              <a:rPr lang="en-US" altLang="en-US" sz="1200">
                <a:latin typeface="Garamond" panose="02020404030301010803" pitchFamily="18" charset="0"/>
              </a:rPr>
              <a:pPr>
                <a:spcBef>
                  <a:spcPct val="0"/>
                </a:spcBef>
                <a:buClrTx/>
                <a:buSzTx/>
                <a:buFontTx/>
                <a:buNone/>
              </a:pPr>
              <a:t>30</a:t>
            </a:fld>
            <a:endParaRPr lang="en-US" altLang="en-US" sz="1200">
              <a:latin typeface="Garamond" panose="02020404030301010803" pitchFamily="18" charset="0"/>
            </a:endParaRPr>
          </a:p>
        </p:txBody>
      </p:sp>
      <p:sp>
        <p:nvSpPr>
          <p:cNvPr id="60419" name="Rectangle 2">
            <a:extLst>
              <a:ext uri="{FF2B5EF4-FFF2-40B4-BE49-F238E27FC236}">
                <a16:creationId xmlns:a16="http://schemas.microsoft.com/office/drawing/2014/main" id="{16AF27F7-718B-4A0F-871A-6CAAA514F97E}"/>
              </a:ext>
            </a:extLst>
          </p:cNvPr>
          <p:cNvSpPr>
            <a:spLocks noGrp="1" noChangeArrowheads="1"/>
          </p:cNvSpPr>
          <p:nvPr>
            <p:ph type="title"/>
          </p:nvPr>
        </p:nvSpPr>
        <p:spPr>
          <a:xfrm>
            <a:off x="609600" y="279791"/>
            <a:ext cx="10972800" cy="615553"/>
          </a:xfrm>
        </p:spPr>
        <p:txBody>
          <a:bodyPr/>
          <a:lstStyle/>
          <a:p>
            <a:pPr algn="ctr" eaLnBrk="1" hangingPunct="1"/>
            <a:r>
              <a:rPr lang="en-US" altLang="en-US" sz="4000" b="1" u="sng"/>
              <a:t>Example Of Mutation</a:t>
            </a:r>
          </a:p>
        </p:txBody>
      </p:sp>
      <p:sp>
        <p:nvSpPr>
          <p:cNvPr id="60420" name="Rectangle 3">
            <a:extLst>
              <a:ext uri="{FF2B5EF4-FFF2-40B4-BE49-F238E27FC236}">
                <a16:creationId xmlns:a16="http://schemas.microsoft.com/office/drawing/2014/main" id="{9B46C9F6-336D-494B-A5DF-7E0574D21784}"/>
              </a:ext>
            </a:extLst>
          </p:cNvPr>
          <p:cNvSpPr>
            <a:spLocks noGrp="1" noChangeArrowheads="1"/>
          </p:cNvSpPr>
          <p:nvPr>
            <p:ph type="body" sz="half" idx="1"/>
          </p:nvPr>
        </p:nvSpPr>
        <p:spPr>
          <a:xfrm>
            <a:off x="1981200" y="1600200"/>
            <a:ext cx="8229600" cy="738664"/>
          </a:xfrm>
        </p:spPr>
        <p:txBody>
          <a:bodyPr/>
          <a:lstStyle/>
          <a:p>
            <a:pPr eaLnBrk="1" hangingPunct="1"/>
            <a:r>
              <a:rPr lang="en-US" altLang="en-US" sz="2400">
                <a:solidFill>
                  <a:schemeClr val="tx2"/>
                </a:solidFill>
              </a:rPr>
              <a:t>Flipping: </a:t>
            </a:r>
            <a:r>
              <a:rPr lang="en-US" altLang="en-US" sz="2400"/>
              <a:t>For  chromosomes using Binary Encoding, randomly selected bits are inverted.</a:t>
            </a:r>
          </a:p>
        </p:txBody>
      </p:sp>
      <p:graphicFrame>
        <p:nvGraphicFramePr>
          <p:cNvPr id="37926" name="Group 38">
            <a:extLst>
              <a:ext uri="{FF2B5EF4-FFF2-40B4-BE49-F238E27FC236}">
                <a16:creationId xmlns:a16="http://schemas.microsoft.com/office/drawing/2014/main" id="{4DD470DC-F530-4E5D-AA78-E219A6E9CA5D}"/>
              </a:ext>
            </a:extLst>
          </p:cNvPr>
          <p:cNvGraphicFramePr>
            <a:graphicFrameLocks noGrp="1"/>
          </p:cNvGraphicFramePr>
          <p:nvPr>
            <p:ph sz="half" idx="2"/>
          </p:nvPr>
        </p:nvGraphicFramePr>
        <p:xfrm>
          <a:off x="3200400" y="3048001"/>
          <a:ext cx="5943600" cy="1897063"/>
        </p:xfrm>
        <a:graphic>
          <a:graphicData uri="http://schemas.openxmlformats.org/drawingml/2006/table">
            <a:tbl>
              <a:tblPr/>
              <a:tblGrid>
                <a:gridCol w="22098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93503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Offspring</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a:ln>
                            <a:noFill/>
                          </a:ln>
                          <a:solidFill>
                            <a:schemeClr val="tx1"/>
                          </a:solidFill>
                          <a:effectLst/>
                          <a:latin typeface="Arial" charset="0"/>
                        </a:rPr>
                        <a:t>1101</a:t>
                      </a:r>
                      <a:r>
                        <a:rPr kumimoji="0" lang="en-US" sz="1800" b="1" i="0" u="none" strike="noStrike" cap="none" normalizeH="0" baseline="0">
                          <a:ln>
                            <a:noFill/>
                          </a:ln>
                          <a:solidFill>
                            <a:srgbClr val="FF3300"/>
                          </a:solidFill>
                          <a:effectLst/>
                          <a:latin typeface="Arial" charset="0"/>
                        </a:rPr>
                        <a:t>1</a:t>
                      </a:r>
                      <a:r>
                        <a:rPr kumimoji="0" lang="en-US" sz="1800" b="1" i="0" u="none" strike="noStrike" cap="none" normalizeH="0" baseline="0">
                          <a:ln>
                            <a:noFill/>
                          </a:ln>
                          <a:solidFill>
                            <a:schemeClr val="tx1"/>
                          </a:solidFill>
                          <a:effectLst/>
                          <a:latin typeface="Arial" charset="0"/>
                        </a:rPr>
                        <a:t> 00100 1</a:t>
                      </a:r>
                      <a:r>
                        <a:rPr kumimoji="0" lang="en-US" sz="1800" b="1" i="0" u="none" strike="noStrike" cap="none" normalizeH="0" baseline="0">
                          <a:ln>
                            <a:noFill/>
                          </a:ln>
                          <a:solidFill>
                            <a:srgbClr val="FF3300"/>
                          </a:solidFill>
                          <a:effectLst/>
                          <a:latin typeface="Arial" charset="0"/>
                        </a:rPr>
                        <a:t>1</a:t>
                      </a:r>
                      <a:r>
                        <a:rPr kumimoji="0" lang="en-US" sz="1800" b="1" i="0" u="none" strike="noStrike" cap="none" normalizeH="0" baseline="0">
                          <a:ln>
                            <a:noFill/>
                          </a:ln>
                          <a:solidFill>
                            <a:schemeClr val="tx1"/>
                          </a:solidFill>
                          <a:effectLst/>
                          <a:latin typeface="Arial" charset="0"/>
                        </a:rPr>
                        <a:t>0110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6202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a:ln>
                            <a:noFill/>
                          </a:ln>
                          <a:solidFill>
                            <a:schemeClr val="tx1"/>
                          </a:solidFill>
                          <a:effectLst/>
                          <a:latin typeface="Arial" charset="0"/>
                        </a:rPr>
                        <a:t>Mutated Offspring</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a:ln>
                            <a:noFill/>
                          </a:ln>
                          <a:solidFill>
                            <a:schemeClr val="tx1"/>
                          </a:solidFill>
                          <a:effectLst/>
                          <a:latin typeface="Arial" charset="0"/>
                        </a:rPr>
                        <a:t>1101</a:t>
                      </a:r>
                      <a:r>
                        <a:rPr kumimoji="0" lang="en-US" sz="1800" b="1" i="0" u="none" strike="noStrike" cap="none" normalizeH="0" baseline="0" dirty="0">
                          <a:ln>
                            <a:noFill/>
                          </a:ln>
                          <a:solidFill>
                            <a:srgbClr val="FF3300"/>
                          </a:solidFill>
                          <a:effectLst/>
                          <a:latin typeface="Arial" charset="0"/>
                        </a:rPr>
                        <a:t>0 </a:t>
                      </a:r>
                      <a:r>
                        <a:rPr kumimoji="0" lang="en-US" sz="1800" b="1" i="0" u="none" strike="noStrike" cap="none" normalizeH="0" baseline="0" dirty="0">
                          <a:ln>
                            <a:noFill/>
                          </a:ln>
                          <a:solidFill>
                            <a:schemeClr val="tx1"/>
                          </a:solidFill>
                          <a:effectLst/>
                          <a:latin typeface="Arial" charset="0"/>
                        </a:rPr>
                        <a:t>00100 1</a:t>
                      </a:r>
                      <a:r>
                        <a:rPr kumimoji="0" lang="en-US" sz="1800" b="1" i="0" u="none" strike="noStrike" cap="none" normalizeH="0" baseline="0" dirty="0">
                          <a:ln>
                            <a:noFill/>
                          </a:ln>
                          <a:solidFill>
                            <a:srgbClr val="FF3300"/>
                          </a:solidFill>
                          <a:effectLst/>
                          <a:latin typeface="Arial" charset="0"/>
                        </a:rPr>
                        <a:t>0</a:t>
                      </a:r>
                      <a:r>
                        <a:rPr kumimoji="0" lang="en-US" sz="1800" b="1" i="0" u="none" strike="noStrike" cap="none" normalizeH="0" baseline="0" dirty="0">
                          <a:ln>
                            <a:noFill/>
                          </a:ln>
                          <a:solidFill>
                            <a:schemeClr val="tx1"/>
                          </a:solidFill>
                          <a:effectLst/>
                          <a:latin typeface="Arial" charset="0"/>
                        </a:rPr>
                        <a:t>0110</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1800" b="1"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0432" name="Object 4">
            <a:extLst>
              <a:ext uri="{FF2B5EF4-FFF2-40B4-BE49-F238E27FC236}">
                <a16:creationId xmlns:a16="http://schemas.microsoft.com/office/drawing/2014/main" id="{5EC98222-E8C5-4123-9266-9B6EDBE3D0E6}"/>
              </a:ext>
            </a:extLst>
          </p:cNvPr>
          <p:cNvGraphicFramePr>
            <a:graphicFrameLocks/>
          </p:cNvGraphicFramePr>
          <p:nvPr/>
        </p:nvGraphicFramePr>
        <p:xfrm>
          <a:off x="1600200" y="76200"/>
          <a:ext cx="457200" cy="838200"/>
        </p:xfrm>
        <a:graphic>
          <a:graphicData uri="http://schemas.openxmlformats.org/presentationml/2006/ole">
            <mc:AlternateContent xmlns:mc="http://schemas.openxmlformats.org/markup-compatibility/2006">
              <mc:Choice xmlns:v="urn:schemas-microsoft-com:vml" Requires="v">
                <p:oleObj name="Klip" r:id="rId2" imgW="1423988" imgH="3055938" progId="MS_ClipArt_Gallery.2">
                  <p:embed/>
                </p:oleObj>
              </mc:Choice>
              <mc:Fallback>
                <p:oleObj name="Klip" r:id="rId2" imgW="1423988" imgH="3055938" progId="MS_ClipArt_Gallery.2">
                  <p:embed/>
                  <p:pic>
                    <p:nvPicPr>
                      <p:cNvPr id="60432" name="Object 4">
                        <a:extLst>
                          <a:ext uri="{FF2B5EF4-FFF2-40B4-BE49-F238E27FC236}">
                            <a16:creationId xmlns:a16="http://schemas.microsoft.com/office/drawing/2014/main" id="{5EC98222-E8C5-4123-9266-9B6EDBE3D0E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33" name="Rectangle 7">
            <a:extLst>
              <a:ext uri="{FF2B5EF4-FFF2-40B4-BE49-F238E27FC236}">
                <a16:creationId xmlns:a16="http://schemas.microsoft.com/office/drawing/2014/main" id="{C0934E9A-673F-44EF-BBEB-7A33662C5225}"/>
              </a:ext>
            </a:extLst>
          </p:cNvPr>
          <p:cNvSpPr>
            <a:spLocks noChangeArrowheads="1"/>
          </p:cNvSpPr>
          <p:nvPr/>
        </p:nvSpPr>
        <p:spPr bwMode="auto">
          <a:xfrm>
            <a:off x="3810000" y="-2773363"/>
            <a:ext cx="4572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5">
            <a:extLst>
              <a:ext uri="{FF2B5EF4-FFF2-40B4-BE49-F238E27FC236}">
                <a16:creationId xmlns:a16="http://schemas.microsoft.com/office/drawing/2014/main" id="{005BCEF4-5392-4222-8360-60682FDF6403}"/>
              </a:ext>
            </a:extLst>
          </p:cNvPr>
          <p:cNvSpPr>
            <a:spLocks noGrp="1"/>
          </p:cNvSpPr>
          <p:nvPr>
            <p:ph type="title"/>
          </p:nvPr>
        </p:nvSpPr>
        <p:spPr>
          <a:xfrm>
            <a:off x="4495800" y="157162"/>
            <a:ext cx="4191000" cy="677108"/>
          </a:xfrm>
        </p:spPr>
        <p:txBody>
          <a:bodyPr/>
          <a:lstStyle/>
          <a:p>
            <a:r>
              <a:rPr lang="en-US" altLang="en-US" dirty="0"/>
              <a:t>Mutation</a:t>
            </a:r>
          </a:p>
        </p:txBody>
      </p:sp>
      <p:sp>
        <p:nvSpPr>
          <p:cNvPr id="61443" name="Content Placeholder 6">
            <a:extLst>
              <a:ext uri="{FF2B5EF4-FFF2-40B4-BE49-F238E27FC236}">
                <a16:creationId xmlns:a16="http://schemas.microsoft.com/office/drawing/2014/main" id="{6B4AF0C6-09BE-4795-8424-4C7614C1965B}"/>
              </a:ext>
            </a:extLst>
          </p:cNvPr>
          <p:cNvSpPr>
            <a:spLocks noGrp="1"/>
          </p:cNvSpPr>
          <p:nvPr>
            <p:ph idx="1"/>
          </p:nvPr>
        </p:nvSpPr>
        <p:spPr>
          <a:xfrm>
            <a:off x="1981200" y="1600200"/>
            <a:ext cx="8229600" cy="1477328"/>
          </a:xfrm>
        </p:spPr>
        <p:txBody>
          <a:bodyPr/>
          <a:lstStyle/>
          <a:p>
            <a:r>
              <a:rPr lang="en-US" altLang="en-US">
                <a:solidFill>
                  <a:schemeClr val="tx2"/>
                </a:solidFill>
              </a:rPr>
              <a:t>Interchanging: </a:t>
            </a:r>
            <a:r>
              <a:rPr lang="en-US" altLang="en-US"/>
              <a:t>Two random positions of the string are chosen and the bits corresponding to those positions are interchanged.</a:t>
            </a:r>
          </a:p>
        </p:txBody>
      </p:sp>
      <p:sp>
        <p:nvSpPr>
          <p:cNvPr id="61444" name="Slide Number Placeholder 4">
            <a:extLst>
              <a:ext uri="{FF2B5EF4-FFF2-40B4-BE49-F238E27FC236}">
                <a16:creationId xmlns:a16="http://schemas.microsoft.com/office/drawing/2014/main" id="{D329F2E7-B450-4F8B-892D-F01838240799}"/>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31</a:t>
            </a:fld>
            <a:endParaRPr lang="en-US" altLang="en-US" sz="1200">
              <a:latin typeface="Garamond" panose="02020404030301010803" pitchFamily="18" charset="0"/>
            </a:endParaRPr>
          </a:p>
        </p:txBody>
      </p:sp>
      <p:pic>
        <p:nvPicPr>
          <p:cNvPr id="61445" name="Picture 2">
            <a:extLst>
              <a:ext uri="{FF2B5EF4-FFF2-40B4-BE49-F238E27FC236}">
                <a16:creationId xmlns:a16="http://schemas.microsoft.com/office/drawing/2014/main" id="{C030FFB1-71E4-4A73-ABA6-884ADB2B73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3276601"/>
            <a:ext cx="3943350"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1207E05B-DB36-4EFC-A26D-B987FEBF8D11}"/>
              </a:ext>
            </a:extLst>
          </p:cNvPr>
          <p:cNvSpPr>
            <a:spLocks noGrp="1"/>
          </p:cNvSpPr>
          <p:nvPr>
            <p:ph type="title"/>
          </p:nvPr>
        </p:nvSpPr>
        <p:spPr>
          <a:xfrm>
            <a:off x="4250452" y="187128"/>
            <a:ext cx="3521948" cy="677108"/>
          </a:xfrm>
        </p:spPr>
        <p:txBody>
          <a:bodyPr/>
          <a:lstStyle/>
          <a:p>
            <a:r>
              <a:rPr lang="en-US" altLang="en-US" dirty="0"/>
              <a:t>Mutation</a:t>
            </a:r>
          </a:p>
        </p:txBody>
      </p:sp>
      <p:sp>
        <p:nvSpPr>
          <p:cNvPr id="62467" name="Content Placeholder 2">
            <a:extLst>
              <a:ext uri="{FF2B5EF4-FFF2-40B4-BE49-F238E27FC236}">
                <a16:creationId xmlns:a16="http://schemas.microsoft.com/office/drawing/2014/main" id="{203F322E-3B82-4AA0-92B1-DF3A7604DA7C}"/>
              </a:ext>
            </a:extLst>
          </p:cNvPr>
          <p:cNvSpPr>
            <a:spLocks noGrp="1"/>
          </p:cNvSpPr>
          <p:nvPr>
            <p:ph idx="1"/>
          </p:nvPr>
        </p:nvSpPr>
        <p:spPr>
          <a:xfrm>
            <a:off x="1981200" y="1600200"/>
            <a:ext cx="8229600" cy="1524000"/>
          </a:xfrm>
        </p:spPr>
        <p:txBody>
          <a:bodyPr/>
          <a:lstStyle/>
          <a:p>
            <a:r>
              <a:rPr lang="en-US" altLang="en-US">
                <a:solidFill>
                  <a:schemeClr val="tx2"/>
                </a:solidFill>
              </a:rPr>
              <a:t>Reversing: </a:t>
            </a:r>
            <a:r>
              <a:rPr lang="en-US" altLang="en-US"/>
              <a:t>A random position is chosen and the bits next to that position are reversed and child chromosome is produced.</a:t>
            </a:r>
          </a:p>
        </p:txBody>
      </p:sp>
      <p:sp>
        <p:nvSpPr>
          <p:cNvPr id="62468" name="Slide Number Placeholder 3">
            <a:extLst>
              <a:ext uri="{FF2B5EF4-FFF2-40B4-BE49-F238E27FC236}">
                <a16:creationId xmlns:a16="http://schemas.microsoft.com/office/drawing/2014/main" id="{E6FB886B-AD90-42B0-8C85-54D6045F147A}"/>
              </a:ext>
            </a:extLst>
          </p:cNvPr>
          <p:cNvSpPr>
            <a:spLocks noGrp="1"/>
          </p:cNvSpPr>
          <p:nvPr>
            <p:ph type="sldNum" sz="quarter" idx="12"/>
          </p:nvPr>
        </p:nvSpPr>
        <p:spPr bwMode="auto">
          <a:xfrm>
            <a:off x="6553200"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200" b="0"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a:lstStyle>
          <a:p>
            <a:pPr>
              <a:spcBef>
                <a:spcPct val="0"/>
              </a:spcBef>
              <a:buClrTx/>
              <a:buSzTx/>
              <a:buFontTx/>
              <a:buNone/>
            </a:pPr>
            <a:fld id="{61300AA9-A448-4EB6-991D-4E30FAD60DEC}" type="slidenum">
              <a:rPr lang="en-US" altLang="en-US" smtClean="0"/>
              <a:pPr>
                <a:spcBef>
                  <a:spcPct val="0"/>
                </a:spcBef>
                <a:buClrTx/>
                <a:buSzTx/>
                <a:buFontTx/>
                <a:buNone/>
              </a:pPr>
              <a:t>32</a:t>
            </a:fld>
            <a:endParaRPr lang="en-US" altLang="en-US" sz="1200">
              <a:latin typeface="Garamond" panose="02020404030301010803" pitchFamily="18" charset="0"/>
            </a:endParaRPr>
          </a:p>
        </p:txBody>
      </p:sp>
      <p:pic>
        <p:nvPicPr>
          <p:cNvPr id="62469" name="Picture 3">
            <a:extLst>
              <a:ext uri="{FF2B5EF4-FFF2-40B4-BE49-F238E27FC236}">
                <a16:creationId xmlns:a16="http://schemas.microsoft.com/office/drawing/2014/main" id="{A4304245-04BC-48E1-8035-82F04E245A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1" y="3276601"/>
            <a:ext cx="28860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9676" rIns="0" bIns="0" rtlCol="0">
            <a:spAutoFit/>
          </a:bodyPr>
          <a:lstStyle/>
          <a:p>
            <a:pPr marL="3784600">
              <a:lnSpc>
                <a:spcPct val="100000"/>
              </a:lnSpc>
              <a:spcBef>
                <a:spcPts val="100"/>
              </a:spcBef>
            </a:pPr>
            <a:r>
              <a:rPr dirty="0"/>
              <a:t>Genetic</a:t>
            </a:r>
            <a:r>
              <a:rPr spc="-100" dirty="0"/>
              <a:t> </a:t>
            </a:r>
            <a:r>
              <a:rPr spc="-10" dirty="0"/>
              <a:t>Algorithms</a:t>
            </a:r>
          </a:p>
        </p:txBody>
      </p:sp>
      <p:sp>
        <p:nvSpPr>
          <p:cNvPr id="3" name="object 3"/>
          <p:cNvSpPr txBox="1"/>
          <p:nvPr/>
        </p:nvSpPr>
        <p:spPr>
          <a:xfrm>
            <a:off x="833092" y="4547717"/>
            <a:ext cx="10481945" cy="1774189"/>
          </a:xfrm>
          <a:prstGeom prst="rect">
            <a:avLst/>
          </a:prstGeom>
        </p:spPr>
        <p:txBody>
          <a:bodyPr vert="horz" wrap="square" lIns="0" tIns="66040" rIns="0" bIns="0" rtlCol="0">
            <a:spAutoFit/>
          </a:bodyPr>
          <a:lstStyle/>
          <a:p>
            <a:pPr marL="12700">
              <a:lnSpc>
                <a:spcPct val="100000"/>
              </a:lnSpc>
              <a:spcBef>
                <a:spcPts val="520"/>
              </a:spcBef>
            </a:pPr>
            <a:r>
              <a:rPr sz="2400" dirty="0">
                <a:solidFill>
                  <a:srgbClr val="333399"/>
                </a:solidFill>
                <a:latin typeface="Calibri"/>
                <a:cs typeface="Calibri"/>
              </a:rPr>
              <a:t>Genetic</a:t>
            </a:r>
            <a:r>
              <a:rPr sz="2400" spc="-55" dirty="0">
                <a:solidFill>
                  <a:srgbClr val="333399"/>
                </a:solidFill>
                <a:latin typeface="Calibri"/>
                <a:cs typeface="Calibri"/>
              </a:rPr>
              <a:t> </a:t>
            </a:r>
            <a:r>
              <a:rPr sz="2400" dirty="0">
                <a:solidFill>
                  <a:srgbClr val="333399"/>
                </a:solidFill>
                <a:latin typeface="Calibri"/>
                <a:cs typeface="Calibri"/>
              </a:rPr>
              <a:t>algorithms</a:t>
            </a:r>
            <a:r>
              <a:rPr sz="2400" spc="-50" dirty="0">
                <a:solidFill>
                  <a:srgbClr val="333399"/>
                </a:solidFill>
                <a:latin typeface="Calibri"/>
                <a:cs typeface="Calibri"/>
              </a:rPr>
              <a:t> </a:t>
            </a:r>
            <a:r>
              <a:rPr sz="2400" dirty="0">
                <a:solidFill>
                  <a:srgbClr val="333399"/>
                </a:solidFill>
                <a:latin typeface="Calibri"/>
                <a:cs typeface="Calibri"/>
              </a:rPr>
              <a:t>use</a:t>
            </a:r>
            <a:r>
              <a:rPr sz="2400" spc="-55" dirty="0">
                <a:solidFill>
                  <a:srgbClr val="333399"/>
                </a:solidFill>
                <a:latin typeface="Calibri"/>
                <a:cs typeface="Calibri"/>
              </a:rPr>
              <a:t> </a:t>
            </a:r>
            <a:r>
              <a:rPr sz="2400" dirty="0">
                <a:solidFill>
                  <a:srgbClr val="333399"/>
                </a:solidFill>
                <a:latin typeface="Calibri"/>
                <a:cs typeface="Calibri"/>
              </a:rPr>
              <a:t>a</a:t>
            </a:r>
            <a:r>
              <a:rPr sz="2400" spc="-50" dirty="0">
                <a:solidFill>
                  <a:srgbClr val="333399"/>
                </a:solidFill>
                <a:latin typeface="Calibri"/>
                <a:cs typeface="Calibri"/>
              </a:rPr>
              <a:t> </a:t>
            </a:r>
            <a:r>
              <a:rPr sz="2400" dirty="0">
                <a:solidFill>
                  <a:srgbClr val="333399"/>
                </a:solidFill>
                <a:latin typeface="Calibri"/>
                <a:cs typeface="Calibri"/>
              </a:rPr>
              <a:t>natural</a:t>
            </a:r>
            <a:r>
              <a:rPr sz="2400" spc="-50" dirty="0">
                <a:solidFill>
                  <a:srgbClr val="333399"/>
                </a:solidFill>
                <a:latin typeface="Calibri"/>
                <a:cs typeface="Calibri"/>
              </a:rPr>
              <a:t> </a:t>
            </a:r>
            <a:r>
              <a:rPr sz="2400" dirty="0">
                <a:solidFill>
                  <a:srgbClr val="333399"/>
                </a:solidFill>
                <a:latin typeface="Calibri"/>
                <a:cs typeface="Calibri"/>
              </a:rPr>
              <a:t>selection</a:t>
            </a:r>
            <a:r>
              <a:rPr sz="2400" spc="-55" dirty="0">
                <a:solidFill>
                  <a:srgbClr val="333399"/>
                </a:solidFill>
                <a:latin typeface="Calibri"/>
                <a:cs typeface="Calibri"/>
              </a:rPr>
              <a:t> </a:t>
            </a:r>
            <a:r>
              <a:rPr sz="2400" spc="-10" dirty="0">
                <a:solidFill>
                  <a:srgbClr val="333399"/>
                </a:solidFill>
                <a:latin typeface="Calibri"/>
                <a:cs typeface="Calibri"/>
              </a:rPr>
              <a:t>metaphor</a:t>
            </a:r>
            <a:endParaRPr sz="2400" dirty="0">
              <a:latin typeface="Calibri"/>
              <a:cs typeface="Calibri"/>
            </a:endParaRPr>
          </a:p>
          <a:p>
            <a:pPr marL="412115" marR="2044064">
              <a:lnSpc>
                <a:spcPct val="111800"/>
              </a:lnSpc>
              <a:spcBef>
                <a:spcPts val="70"/>
              </a:spcBef>
            </a:pPr>
            <a:r>
              <a:rPr sz="2000" dirty="0">
                <a:latin typeface="Calibri"/>
                <a:cs typeface="Calibri"/>
              </a:rPr>
              <a:t>Keep</a:t>
            </a:r>
            <a:r>
              <a:rPr sz="2000" spc="-45" dirty="0">
                <a:latin typeface="Calibri"/>
                <a:cs typeface="Calibri"/>
              </a:rPr>
              <a:t> </a:t>
            </a:r>
            <a:r>
              <a:rPr sz="2000" dirty="0">
                <a:latin typeface="Calibri"/>
                <a:cs typeface="Calibri"/>
              </a:rPr>
              <a:t>best</a:t>
            </a:r>
            <a:r>
              <a:rPr sz="2000" spc="-45" dirty="0">
                <a:latin typeface="Calibri"/>
                <a:cs typeface="Calibri"/>
              </a:rPr>
              <a:t> </a:t>
            </a:r>
            <a:r>
              <a:rPr sz="2000" dirty="0">
                <a:latin typeface="Calibri"/>
                <a:cs typeface="Calibri"/>
              </a:rPr>
              <a:t>N</a:t>
            </a:r>
            <a:r>
              <a:rPr sz="2000" spc="-45" dirty="0">
                <a:latin typeface="Calibri"/>
                <a:cs typeface="Calibri"/>
              </a:rPr>
              <a:t> </a:t>
            </a:r>
            <a:r>
              <a:rPr sz="2000" dirty="0">
                <a:latin typeface="Calibri"/>
                <a:cs typeface="Calibri"/>
              </a:rPr>
              <a:t>hypotheses</a:t>
            </a:r>
            <a:r>
              <a:rPr sz="2000" spc="-45" dirty="0">
                <a:latin typeface="Calibri"/>
                <a:cs typeface="Calibri"/>
              </a:rPr>
              <a:t> </a:t>
            </a:r>
            <a:r>
              <a:rPr sz="2000" dirty="0">
                <a:latin typeface="Calibri"/>
                <a:cs typeface="Calibri"/>
              </a:rPr>
              <a:t>at</a:t>
            </a:r>
            <a:r>
              <a:rPr sz="2000" spc="-45" dirty="0">
                <a:latin typeface="Calibri"/>
                <a:cs typeface="Calibri"/>
              </a:rPr>
              <a:t> </a:t>
            </a:r>
            <a:r>
              <a:rPr sz="2000" dirty="0">
                <a:latin typeface="Calibri"/>
                <a:cs typeface="Calibri"/>
              </a:rPr>
              <a:t>each</a:t>
            </a:r>
            <a:r>
              <a:rPr sz="2000" spc="-45" dirty="0">
                <a:latin typeface="Calibri"/>
                <a:cs typeface="Calibri"/>
              </a:rPr>
              <a:t> </a:t>
            </a:r>
            <a:r>
              <a:rPr sz="2000" dirty="0">
                <a:latin typeface="Calibri"/>
                <a:cs typeface="Calibri"/>
              </a:rPr>
              <a:t>step</a:t>
            </a:r>
            <a:r>
              <a:rPr sz="2000" spc="-45" dirty="0">
                <a:latin typeface="Calibri"/>
                <a:cs typeface="Calibri"/>
              </a:rPr>
              <a:t> </a:t>
            </a:r>
            <a:r>
              <a:rPr sz="2000" dirty="0">
                <a:latin typeface="Calibri"/>
                <a:cs typeface="Calibri"/>
              </a:rPr>
              <a:t>(selection)</a:t>
            </a:r>
            <a:r>
              <a:rPr sz="2000" spc="-45" dirty="0">
                <a:latin typeface="Calibri"/>
                <a:cs typeface="Calibri"/>
              </a:rPr>
              <a:t> </a:t>
            </a:r>
            <a:r>
              <a:rPr sz="2000" dirty="0">
                <a:latin typeface="Calibri"/>
                <a:cs typeface="Calibri"/>
              </a:rPr>
              <a:t>based</a:t>
            </a:r>
            <a:r>
              <a:rPr sz="2000" spc="-45" dirty="0">
                <a:latin typeface="Calibri"/>
                <a:cs typeface="Calibri"/>
              </a:rPr>
              <a:t> </a:t>
            </a:r>
            <a:r>
              <a:rPr sz="2000" dirty="0">
                <a:latin typeface="Calibri"/>
                <a:cs typeface="Calibri"/>
              </a:rPr>
              <a:t>on</a:t>
            </a:r>
            <a:r>
              <a:rPr sz="2000" spc="-45" dirty="0">
                <a:latin typeface="Calibri"/>
                <a:cs typeface="Calibri"/>
              </a:rPr>
              <a:t> </a:t>
            </a:r>
            <a:r>
              <a:rPr sz="2000" dirty="0">
                <a:latin typeface="Calibri"/>
                <a:cs typeface="Calibri"/>
              </a:rPr>
              <a:t>a</a:t>
            </a:r>
            <a:r>
              <a:rPr sz="2000" spc="-45" dirty="0">
                <a:latin typeface="Calibri"/>
                <a:cs typeface="Calibri"/>
              </a:rPr>
              <a:t> </a:t>
            </a:r>
            <a:r>
              <a:rPr sz="2000" dirty="0">
                <a:latin typeface="Calibri"/>
                <a:cs typeface="Calibri"/>
              </a:rPr>
              <a:t>fitness</a:t>
            </a:r>
            <a:r>
              <a:rPr sz="2000" spc="-45" dirty="0">
                <a:latin typeface="Calibri"/>
                <a:cs typeface="Calibri"/>
              </a:rPr>
              <a:t> </a:t>
            </a:r>
            <a:r>
              <a:rPr sz="2000" spc="-10" dirty="0">
                <a:latin typeface="Calibri"/>
                <a:cs typeface="Calibri"/>
              </a:rPr>
              <a:t>function </a:t>
            </a:r>
            <a:r>
              <a:rPr sz="2000" dirty="0">
                <a:latin typeface="Calibri"/>
                <a:cs typeface="Calibri"/>
              </a:rPr>
              <a:t>Also</a:t>
            </a:r>
            <a:r>
              <a:rPr sz="2000" spc="-55" dirty="0">
                <a:latin typeface="Calibri"/>
                <a:cs typeface="Calibri"/>
              </a:rPr>
              <a:t> </a:t>
            </a:r>
            <a:r>
              <a:rPr sz="2000" dirty="0">
                <a:latin typeface="Calibri"/>
                <a:cs typeface="Calibri"/>
              </a:rPr>
              <a:t>have</a:t>
            </a:r>
            <a:r>
              <a:rPr sz="2000" spc="-50" dirty="0">
                <a:latin typeface="Calibri"/>
                <a:cs typeface="Calibri"/>
              </a:rPr>
              <a:t> </a:t>
            </a:r>
            <a:r>
              <a:rPr sz="2000" dirty="0">
                <a:latin typeface="Calibri"/>
                <a:cs typeface="Calibri"/>
              </a:rPr>
              <a:t>pairwise</a:t>
            </a:r>
            <a:r>
              <a:rPr sz="2000" spc="-50" dirty="0">
                <a:latin typeface="Calibri"/>
                <a:cs typeface="Calibri"/>
              </a:rPr>
              <a:t> </a:t>
            </a:r>
            <a:r>
              <a:rPr sz="2000" spc="-10" dirty="0">
                <a:latin typeface="Calibri"/>
                <a:cs typeface="Calibri"/>
              </a:rPr>
              <a:t>crossover</a:t>
            </a:r>
            <a:r>
              <a:rPr sz="2000" spc="-50" dirty="0">
                <a:latin typeface="Calibri"/>
                <a:cs typeface="Calibri"/>
              </a:rPr>
              <a:t> </a:t>
            </a:r>
            <a:r>
              <a:rPr sz="2000" spc="-10" dirty="0">
                <a:latin typeface="Calibri"/>
                <a:cs typeface="Calibri"/>
              </a:rPr>
              <a:t>operators,</a:t>
            </a:r>
            <a:r>
              <a:rPr sz="2000" spc="-50" dirty="0">
                <a:latin typeface="Calibri"/>
                <a:cs typeface="Calibri"/>
              </a:rPr>
              <a:t> </a:t>
            </a:r>
            <a:r>
              <a:rPr sz="2000" dirty="0">
                <a:latin typeface="Calibri"/>
                <a:cs typeface="Calibri"/>
              </a:rPr>
              <a:t>with</a:t>
            </a:r>
            <a:r>
              <a:rPr sz="2000" spc="-50" dirty="0">
                <a:latin typeface="Calibri"/>
                <a:cs typeface="Calibri"/>
              </a:rPr>
              <a:t> </a:t>
            </a:r>
            <a:r>
              <a:rPr sz="2000" dirty="0">
                <a:latin typeface="Calibri"/>
                <a:cs typeface="Calibri"/>
              </a:rPr>
              <a:t>optional</a:t>
            </a:r>
            <a:r>
              <a:rPr sz="2000" spc="-50" dirty="0">
                <a:latin typeface="Calibri"/>
                <a:cs typeface="Calibri"/>
              </a:rPr>
              <a:t> </a:t>
            </a:r>
            <a:r>
              <a:rPr sz="2000" dirty="0">
                <a:latin typeface="Calibri"/>
                <a:cs typeface="Calibri"/>
              </a:rPr>
              <a:t>mutation</a:t>
            </a:r>
            <a:r>
              <a:rPr sz="2000" spc="-55" dirty="0">
                <a:latin typeface="Calibri"/>
                <a:cs typeface="Calibri"/>
              </a:rPr>
              <a:t> </a:t>
            </a:r>
            <a:r>
              <a:rPr sz="2000" dirty="0">
                <a:latin typeface="Calibri"/>
                <a:cs typeface="Calibri"/>
              </a:rPr>
              <a:t>to</a:t>
            </a:r>
            <a:r>
              <a:rPr sz="2000" spc="-50" dirty="0">
                <a:latin typeface="Calibri"/>
                <a:cs typeface="Calibri"/>
              </a:rPr>
              <a:t> </a:t>
            </a:r>
            <a:r>
              <a:rPr sz="2000" dirty="0">
                <a:latin typeface="Calibri"/>
                <a:cs typeface="Calibri"/>
              </a:rPr>
              <a:t>give</a:t>
            </a:r>
            <a:r>
              <a:rPr sz="2000" spc="-50" dirty="0">
                <a:latin typeface="Calibri"/>
                <a:cs typeface="Calibri"/>
              </a:rPr>
              <a:t> </a:t>
            </a:r>
            <a:r>
              <a:rPr sz="2000" spc="-10" dirty="0">
                <a:latin typeface="Calibri"/>
                <a:cs typeface="Calibri"/>
              </a:rPr>
              <a:t>variety</a:t>
            </a:r>
            <a:endParaRPr sz="2000" dirty="0">
              <a:latin typeface="Calibri"/>
              <a:cs typeface="Calibri"/>
            </a:endParaRPr>
          </a:p>
          <a:p>
            <a:pPr marL="12700">
              <a:lnSpc>
                <a:spcPct val="100000"/>
              </a:lnSpc>
              <a:spcBef>
                <a:spcPts val="2145"/>
              </a:spcBef>
            </a:pPr>
            <a:r>
              <a:rPr sz="2400" dirty="0">
                <a:solidFill>
                  <a:srgbClr val="333399"/>
                </a:solidFill>
                <a:latin typeface="Calibri"/>
                <a:cs typeface="Calibri"/>
              </a:rPr>
              <a:t>Possibly</a:t>
            </a:r>
            <a:r>
              <a:rPr sz="2400" spc="-65" dirty="0">
                <a:solidFill>
                  <a:srgbClr val="333399"/>
                </a:solidFill>
                <a:latin typeface="Calibri"/>
                <a:cs typeface="Calibri"/>
              </a:rPr>
              <a:t> </a:t>
            </a:r>
            <a:r>
              <a:rPr sz="2400" dirty="0">
                <a:solidFill>
                  <a:srgbClr val="333399"/>
                </a:solidFill>
                <a:latin typeface="Calibri"/>
                <a:cs typeface="Calibri"/>
              </a:rPr>
              <a:t>the</a:t>
            </a:r>
            <a:r>
              <a:rPr sz="2400" spc="-60" dirty="0">
                <a:solidFill>
                  <a:srgbClr val="333399"/>
                </a:solidFill>
                <a:latin typeface="Calibri"/>
                <a:cs typeface="Calibri"/>
              </a:rPr>
              <a:t> </a:t>
            </a:r>
            <a:r>
              <a:rPr sz="2400" dirty="0">
                <a:solidFill>
                  <a:srgbClr val="333399"/>
                </a:solidFill>
                <a:latin typeface="Calibri"/>
                <a:cs typeface="Calibri"/>
              </a:rPr>
              <a:t>most</a:t>
            </a:r>
            <a:r>
              <a:rPr sz="2400" spc="-60" dirty="0">
                <a:solidFill>
                  <a:srgbClr val="333399"/>
                </a:solidFill>
                <a:latin typeface="Calibri"/>
                <a:cs typeface="Calibri"/>
              </a:rPr>
              <a:t> </a:t>
            </a:r>
            <a:r>
              <a:rPr sz="2400" spc="-10" dirty="0">
                <a:solidFill>
                  <a:srgbClr val="333399"/>
                </a:solidFill>
                <a:latin typeface="Calibri"/>
                <a:cs typeface="Calibri"/>
              </a:rPr>
              <a:t>misunderstood,</a:t>
            </a:r>
            <a:r>
              <a:rPr sz="2400" spc="-60" dirty="0">
                <a:solidFill>
                  <a:srgbClr val="333399"/>
                </a:solidFill>
                <a:latin typeface="Calibri"/>
                <a:cs typeface="Calibri"/>
              </a:rPr>
              <a:t> </a:t>
            </a:r>
            <a:r>
              <a:rPr sz="2400" dirty="0">
                <a:solidFill>
                  <a:srgbClr val="333399"/>
                </a:solidFill>
                <a:latin typeface="Calibri"/>
                <a:cs typeface="Calibri"/>
              </a:rPr>
              <a:t>misapplied</a:t>
            </a:r>
            <a:r>
              <a:rPr sz="2400" spc="-60" dirty="0">
                <a:solidFill>
                  <a:srgbClr val="333399"/>
                </a:solidFill>
                <a:latin typeface="Calibri"/>
                <a:cs typeface="Calibri"/>
              </a:rPr>
              <a:t> </a:t>
            </a:r>
            <a:r>
              <a:rPr sz="2400" dirty="0">
                <a:solidFill>
                  <a:srgbClr val="333399"/>
                </a:solidFill>
                <a:latin typeface="Calibri"/>
                <a:cs typeface="Calibri"/>
              </a:rPr>
              <a:t>(and</a:t>
            </a:r>
            <a:r>
              <a:rPr sz="2400" spc="-60" dirty="0">
                <a:solidFill>
                  <a:srgbClr val="333399"/>
                </a:solidFill>
                <a:latin typeface="Calibri"/>
                <a:cs typeface="Calibri"/>
              </a:rPr>
              <a:t> </a:t>
            </a:r>
            <a:r>
              <a:rPr sz="2400" dirty="0">
                <a:solidFill>
                  <a:srgbClr val="333399"/>
                </a:solidFill>
                <a:latin typeface="Calibri"/>
                <a:cs typeface="Calibri"/>
              </a:rPr>
              <a:t>even</a:t>
            </a:r>
            <a:r>
              <a:rPr sz="2400" spc="-60" dirty="0">
                <a:solidFill>
                  <a:srgbClr val="333399"/>
                </a:solidFill>
                <a:latin typeface="Calibri"/>
                <a:cs typeface="Calibri"/>
              </a:rPr>
              <a:t> </a:t>
            </a:r>
            <a:r>
              <a:rPr sz="2400" dirty="0">
                <a:solidFill>
                  <a:srgbClr val="333399"/>
                </a:solidFill>
                <a:latin typeface="Calibri"/>
                <a:cs typeface="Calibri"/>
              </a:rPr>
              <a:t>maligned)</a:t>
            </a:r>
            <a:r>
              <a:rPr sz="2400" spc="-60" dirty="0">
                <a:solidFill>
                  <a:srgbClr val="333399"/>
                </a:solidFill>
                <a:latin typeface="Calibri"/>
                <a:cs typeface="Calibri"/>
              </a:rPr>
              <a:t> </a:t>
            </a:r>
            <a:r>
              <a:rPr sz="2400" dirty="0">
                <a:solidFill>
                  <a:srgbClr val="333399"/>
                </a:solidFill>
                <a:latin typeface="Calibri"/>
                <a:cs typeface="Calibri"/>
              </a:rPr>
              <a:t>technique</a:t>
            </a:r>
            <a:r>
              <a:rPr sz="2400" spc="-60" dirty="0">
                <a:solidFill>
                  <a:srgbClr val="333399"/>
                </a:solidFill>
                <a:latin typeface="Calibri"/>
                <a:cs typeface="Calibri"/>
              </a:rPr>
              <a:t> </a:t>
            </a:r>
            <a:r>
              <a:rPr sz="2400" spc="-10" dirty="0">
                <a:solidFill>
                  <a:srgbClr val="333399"/>
                </a:solidFill>
                <a:latin typeface="Calibri"/>
                <a:cs typeface="Calibri"/>
              </a:rPr>
              <a:t>around</a:t>
            </a:r>
            <a:endParaRPr sz="2400" dirty="0">
              <a:latin typeface="Calibri"/>
              <a:cs typeface="Calibri"/>
            </a:endParaRPr>
          </a:p>
        </p:txBody>
      </p:sp>
      <p:pic>
        <p:nvPicPr>
          <p:cNvPr id="4" name="object 4"/>
          <p:cNvPicPr/>
          <p:nvPr/>
        </p:nvPicPr>
        <p:blipFill>
          <a:blip r:embed="rId2" cstate="print"/>
          <a:stretch>
            <a:fillRect/>
          </a:stretch>
        </p:blipFill>
        <p:spPr>
          <a:xfrm>
            <a:off x="618863" y="1676400"/>
            <a:ext cx="8341426" cy="2403391"/>
          </a:xfrm>
          <a:prstGeom prst="rect">
            <a:avLst/>
          </a:prstGeom>
        </p:spPr>
      </p:pic>
      <p:pic>
        <p:nvPicPr>
          <p:cNvPr id="5" name="object 5"/>
          <p:cNvPicPr/>
          <p:nvPr/>
        </p:nvPicPr>
        <p:blipFill>
          <a:blip r:embed="rId3" cstate="print"/>
          <a:stretch>
            <a:fillRect/>
          </a:stretch>
        </p:blipFill>
        <p:spPr>
          <a:xfrm>
            <a:off x="9381373" y="1436457"/>
            <a:ext cx="2472617" cy="33424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90E0C-B171-28E4-24A4-67600658FA8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96DEC9-655B-10C2-331F-E9497B05A60A}"/>
              </a:ext>
            </a:extLst>
          </p:cNvPr>
          <p:cNvSpPr txBox="1">
            <a:spLocks noGrp="1"/>
          </p:cNvSpPr>
          <p:nvPr>
            <p:ph type="title"/>
          </p:nvPr>
        </p:nvSpPr>
        <p:spPr>
          <a:xfrm>
            <a:off x="135651" y="-144088"/>
            <a:ext cx="11920696" cy="949418"/>
          </a:xfrm>
          <a:prstGeom prst="rect">
            <a:avLst/>
          </a:prstGeom>
        </p:spPr>
        <p:txBody>
          <a:bodyPr vert="horz" wrap="square" lIns="0" tIns="269676" rIns="0" bIns="0" rtlCol="0">
            <a:spAutoFit/>
          </a:bodyPr>
          <a:lstStyle/>
          <a:p>
            <a:pPr marL="3784600">
              <a:lnSpc>
                <a:spcPct val="100000"/>
              </a:lnSpc>
              <a:spcBef>
                <a:spcPts val="100"/>
              </a:spcBef>
            </a:pPr>
            <a:r>
              <a:rPr lang="en-GB" dirty="0">
                <a:latin typeface="Times New Roman" panose="02020603050405020304" pitchFamily="18" charset="0"/>
                <a:cs typeface="Times New Roman" panose="02020603050405020304" pitchFamily="18" charset="0"/>
              </a:rPr>
              <a:t>TSP example</a:t>
            </a:r>
            <a:endParaRPr spc="-1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A7B10439-6CAF-ECF9-C5C8-CA5A6AE25F0E}"/>
              </a:ext>
            </a:extLst>
          </p:cNvPr>
          <p:cNvGraphicFramePr>
            <a:graphicFrameLocks noGrp="1"/>
          </p:cNvGraphicFramePr>
          <p:nvPr>
            <p:extLst>
              <p:ext uri="{D42A27DB-BD31-4B8C-83A1-F6EECF244321}">
                <p14:modId xmlns:p14="http://schemas.microsoft.com/office/powerpoint/2010/main" val="3455214608"/>
              </p:ext>
            </p:extLst>
          </p:nvPr>
        </p:nvGraphicFramePr>
        <p:xfrm>
          <a:off x="4192331" y="2663288"/>
          <a:ext cx="4426770" cy="1716090"/>
        </p:xfrm>
        <a:graphic>
          <a:graphicData uri="http://schemas.openxmlformats.org/drawingml/2006/table">
            <a:tbl>
              <a:tblPr/>
              <a:tblGrid>
                <a:gridCol w="737795">
                  <a:extLst>
                    <a:ext uri="{9D8B030D-6E8A-4147-A177-3AD203B41FA5}">
                      <a16:colId xmlns:a16="http://schemas.microsoft.com/office/drawing/2014/main" val="3542789593"/>
                    </a:ext>
                  </a:extLst>
                </a:gridCol>
                <a:gridCol w="737795">
                  <a:extLst>
                    <a:ext uri="{9D8B030D-6E8A-4147-A177-3AD203B41FA5}">
                      <a16:colId xmlns:a16="http://schemas.microsoft.com/office/drawing/2014/main" val="1878388500"/>
                    </a:ext>
                  </a:extLst>
                </a:gridCol>
                <a:gridCol w="737795">
                  <a:extLst>
                    <a:ext uri="{9D8B030D-6E8A-4147-A177-3AD203B41FA5}">
                      <a16:colId xmlns:a16="http://schemas.microsoft.com/office/drawing/2014/main" val="2030419501"/>
                    </a:ext>
                  </a:extLst>
                </a:gridCol>
                <a:gridCol w="737795">
                  <a:extLst>
                    <a:ext uri="{9D8B030D-6E8A-4147-A177-3AD203B41FA5}">
                      <a16:colId xmlns:a16="http://schemas.microsoft.com/office/drawing/2014/main" val="3504473446"/>
                    </a:ext>
                  </a:extLst>
                </a:gridCol>
                <a:gridCol w="737795">
                  <a:extLst>
                    <a:ext uri="{9D8B030D-6E8A-4147-A177-3AD203B41FA5}">
                      <a16:colId xmlns:a16="http://schemas.microsoft.com/office/drawing/2014/main" val="3173591972"/>
                    </a:ext>
                  </a:extLst>
                </a:gridCol>
                <a:gridCol w="737795">
                  <a:extLst>
                    <a:ext uri="{9D8B030D-6E8A-4147-A177-3AD203B41FA5}">
                      <a16:colId xmlns:a16="http://schemas.microsoft.com/office/drawing/2014/main" val="551207165"/>
                    </a:ext>
                  </a:extLst>
                </a:gridCol>
              </a:tblGrid>
              <a:tr h="286015">
                <a:tc>
                  <a:txBody>
                    <a:bodyPr/>
                    <a:lstStyle/>
                    <a:p>
                      <a:pPr>
                        <a:buNone/>
                      </a:pPr>
                      <a:endParaRPr lang="en-GB" sz="1400"/>
                    </a:p>
                  </a:txBody>
                  <a:tcPr marL="71504" marR="71504" marT="35752" marB="35752" anchor="ctr">
                    <a:lnL>
                      <a:noFill/>
                    </a:lnL>
                    <a:lnR>
                      <a:noFill/>
                    </a:lnR>
                    <a:lnT>
                      <a:noFill/>
                    </a:lnT>
                    <a:lnB>
                      <a:noFill/>
                    </a:lnB>
                    <a:noFill/>
                  </a:tcPr>
                </a:tc>
                <a:tc>
                  <a:txBody>
                    <a:bodyPr/>
                    <a:lstStyle/>
                    <a:p>
                      <a:pPr>
                        <a:buNone/>
                      </a:pPr>
                      <a:r>
                        <a:rPr lang="en-GB" sz="1400" b="1" dirty="0">
                          <a:solidFill>
                            <a:srgbClr val="FF0000"/>
                          </a:solidFill>
                        </a:rPr>
                        <a:t>A</a:t>
                      </a:r>
                    </a:p>
                  </a:txBody>
                  <a:tcPr marL="71504" marR="71504" marT="35752" marB="35752" anchor="ctr">
                    <a:lnL>
                      <a:noFill/>
                    </a:lnL>
                    <a:lnR>
                      <a:noFill/>
                    </a:lnR>
                    <a:lnT>
                      <a:noFill/>
                    </a:lnT>
                    <a:lnB>
                      <a:noFill/>
                    </a:lnB>
                    <a:noFill/>
                  </a:tcPr>
                </a:tc>
                <a:tc>
                  <a:txBody>
                    <a:bodyPr/>
                    <a:lstStyle/>
                    <a:p>
                      <a:pPr>
                        <a:buNone/>
                      </a:pPr>
                      <a:r>
                        <a:rPr lang="en-GB" sz="1400" b="1">
                          <a:solidFill>
                            <a:srgbClr val="FF0000"/>
                          </a:solidFill>
                        </a:rPr>
                        <a:t>B</a:t>
                      </a:r>
                    </a:p>
                  </a:txBody>
                  <a:tcPr marL="71504" marR="71504" marT="35752" marB="35752" anchor="ctr">
                    <a:lnL>
                      <a:noFill/>
                    </a:lnL>
                    <a:lnR>
                      <a:noFill/>
                    </a:lnR>
                    <a:lnT>
                      <a:noFill/>
                    </a:lnT>
                    <a:lnB>
                      <a:noFill/>
                    </a:lnB>
                    <a:noFill/>
                  </a:tcPr>
                </a:tc>
                <a:tc>
                  <a:txBody>
                    <a:bodyPr/>
                    <a:lstStyle/>
                    <a:p>
                      <a:pPr>
                        <a:buNone/>
                      </a:pPr>
                      <a:r>
                        <a:rPr lang="en-GB" sz="1400" b="1">
                          <a:solidFill>
                            <a:srgbClr val="FF0000"/>
                          </a:solidFill>
                        </a:rPr>
                        <a:t>C</a:t>
                      </a:r>
                    </a:p>
                  </a:txBody>
                  <a:tcPr marL="71504" marR="71504" marT="35752" marB="35752" anchor="ctr">
                    <a:lnL>
                      <a:noFill/>
                    </a:lnL>
                    <a:lnR>
                      <a:noFill/>
                    </a:lnR>
                    <a:lnT>
                      <a:noFill/>
                    </a:lnT>
                    <a:lnB>
                      <a:noFill/>
                    </a:lnB>
                    <a:noFill/>
                  </a:tcPr>
                </a:tc>
                <a:tc>
                  <a:txBody>
                    <a:bodyPr/>
                    <a:lstStyle/>
                    <a:p>
                      <a:pPr>
                        <a:buNone/>
                      </a:pPr>
                      <a:r>
                        <a:rPr lang="en-GB" sz="1400" b="1">
                          <a:solidFill>
                            <a:srgbClr val="FF0000"/>
                          </a:solidFill>
                        </a:rPr>
                        <a:t>D</a:t>
                      </a:r>
                    </a:p>
                  </a:txBody>
                  <a:tcPr marL="71504" marR="71504" marT="35752" marB="35752" anchor="ctr">
                    <a:lnL>
                      <a:noFill/>
                    </a:lnL>
                    <a:lnR>
                      <a:noFill/>
                    </a:lnR>
                    <a:lnT>
                      <a:noFill/>
                    </a:lnT>
                    <a:lnB>
                      <a:noFill/>
                    </a:lnB>
                    <a:noFill/>
                  </a:tcPr>
                </a:tc>
                <a:tc>
                  <a:txBody>
                    <a:bodyPr/>
                    <a:lstStyle/>
                    <a:p>
                      <a:pPr>
                        <a:buNone/>
                      </a:pPr>
                      <a:r>
                        <a:rPr lang="en-GB" sz="1400" b="1" dirty="0">
                          <a:solidFill>
                            <a:srgbClr val="FF0000"/>
                          </a:solidFill>
                        </a:rPr>
                        <a:t>E</a:t>
                      </a:r>
                    </a:p>
                  </a:txBody>
                  <a:tcPr marL="71504" marR="71504" marT="35752" marB="35752" anchor="ctr">
                    <a:lnL>
                      <a:noFill/>
                    </a:lnL>
                    <a:lnR>
                      <a:noFill/>
                    </a:lnR>
                    <a:lnT>
                      <a:noFill/>
                    </a:lnT>
                    <a:lnB>
                      <a:noFill/>
                    </a:lnB>
                    <a:noFill/>
                  </a:tcPr>
                </a:tc>
                <a:extLst>
                  <a:ext uri="{0D108BD9-81ED-4DB2-BD59-A6C34878D82A}">
                    <a16:rowId xmlns:a16="http://schemas.microsoft.com/office/drawing/2014/main" val="58642109"/>
                  </a:ext>
                </a:extLst>
              </a:tr>
              <a:tr h="286015">
                <a:tc>
                  <a:txBody>
                    <a:bodyPr/>
                    <a:lstStyle/>
                    <a:p>
                      <a:pPr>
                        <a:buNone/>
                      </a:pPr>
                      <a:r>
                        <a:rPr lang="en-GB" sz="1400" b="1" dirty="0">
                          <a:solidFill>
                            <a:srgbClr val="FF0000"/>
                          </a:solidFill>
                        </a:rPr>
                        <a:t>A</a:t>
                      </a:r>
                      <a:endParaRPr lang="en-GB" sz="1400" dirty="0">
                        <a:solidFill>
                          <a:srgbClr val="FF0000"/>
                        </a:solidFill>
                      </a:endParaRPr>
                    </a:p>
                  </a:txBody>
                  <a:tcPr marL="71504" marR="71504" marT="35752" marB="35752" anchor="ctr">
                    <a:lnL>
                      <a:noFill/>
                    </a:lnL>
                    <a:lnR>
                      <a:noFill/>
                    </a:lnR>
                    <a:lnT>
                      <a:noFill/>
                    </a:lnT>
                    <a:lnB>
                      <a:noFill/>
                    </a:lnB>
                    <a:noFill/>
                  </a:tcPr>
                </a:tc>
                <a:tc>
                  <a:txBody>
                    <a:bodyPr/>
                    <a:lstStyle/>
                    <a:p>
                      <a:pPr>
                        <a:buNone/>
                      </a:pPr>
                      <a:r>
                        <a:rPr lang="en-GB" sz="1400"/>
                        <a:t>0</a:t>
                      </a:r>
                    </a:p>
                  </a:txBody>
                  <a:tcPr marL="71504" marR="71504" marT="35752" marB="35752" anchor="ctr">
                    <a:lnL>
                      <a:noFill/>
                    </a:lnL>
                    <a:lnR>
                      <a:noFill/>
                    </a:lnR>
                    <a:lnT>
                      <a:noFill/>
                    </a:lnT>
                    <a:lnB>
                      <a:noFill/>
                    </a:lnB>
                    <a:noFill/>
                  </a:tcPr>
                </a:tc>
                <a:tc>
                  <a:txBody>
                    <a:bodyPr/>
                    <a:lstStyle/>
                    <a:p>
                      <a:pPr>
                        <a:buNone/>
                      </a:pPr>
                      <a:r>
                        <a:rPr lang="en-GB" sz="1400"/>
                        <a:t>10</a:t>
                      </a:r>
                    </a:p>
                  </a:txBody>
                  <a:tcPr marL="71504" marR="71504" marT="35752" marB="35752" anchor="ctr">
                    <a:lnL>
                      <a:noFill/>
                    </a:lnL>
                    <a:lnR>
                      <a:noFill/>
                    </a:lnR>
                    <a:lnT>
                      <a:noFill/>
                    </a:lnT>
                    <a:lnB>
                      <a:noFill/>
                    </a:lnB>
                    <a:noFill/>
                  </a:tcPr>
                </a:tc>
                <a:tc>
                  <a:txBody>
                    <a:bodyPr/>
                    <a:lstStyle/>
                    <a:p>
                      <a:pPr>
                        <a:buNone/>
                      </a:pPr>
                      <a:r>
                        <a:rPr lang="en-GB" sz="1400"/>
                        <a:t>15</a:t>
                      </a:r>
                    </a:p>
                  </a:txBody>
                  <a:tcPr marL="71504" marR="71504" marT="35752" marB="35752" anchor="ctr">
                    <a:lnL>
                      <a:noFill/>
                    </a:lnL>
                    <a:lnR>
                      <a:noFill/>
                    </a:lnR>
                    <a:lnT>
                      <a:noFill/>
                    </a:lnT>
                    <a:lnB>
                      <a:noFill/>
                    </a:lnB>
                    <a:noFill/>
                  </a:tcPr>
                </a:tc>
                <a:tc>
                  <a:txBody>
                    <a:bodyPr/>
                    <a:lstStyle/>
                    <a:p>
                      <a:pPr>
                        <a:buNone/>
                      </a:pPr>
                      <a:r>
                        <a:rPr lang="en-GB" sz="1400"/>
                        <a:t>20</a:t>
                      </a:r>
                    </a:p>
                  </a:txBody>
                  <a:tcPr marL="71504" marR="71504" marT="35752" marB="35752" anchor="ctr">
                    <a:lnL>
                      <a:noFill/>
                    </a:lnL>
                    <a:lnR>
                      <a:noFill/>
                    </a:lnR>
                    <a:lnT>
                      <a:noFill/>
                    </a:lnT>
                    <a:lnB>
                      <a:noFill/>
                    </a:lnB>
                    <a:noFill/>
                  </a:tcPr>
                </a:tc>
                <a:tc>
                  <a:txBody>
                    <a:bodyPr/>
                    <a:lstStyle/>
                    <a:p>
                      <a:pPr>
                        <a:buNone/>
                      </a:pPr>
                      <a:r>
                        <a:rPr lang="en-GB" sz="1400"/>
                        <a:t>25</a:t>
                      </a:r>
                    </a:p>
                  </a:txBody>
                  <a:tcPr marL="71504" marR="71504" marT="35752" marB="35752" anchor="ctr">
                    <a:lnL>
                      <a:noFill/>
                    </a:lnL>
                    <a:lnR>
                      <a:noFill/>
                    </a:lnR>
                    <a:lnT>
                      <a:noFill/>
                    </a:lnT>
                    <a:lnB>
                      <a:noFill/>
                    </a:lnB>
                    <a:noFill/>
                  </a:tcPr>
                </a:tc>
                <a:extLst>
                  <a:ext uri="{0D108BD9-81ED-4DB2-BD59-A6C34878D82A}">
                    <a16:rowId xmlns:a16="http://schemas.microsoft.com/office/drawing/2014/main" val="3198163953"/>
                  </a:ext>
                </a:extLst>
              </a:tr>
              <a:tr h="286015">
                <a:tc>
                  <a:txBody>
                    <a:bodyPr/>
                    <a:lstStyle/>
                    <a:p>
                      <a:pPr>
                        <a:buNone/>
                      </a:pPr>
                      <a:r>
                        <a:rPr lang="en-GB" sz="1400" b="1" dirty="0">
                          <a:solidFill>
                            <a:srgbClr val="FF0000"/>
                          </a:solidFill>
                        </a:rPr>
                        <a:t>B</a:t>
                      </a:r>
                      <a:endParaRPr lang="en-GB" sz="1400" dirty="0">
                        <a:solidFill>
                          <a:srgbClr val="FF0000"/>
                        </a:solidFill>
                      </a:endParaRPr>
                    </a:p>
                  </a:txBody>
                  <a:tcPr marL="71504" marR="71504" marT="35752" marB="35752" anchor="ctr">
                    <a:lnL>
                      <a:noFill/>
                    </a:lnL>
                    <a:lnR>
                      <a:noFill/>
                    </a:lnR>
                    <a:lnT>
                      <a:noFill/>
                    </a:lnT>
                    <a:lnB>
                      <a:noFill/>
                    </a:lnB>
                    <a:noFill/>
                  </a:tcPr>
                </a:tc>
                <a:tc>
                  <a:txBody>
                    <a:bodyPr/>
                    <a:lstStyle/>
                    <a:p>
                      <a:pPr>
                        <a:buNone/>
                      </a:pPr>
                      <a:r>
                        <a:rPr lang="en-GB" sz="1400"/>
                        <a:t>10</a:t>
                      </a:r>
                    </a:p>
                  </a:txBody>
                  <a:tcPr marL="71504" marR="71504" marT="35752" marB="35752" anchor="ctr">
                    <a:lnL>
                      <a:noFill/>
                    </a:lnL>
                    <a:lnR>
                      <a:noFill/>
                    </a:lnR>
                    <a:lnT>
                      <a:noFill/>
                    </a:lnT>
                    <a:lnB>
                      <a:noFill/>
                    </a:lnB>
                    <a:noFill/>
                  </a:tcPr>
                </a:tc>
                <a:tc>
                  <a:txBody>
                    <a:bodyPr/>
                    <a:lstStyle/>
                    <a:p>
                      <a:pPr>
                        <a:buNone/>
                      </a:pPr>
                      <a:r>
                        <a:rPr lang="en-GB" sz="1400"/>
                        <a:t>0</a:t>
                      </a:r>
                    </a:p>
                  </a:txBody>
                  <a:tcPr marL="71504" marR="71504" marT="35752" marB="35752" anchor="ctr">
                    <a:lnL>
                      <a:noFill/>
                    </a:lnL>
                    <a:lnR>
                      <a:noFill/>
                    </a:lnR>
                    <a:lnT>
                      <a:noFill/>
                    </a:lnT>
                    <a:lnB>
                      <a:noFill/>
                    </a:lnB>
                    <a:noFill/>
                  </a:tcPr>
                </a:tc>
                <a:tc>
                  <a:txBody>
                    <a:bodyPr/>
                    <a:lstStyle/>
                    <a:p>
                      <a:pPr>
                        <a:buNone/>
                      </a:pPr>
                      <a:r>
                        <a:rPr lang="en-GB" sz="1400"/>
                        <a:t>35</a:t>
                      </a:r>
                    </a:p>
                  </a:txBody>
                  <a:tcPr marL="71504" marR="71504" marT="35752" marB="35752" anchor="ctr">
                    <a:lnL>
                      <a:noFill/>
                    </a:lnL>
                    <a:lnR>
                      <a:noFill/>
                    </a:lnR>
                    <a:lnT>
                      <a:noFill/>
                    </a:lnT>
                    <a:lnB>
                      <a:noFill/>
                    </a:lnB>
                    <a:noFill/>
                  </a:tcPr>
                </a:tc>
                <a:tc>
                  <a:txBody>
                    <a:bodyPr/>
                    <a:lstStyle/>
                    <a:p>
                      <a:pPr>
                        <a:buNone/>
                      </a:pPr>
                      <a:r>
                        <a:rPr lang="en-GB" sz="1400"/>
                        <a:t>25</a:t>
                      </a:r>
                    </a:p>
                  </a:txBody>
                  <a:tcPr marL="71504" marR="71504" marT="35752" marB="35752" anchor="ctr">
                    <a:lnL>
                      <a:noFill/>
                    </a:lnL>
                    <a:lnR>
                      <a:noFill/>
                    </a:lnR>
                    <a:lnT>
                      <a:noFill/>
                    </a:lnT>
                    <a:lnB>
                      <a:noFill/>
                    </a:lnB>
                    <a:noFill/>
                  </a:tcPr>
                </a:tc>
                <a:tc>
                  <a:txBody>
                    <a:bodyPr/>
                    <a:lstStyle/>
                    <a:p>
                      <a:pPr>
                        <a:buNone/>
                      </a:pPr>
                      <a:r>
                        <a:rPr lang="en-GB" sz="1400"/>
                        <a:t>30</a:t>
                      </a:r>
                    </a:p>
                  </a:txBody>
                  <a:tcPr marL="71504" marR="71504" marT="35752" marB="35752" anchor="ctr">
                    <a:lnL>
                      <a:noFill/>
                    </a:lnL>
                    <a:lnR>
                      <a:noFill/>
                    </a:lnR>
                    <a:lnT>
                      <a:noFill/>
                    </a:lnT>
                    <a:lnB>
                      <a:noFill/>
                    </a:lnB>
                    <a:noFill/>
                  </a:tcPr>
                </a:tc>
                <a:extLst>
                  <a:ext uri="{0D108BD9-81ED-4DB2-BD59-A6C34878D82A}">
                    <a16:rowId xmlns:a16="http://schemas.microsoft.com/office/drawing/2014/main" val="535614683"/>
                  </a:ext>
                </a:extLst>
              </a:tr>
              <a:tr h="286015">
                <a:tc>
                  <a:txBody>
                    <a:bodyPr/>
                    <a:lstStyle/>
                    <a:p>
                      <a:pPr>
                        <a:buNone/>
                      </a:pPr>
                      <a:r>
                        <a:rPr lang="en-GB" sz="1400" b="1" dirty="0">
                          <a:solidFill>
                            <a:srgbClr val="FF0000"/>
                          </a:solidFill>
                        </a:rPr>
                        <a:t>C</a:t>
                      </a:r>
                      <a:endParaRPr lang="en-GB" sz="1400" dirty="0">
                        <a:solidFill>
                          <a:srgbClr val="FF0000"/>
                        </a:solidFill>
                      </a:endParaRPr>
                    </a:p>
                  </a:txBody>
                  <a:tcPr marL="71504" marR="71504" marT="35752" marB="35752" anchor="ctr">
                    <a:lnL>
                      <a:noFill/>
                    </a:lnL>
                    <a:lnR>
                      <a:noFill/>
                    </a:lnR>
                    <a:lnT>
                      <a:noFill/>
                    </a:lnT>
                    <a:lnB>
                      <a:noFill/>
                    </a:lnB>
                    <a:noFill/>
                  </a:tcPr>
                </a:tc>
                <a:tc>
                  <a:txBody>
                    <a:bodyPr/>
                    <a:lstStyle/>
                    <a:p>
                      <a:pPr>
                        <a:buNone/>
                      </a:pPr>
                      <a:r>
                        <a:rPr lang="en-GB" sz="1400"/>
                        <a:t>15</a:t>
                      </a:r>
                    </a:p>
                  </a:txBody>
                  <a:tcPr marL="71504" marR="71504" marT="35752" marB="35752" anchor="ctr">
                    <a:lnL>
                      <a:noFill/>
                    </a:lnL>
                    <a:lnR>
                      <a:noFill/>
                    </a:lnR>
                    <a:lnT>
                      <a:noFill/>
                    </a:lnT>
                    <a:lnB>
                      <a:noFill/>
                    </a:lnB>
                    <a:noFill/>
                  </a:tcPr>
                </a:tc>
                <a:tc>
                  <a:txBody>
                    <a:bodyPr/>
                    <a:lstStyle/>
                    <a:p>
                      <a:pPr>
                        <a:buNone/>
                      </a:pPr>
                      <a:r>
                        <a:rPr lang="en-GB" sz="1400"/>
                        <a:t>35</a:t>
                      </a:r>
                    </a:p>
                  </a:txBody>
                  <a:tcPr marL="71504" marR="71504" marT="35752" marB="35752" anchor="ctr">
                    <a:lnL>
                      <a:noFill/>
                    </a:lnL>
                    <a:lnR>
                      <a:noFill/>
                    </a:lnR>
                    <a:lnT>
                      <a:noFill/>
                    </a:lnT>
                    <a:lnB>
                      <a:noFill/>
                    </a:lnB>
                    <a:noFill/>
                  </a:tcPr>
                </a:tc>
                <a:tc>
                  <a:txBody>
                    <a:bodyPr/>
                    <a:lstStyle/>
                    <a:p>
                      <a:pPr>
                        <a:buNone/>
                      </a:pPr>
                      <a:r>
                        <a:rPr lang="en-GB" sz="1400"/>
                        <a:t>0</a:t>
                      </a:r>
                    </a:p>
                  </a:txBody>
                  <a:tcPr marL="71504" marR="71504" marT="35752" marB="35752" anchor="ctr">
                    <a:lnL>
                      <a:noFill/>
                    </a:lnL>
                    <a:lnR>
                      <a:noFill/>
                    </a:lnR>
                    <a:lnT>
                      <a:noFill/>
                    </a:lnT>
                    <a:lnB>
                      <a:noFill/>
                    </a:lnB>
                    <a:noFill/>
                  </a:tcPr>
                </a:tc>
                <a:tc>
                  <a:txBody>
                    <a:bodyPr/>
                    <a:lstStyle/>
                    <a:p>
                      <a:pPr>
                        <a:buNone/>
                      </a:pPr>
                      <a:r>
                        <a:rPr lang="en-GB" sz="1400"/>
                        <a:t>30</a:t>
                      </a:r>
                    </a:p>
                  </a:txBody>
                  <a:tcPr marL="71504" marR="71504" marT="35752" marB="35752" anchor="ctr">
                    <a:lnL>
                      <a:noFill/>
                    </a:lnL>
                    <a:lnR>
                      <a:noFill/>
                    </a:lnR>
                    <a:lnT>
                      <a:noFill/>
                    </a:lnT>
                    <a:lnB>
                      <a:noFill/>
                    </a:lnB>
                    <a:noFill/>
                  </a:tcPr>
                </a:tc>
                <a:tc>
                  <a:txBody>
                    <a:bodyPr/>
                    <a:lstStyle/>
                    <a:p>
                      <a:pPr>
                        <a:buNone/>
                      </a:pPr>
                      <a:r>
                        <a:rPr lang="en-GB" sz="1400"/>
                        <a:t>5</a:t>
                      </a:r>
                    </a:p>
                  </a:txBody>
                  <a:tcPr marL="71504" marR="71504" marT="35752" marB="35752" anchor="ctr">
                    <a:lnL>
                      <a:noFill/>
                    </a:lnL>
                    <a:lnR>
                      <a:noFill/>
                    </a:lnR>
                    <a:lnT>
                      <a:noFill/>
                    </a:lnT>
                    <a:lnB>
                      <a:noFill/>
                    </a:lnB>
                    <a:noFill/>
                  </a:tcPr>
                </a:tc>
                <a:extLst>
                  <a:ext uri="{0D108BD9-81ED-4DB2-BD59-A6C34878D82A}">
                    <a16:rowId xmlns:a16="http://schemas.microsoft.com/office/drawing/2014/main" val="906799973"/>
                  </a:ext>
                </a:extLst>
              </a:tr>
              <a:tr h="286015">
                <a:tc>
                  <a:txBody>
                    <a:bodyPr/>
                    <a:lstStyle/>
                    <a:p>
                      <a:pPr>
                        <a:buNone/>
                      </a:pPr>
                      <a:r>
                        <a:rPr lang="en-GB" sz="1400" b="1" dirty="0">
                          <a:solidFill>
                            <a:srgbClr val="FF0000"/>
                          </a:solidFill>
                        </a:rPr>
                        <a:t>D</a:t>
                      </a:r>
                      <a:endParaRPr lang="en-GB" sz="1400" dirty="0">
                        <a:solidFill>
                          <a:srgbClr val="FF0000"/>
                        </a:solidFill>
                      </a:endParaRPr>
                    </a:p>
                  </a:txBody>
                  <a:tcPr marL="71504" marR="71504" marT="35752" marB="35752" anchor="ctr">
                    <a:lnL>
                      <a:noFill/>
                    </a:lnL>
                    <a:lnR>
                      <a:noFill/>
                    </a:lnR>
                    <a:lnT>
                      <a:noFill/>
                    </a:lnT>
                    <a:lnB>
                      <a:noFill/>
                    </a:lnB>
                    <a:noFill/>
                  </a:tcPr>
                </a:tc>
                <a:tc>
                  <a:txBody>
                    <a:bodyPr/>
                    <a:lstStyle/>
                    <a:p>
                      <a:pPr>
                        <a:buNone/>
                      </a:pPr>
                      <a:r>
                        <a:rPr lang="en-GB" sz="1400" dirty="0"/>
                        <a:t>20</a:t>
                      </a:r>
                    </a:p>
                  </a:txBody>
                  <a:tcPr marL="71504" marR="71504" marT="35752" marB="35752" anchor="ctr">
                    <a:lnL>
                      <a:noFill/>
                    </a:lnL>
                    <a:lnR>
                      <a:noFill/>
                    </a:lnR>
                    <a:lnT>
                      <a:noFill/>
                    </a:lnT>
                    <a:lnB>
                      <a:noFill/>
                    </a:lnB>
                    <a:noFill/>
                  </a:tcPr>
                </a:tc>
                <a:tc>
                  <a:txBody>
                    <a:bodyPr/>
                    <a:lstStyle/>
                    <a:p>
                      <a:pPr>
                        <a:buNone/>
                      </a:pPr>
                      <a:r>
                        <a:rPr lang="en-GB" sz="1400"/>
                        <a:t>25</a:t>
                      </a:r>
                    </a:p>
                  </a:txBody>
                  <a:tcPr marL="71504" marR="71504" marT="35752" marB="35752" anchor="ctr">
                    <a:lnL>
                      <a:noFill/>
                    </a:lnL>
                    <a:lnR>
                      <a:noFill/>
                    </a:lnR>
                    <a:lnT>
                      <a:noFill/>
                    </a:lnT>
                    <a:lnB>
                      <a:noFill/>
                    </a:lnB>
                    <a:noFill/>
                  </a:tcPr>
                </a:tc>
                <a:tc>
                  <a:txBody>
                    <a:bodyPr/>
                    <a:lstStyle/>
                    <a:p>
                      <a:pPr>
                        <a:buNone/>
                      </a:pPr>
                      <a:r>
                        <a:rPr lang="en-GB" sz="1400"/>
                        <a:t>30</a:t>
                      </a:r>
                    </a:p>
                  </a:txBody>
                  <a:tcPr marL="71504" marR="71504" marT="35752" marB="35752" anchor="ctr">
                    <a:lnL>
                      <a:noFill/>
                    </a:lnL>
                    <a:lnR>
                      <a:noFill/>
                    </a:lnR>
                    <a:lnT>
                      <a:noFill/>
                    </a:lnT>
                    <a:lnB>
                      <a:noFill/>
                    </a:lnB>
                    <a:noFill/>
                  </a:tcPr>
                </a:tc>
                <a:tc>
                  <a:txBody>
                    <a:bodyPr/>
                    <a:lstStyle/>
                    <a:p>
                      <a:pPr>
                        <a:buNone/>
                      </a:pPr>
                      <a:r>
                        <a:rPr lang="en-GB" sz="1400"/>
                        <a:t>0</a:t>
                      </a:r>
                    </a:p>
                  </a:txBody>
                  <a:tcPr marL="71504" marR="71504" marT="35752" marB="35752" anchor="ctr">
                    <a:lnL>
                      <a:noFill/>
                    </a:lnL>
                    <a:lnR>
                      <a:noFill/>
                    </a:lnR>
                    <a:lnT>
                      <a:noFill/>
                    </a:lnT>
                    <a:lnB>
                      <a:noFill/>
                    </a:lnB>
                    <a:noFill/>
                  </a:tcPr>
                </a:tc>
                <a:tc>
                  <a:txBody>
                    <a:bodyPr/>
                    <a:lstStyle/>
                    <a:p>
                      <a:pPr>
                        <a:buNone/>
                      </a:pPr>
                      <a:r>
                        <a:rPr lang="en-GB" sz="1400"/>
                        <a:t>15</a:t>
                      </a:r>
                    </a:p>
                  </a:txBody>
                  <a:tcPr marL="71504" marR="71504" marT="35752" marB="35752" anchor="ctr">
                    <a:lnL>
                      <a:noFill/>
                    </a:lnL>
                    <a:lnR>
                      <a:noFill/>
                    </a:lnR>
                    <a:lnT>
                      <a:noFill/>
                    </a:lnT>
                    <a:lnB>
                      <a:noFill/>
                    </a:lnB>
                    <a:noFill/>
                  </a:tcPr>
                </a:tc>
                <a:extLst>
                  <a:ext uri="{0D108BD9-81ED-4DB2-BD59-A6C34878D82A}">
                    <a16:rowId xmlns:a16="http://schemas.microsoft.com/office/drawing/2014/main" val="3696105051"/>
                  </a:ext>
                </a:extLst>
              </a:tr>
              <a:tr h="286015">
                <a:tc>
                  <a:txBody>
                    <a:bodyPr/>
                    <a:lstStyle/>
                    <a:p>
                      <a:pPr>
                        <a:buNone/>
                      </a:pPr>
                      <a:r>
                        <a:rPr lang="en-GB" sz="1400" b="1" dirty="0">
                          <a:solidFill>
                            <a:srgbClr val="FF0000"/>
                          </a:solidFill>
                        </a:rPr>
                        <a:t>E</a:t>
                      </a:r>
                      <a:endParaRPr lang="en-GB" sz="1400" dirty="0">
                        <a:solidFill>
                          <a:srgbClr val="FF0000"/>
                        </a:solidFill>
                      </a:endParaRPr>
                    </a:p>
                  </a:txBody>
                  <a:tcPr marL="71504" marR="71504" marT="35752" marB="35752" anchor="ctr">
                    <a:lnL>
                      <a:noFill/>
                    </a:lnL>
                    <a:lnR>
                      <a:noFill/>
                    </a:lnR>
                    <a:lnT>
                      <a:noFill/>
                    </a:lnT>
                    <a:lnB>
                      <a:noFill/>
                    </a:lnB>
                    <a:noFill/>
                  </a:tcPr>
                </a:tc>
                <a:tc>
                  <a:txBody>
                    <a:bodyPr/>
                    <a:lstStyle/>
                    <a:p>
                      <a:pPr>
                        <a:buNone/>
                      </a:pPr>
                      <a:r>
                        <a:rPr lang="en-GB" sz="1400"/>
                        <a:t>25</a:t>
                      </a:r>
                    </a:p>
                  </a:txBody>
                  <a:tcPr marL="71504" marR="71504" marT="35752" marB="35752" anchor="ctr">
                    <a:lnL>
                      <a:noFill/>
                    </a:lnL>
                    <a:lnR>
                      <a:noFill/>
                    </a:lnR>
                    <a:lnT>
                      <a:noFill/>
                    </a:lnT>
                    <a:lnB>
                      <a:noFill/>
                    </a:lnB>
                    <a:noFill/>
                  </a:tcPr>
                </a:tc>
                <a:tc>
                  <a:txBody>
                    <a:bodyPr/>
                    <a:lstStyle/>
                    <a:p>
                      <a:pPr>
                        <a:buNone/>
                      </a:pPr>
                      <a:r>
                        <a:rPr lang="en-GB" sz="1400"/>
                        <a:t>30</a:t>
                      </a:r>
                    </a:p>
                  </a:txBody>
                  <a:tcPr marL="71504" marR="71504" marT="35752" marB="35752" anchor="ctr">
                    <a:lnL>
                      <a:noFill/>
                    </a:lnL>
                    <a:lnR>
                      <a:noFill/>
                    </a:lnR>
                    <a:lnT>
                      <a:noFill/>
                    </a:lnT>
                    <a:lnB>
                      <a:noFill/>
                    </a:lnB>
                    <a:noFill/>
                  </a:tcPr>
                </a:tc>
                <a:tc>
                  <a:txBody>
                    <a:bodyPr/>
                    <a:lstStyle/>
                    <a:p>
                      <a:pPr>
                        <a:buNone/>
                      </a:pPr>
                      <a:r>
                        <a:rPr lang="en-GB" sz="1400" dirty="0"/>
                        <a:t>5</a:t>
                      </a:r>
                    </a:p>
                  </a:txBody>
                  <a:tcPr marL="71504" marR="71504" marT="35752" marB="35752" anchor="ctr">
                    <a:lnL>
                      <a:noFill/>
                    </a:lnL>
                    <a:lnR>
                      <a:noFill/>
                    </a:lnR>
                    <a:lnT>
                      <a:noFill/>
                    </a:lnT>
                    <a:lnB>
                      <a:noFill/>
                    </a:lnB>
                    <a:noFill/>
                  </a:tcPr>
                </a:tc>
                <a:tc>
                  <a:txBody>
                    <a:bodyPr/>
                    <a:lstStyle/>
                    <a:p>
                      <a:pPr>
                        <a:buNone/>
                      </a:pPr>
                      <a:r>
                        <a:rPr lang="en-GB" sz="1400"/>
                        <a:t>15</a:t>
                      </a:r>
                    </a:p>
                  </a:txBody>
                  <a:tcPr marL="71504" marR="71504" marT="35752" marB="35752" anchor="ctr">
                    <a:lnL>
                      <a:noFill/>
                    </a:lnL>
                    <a:lnR>
                      <a:noFill/>
                    </a:lnR>
                    <a:lnT>
                      <a:noFill/>
                    </a:lnT>
                    <a:lnB>
                      <a:noFill/>
                    </a:lnB>
                    <a:noFill/>
                  </a:tcPr>
                </a:tc>
                <a:tc>
                  <a:txBody>
                    <a:bodyPr/>
                    <a:lstStyle/>
                    <a:p>
                      <a:pPr>
                        <a:buNone/>
                      </a:pPr>
                      <a:r>
                        <a:rPr lang="en-GB" sz="1400" dirty="0"/>
                        <a:t>0</a:t>
                      </a:r>
                    </a:p>
                  </a:txBody>
                  <a:tcPr marL="71504" marR="71504" marT="35752" marB="35752" anchor="ctr">
                    <a:lnL>
                      <a:noFill/>
                    </a:lnL>
                    <a:lnR>
                      <a:noFill/>
                    </a:lnR>
                    <a:lnT>
                      <a:noFill/>
                    </a:lnT>
                    <a:lnB>
                      <a:noFill/>
                    </a:lnB>
                    <a:noFill/>
                  </a:tcPr>
                </a:tc>
                <a:extLst>
                  <a:ext uri="{0D108BD9-81ED-4DB2-BD59-A6C34878D82A}">
                    <a16:rowId xmlns:a16="http://schemas.microsoft.com/office/drawing/2014/main" val="1734557410"/>
                  </a:ext>
                </a:extLst>
              </a:tr>
            </a:tbl>
          </a:graphicData>
        </a:graphic>
      </p:graphicFrame>
      <p:sp>
        <p:nvSpPr>
          <p:cNvPr id="7" name="Rectangle 1">
            <a:extLst>
              <a:ext uri="{FF2B5EF4-FFF2-40B4-BE49-F238E27FC236}">
                <a16:creationId xmlns:a16="http://schemas.microsoft.com/office/drawing/2014/main" id="{90643FE6-489E-0EA4-D028-49DDB5AA0153}"/>
              </a:ext>
            </a:extLst>
          </p:cNvPr>
          <p:cNvSpPr>
            <a:spLocks noChangeArrowheads="1"/>
          </p:cNvSpPr>
          <p:nvPr/>
        </p:nvSpPr>
        <p:spPr bwMode="auto">
          <a:xfrm>
            <a:off x="304800" y="1226476"/>
            <a:ext cx="10439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Given five cities, A, B, C, D, and E, we want to find the shortest tour that visits each city exactly once and returns to the start.</a:t>
            </a:r>
            <a:endPar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D010AFA-A6B0-E9F6-1C07-1299E2D215B8}"/>
              </a:ext>
            </a:extLst>
          </p:cNvPr>
          <p:cNvSpPr txBox="1"/>
          <p:nvPr/>
        </p:nvSpPr>
        <p:spPr>
          <a:xfrm>
            <a:off x="5181600" y="2149806"/>
            <a:ext cx="610583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Distance Matrix:</a:t>
            </a:r>
          </a:p>
        </p:txBody>
      </p:sp>
      <p:sp>
        <p:nvSpPr>
          <p:cNvPr id="11" name="TextBox 10">
            <a:extLst>
              <a:ext uri="{FF2B5EF4-FFF2-40B4-BE49-F238E27FC236}">
                <a16:creationId xmlns:a16="http://schemas.microsoft.com/office/drawing/2014/main" id="{05A3B64C-9648-305E-0411-628A1D0E1F1D}"/>
              </a:ext>
            </a:extLst>
          </p:cNvPr>
          <p:cNvSpPr txBox="1"/>
          <p:nvPr/>
        </p:nvSpPr>
        <p:spPr>
          <a:xfrm>
            <a:off x="530738" y="4708194"/>
            <a:ext cx="11813662" cy="646331"/>
          </a:xfrm>
          <a:prstGeom prst="rect">
            <a:avLst/>
          </a:prstGeom>
          <a:noFill/>
        </p:spPr>
        <p:txBody>
          <a:bodyPr wrap="square">
            <a:spAutoFit/>
          </a:bodyPr>
          <a:lstStyle/>
          <a:p>
            <a:r>
              <a:rPr lang="en-GB" b="1" dirty="0">
                <a:latin typeface="Times New Roman" panose="02020603050405020304" pitchFamily="18" charset="0"/>
                <a:cs typeface="Times New Roman" panose="02020603050405020304" pitchFamily="18" charset="0"/>
              </a:rPr>
              <a:t>Encoding (Chromosome):</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A route is a </a:t>
            </a:r>
            <a:r>
              <a:rPr lang="en-GB" b="1" dirty="0">
                <a:latin typeface="Times New Roman" panose="02020603050405020304" pitchFamily="18" charset="0"/>
                <a:cs typeface="Times New Roman" panose="02020603050405020304" pitchFamily="18" charset="0"/>
              </a:rPr>
              <a:t>permutation</a:t>
            </a:r>
            <a:r>
              <a:rPr lang="en-GB" dirty="0">
                <a:latin typeface="Times New Roman" panose="02020603050405020304" pitchFamily="18" charset="0"/>
                <a:cs typeface="Times New Roman" panose="02020603050405020304" pitchFamily="18" charset="0"/>
              </a:rPr>
              <a:t> of cities, e.g. [A, C, D, B, E] (always understood to return to the start at the end).</a:t>
            </a:r>
          </a:p>
        </p:txBody>
      </p:sp>
    </p:spTree>
    <p:extLst>
      <p:ext uri="{BB962C8B-B14F-4D97-AF65-F5344CB8AC3E}">
        <p14:creationId xmlns:p14="http://schemas.microsoft.com/office/powerpoint/2010/main" val="5015894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5FB0D-96B8-21D6-CBE3-205B6BD4307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79F1288-D6BF-5E3D-2F63-A507E170B26E}"/>
              </a:ext>
            </a:extLst>
          </p:cNvPr>
          <p:cNvSpPr txBox="1">
            <a:spLocks noGrp="1"/>
          </p:cNvSpPr>
          <p:nvPr>
            <p:ph type="title"/>
          </p:nvPr>
        </p:nvSpPr>
        <p:spPr>
          <a:xfrm>
            <a:off x="135651" y="-144088"/>
            <a:ext cx="11920696" cy="949418"/>
          </a:xfrm>
          <a:prstGeom prst="rect">
            <a:avLst/>
          </a:prstGeom>
        </p:spPr>
        <p:txBody>
          <a:bodyPr vert="horz" wrap="square" lIns="0" tIns="269676" rIns="0" bIns="0" rtlCol="0">
            <a:spAutoFit/>
          </a:bodyPr>
          <a:lstStyle/>
          <a:p>
            <a:pPr marL="3784600">
              <a:lnSpc>
                <a:spcPct val="100000"/>
              </a:lnSpc>
              <a:spcBef>
                <a:spcPts val="100"/>
              </a:spcBef>
            </a:pPr>
            <a:r>
              <a:rPr lang="en-GB" dirty="0">
                <a:latin typeface="Times New Roman" panose="02020603050405020304" pitchFamily="18" charset="0"/>
                <a:cs typeface="Times New Roman" panose="02020603050405020304" pitchFamily="18" charset="0"/>
              </a:rPr>
              <a:t>TSP example</a:t>
            </a:r>
            <a:endParaRPr spc="-1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5253DE9-6ABF-21ED-2A06-734A16BCDA9A}"/>
              </a:ext>
            </a:extLst>
          </p:cNvPr>
          <p:cNvSpPr txBox="1"/>
          <p:nvPr/>
        </p:nvSpPr>
        <p:spPr>
          <a:xfrm>
            <a:off x="521110" y="1143000"/>
            <a:ext cx="11522947" cy="5786199"/>
          </a:xfrm>
          <a:prstGeom prst="rect">
            <a:avLst/>
          </a:prstGeom>
          <a:noFill/>
        </p:spPr>
        <p:txBody>
          <a:bodyPr wrap="square">
            <a:spAutoFit/>
          </a:bodyPr>
          <a:lstStyle/>
          <a:p>
            <a:pPr>
              <a:buNone/>
            </a:pPr>
            <a:r>
              <a:rPr lang="en-GB" sz="1600" b="1" dirty="0">
                <a:solidFill>
                  <a:srgbClr val="FF0000"/>
                </a:solidFill>
                <a:latin typeface="Times New Roman" panose="02020603050405020304" pitchFamily="18" charset="0"/>
                <a:cs typeface="Times New Roman" panose="02020603050405020304" pitchFamily="18" charset="0"/>
              </a:rPr>
              <a:t>Step 1: Initial Population</a:t>
            </a:r>
          </a:p>
          <a:p>
            <a:pPr>
              <a:buNone/>
            </a:pPr>
            <a:r>
              <a:rPr lang="en-GB" sz="1600" dirty="0">
                <a:latin typeface="Times New Roman" panose="02020603050405020304" pitchFamily="18" charset="0"/>
                <a:cs typeface="Times New Roman" panose="02020603050405020304" pitchFamily="18" charset="0"/>
              </a:rPr>
              <a:t>We'll start by creating a random population of solutions (routes). Each solution is a permutation of the cities.</a:t>
            </a:r>
          </a:p>
          <a:p>
            <a:pPr>
              <a:buNone/>
            </a:pPr>
            <a:r>
              <a:rPr lang="en-GB" sz="1600" dirty="0">
                <a:latin typeface="Times New Roman" panose="02020603050405020304" pitchFamily="18" charset="0"/>
                <a:cs typeface="Times New Roman" panose="02020603050405020304" pitchFamily="18" charset="0"/>
              </a:rPr>
              <a:t>For example:</a:t>
            </a:r>
          </a:p>
          <a:p>
            <a:pPr>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P1</a:t>
            </a:r>
            <a:r>
              <a:rPr lang="en-GB" sz="1600" dirty="0">
                <a:latin typeface="Times New Roman" panose="02020603050405020304" pitchFamily="18" charset="0"/>
                <a:cs typeface="Times New Roman" panose="02020603050405020304" pitchFamily="18" charset="0"/>
              </a:rPr>
              <a:t> = [A, B, C, D, E]</a:t>
            </a:r>
          </a:p>
          <a:p>
            <a:pPr>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P2</a:t>
            </a:r>
            <a:r>
              <a:rPr lang="en-GB" sz="1600" dirty="0">
                <a:latin typeface="Times New Roman" panose="02020603050405020304" pitchFamily="18" charset="0"/>
                <a:cs typeface="Times New Roman" panose="02020603050405020304" pitchFamily="18" charset="0"/>
              </a:rPr>
              <a:t> = [A, C, D, B, E]</a:t>
            </a:r>
          </a:p>
          <a:p>
            <a:pPr>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P3</a:t>
            </a:r>
            <a:r>
              <a:rPr lang="en-GB" sz="1600" dirty="0">
                <a:latin typeface="Times New Roman" panose="02020603050405020304" pitchFamily="18" charset="0"/>
                <a:cs typeface="Times New Roman" panose="02020603050405020304" pitchFamily="18" charset="0"/>
              </a:rPr>
              <a:t> = [A, D, E, C, B]</a:t>
            </a:r>
          </a:p>
          <a:p>
            <a:pPr>
              <a:buFont typeface="Arial" panose="020B0604020202020204" pitchFamily="34" charset="0"/>
              <a:buChar char="•"/>
            </a:pPr>
            <a:r>
              <a:rPr lang="en-GB" sz="1600" b="1" dirty="0">
                <a:latin typeface="Times New Roman" panose="02020603050405020304" pitchFamily="18" charset="0"/>
                <a:cs typeface="Times New Roman" panose="02020603050405020304" pitchFamily="18" charset="0"/>
              </a:rPr>
              <a:t>P4</a:t>
            </a:r>
            <a:r>
              <a:rPr lang="en-GB" sz="1600" dirty="0">
                <a:latin typeface="Times New Roman" panose="02020603050405020304" pitchFamily="18" charset="0"/>
                <a:cs typeface="Times New Roman" panose="02020603050405020304" pitchFamily="18" charset="0"/>
              </a:rPr>
              <a:t> = [A, E, B, D, C]</a:t>
            </a:r>
          </a:p>
          <a:p>
            <a:pPr>
              <a:buNone/>
            </a:pPr>
            <a:r>
              <a:rPr lang="en-GB" sz="1600" dirty="0">
                <a:latin typeface="Times New Roman" panose="02020603050405020304" pitchFamily="18" charset="0"/>
                <a:cs typeface="Times New Roman" panose="02020603050405020304" pitchFamily="18" charset="0"/>
              </a:rPr>
              <a:t>We’ll randomly choose </a:t>
            </a:r>
            <a:r>
              <a:rPr lang="en-GB" sz="1600" b="1" dirty="0">
                <a:latin typeface="Times New Roman" panose="02020603050405020304" pitchFamily="18" charset="0"/>
                <a:cs typeface="Times New Roman" panose="02020603050405020304" pitchFamily="18" charset="0"/>
              </a:rPr>
              <a:t>4</a:t>
            </a:r>
            <a:r>
              <a:rPr lang="en-GB" sz="1600" dirty="0">
                <a:latin typeface="Times New Roman" panose="02020603050405020304" pitchFamily="18" charset="0"/>
                <a:cs typeface="Times New Roman" panose="02020603050405020304" pitchFamily="18" charset="0"/>
              </a:rPr>
              <a:t> initial solutions for this small problem. In a real scenario, we’d likely use more solutions (e.g., 100).</a:t>
            </a:r>
          </a:p>
          <a:p>
            <a:pPr>
              <a:buNone/>
            </a:pPr>
            <a:endParaRPr lang="en-GB" sz="1600" dirty="0">
              <a:latin typeface="Times New Roman" panose="02020603050405020304" pitchFamily="18" charset="0"/>
              <a:cs typeface="Times New Roman" panose="02020603050405020304" pitchFamily="18" charset="0"/>
            </a:endParaRPr>
          </a:p>
          <a:p>
            <a:r>
              <a:rPr lang="en-GB" sz="1600" b="1" dirty="0">
                <a:solidFill>
                  <a:srgbClr val="FF0000"/>
                </a:solidFill>
                <a:latin typeface="Times New Roman" panose="02020603050405020304" pitchFamily="18" charset="0"/>
                <a:cs typeface="Times New Roman" panose="02020603050405020304" pitchFamily="18" charset="0"/>
              </a:rPr>
              <a:t>Step 2: Fitness Evaluation</a:t>
            </a:r>
          </a:p>
          <a:p>
            <a:r>
              <a:rPr lang="en-GB" sz="1600" b="1" dirty="0">
                <a:latin typeface="Times New Roman" panose="02020603050405020304" pitchFamily="18" charset="0"/>
                <a:cs typeface="Times New Roman" panose="02020603050405020304" pitchFamily="18" charset="0"/>
              </a:rPr>
              <a:t>P1</a:t>
            </a:r>
            <a:r>
              <a:rPr lang="en-GB" sz="1600" dirty="0">
                <a:latin typeface="Times New Roman" panose="02020603050405020304" pitchFamily="18" charset="0"/>
                <a:cs typeface="Times New Roman" panose="02020603050405020304" pitchFamily="18" charset="0"/>
              </a:rPr>
              <a:t> = [A, B, C, D, E]</a:t>
            </a:r>
          </a:p>
          <a:p>
            <a:pPr lvl="1"/>
            <a:r>
              <a:rPr lang="en-GB" sz="1600" dirty="0">
                <a:latin typeface="Times New Roman" panose="02020603050405020304" pitchFamily="18" charset="0"/>
                <a:cs typeface="Times New Roman" panose="02020603050405020304" pitchFamily="18" charset="0"/>
              </a:rPr>
              <a:t>A → B (10), B → C (35), C → D (30), D → E (15), E → A (25)</a:t>
            </a:r>
          </a:p>
          <a:p>
            <a:pPr lvl="1"/>
            <a:r>
              <a:rPr lang="en-GB" sz="1600" b="1" dirty="0">
                <a:latin typeface="Times New Roman" panose="02020603050405020304" pitchFamily="18" charset="0"/>
                <a:cs typeface="Times New Roman" panose="02020603050405020304" pitchFamily="18" charset="0"/>
              </a:rPr>
              <a:t>Tour length</a:t>
            </a:r>
            <a:r>
              <a:rPr lang="en-GB" sz="1600" dirty="0">
                <a:latin typeface="Times New Roman" panose="02020603050405020304" pitchFamily="18" charset="0"/>
                <a:cs typeface="Times New Roman" panose="02020603050405020304" pitchFamily="18" charset="0"/>
              </a:rPr>
              <a:t> = 10 + 35 + 30 + 15 + 25 = </a:t>
            </a:r>
            <a:r>
              <a:rPr lang="en-GB" sz="1600" b="1" dirty="0">
                <a:latin typeface="Times New Roman" panose="02020603050405020304" pitchFamily="18" charset="0"/>
                <a:cs typeface="Times New Roman" panose="02020603050405020304" pitchFamily="18" charset="0"/>
              </a:rPr>
              <a:t>115</a:t>
            </a:r>
            <a:endParaRPr lang="en-GB" sz="1600" dirty="0">
              <a:latin typeface="Times New Roman" panose="02020603050405020304" pitchFamily="18" charset="0"/>
              <a:cs typeface="Times New Roman" panose="02020603050405020304" pitchFamily="18" charset="0"/>
            </a:endParaRPr>
          </a:p>
          <a:p>
            <a:r>
              <a:rPr lang="en-GB" sz="1600" b="1" dirty="0">
                <a:latin typeface="Times New Roman" panose="02020603050405020304" pitchFamily="18" charset="0"/>
                <a:cs typeface="Times New Roman" panose="02020603050405020304" pitchFamily="18" charset="0"/>
              </a:rPr>
              <a:t>P2</a:t>
            </a:r>
            <a:r>
              <a:rPr lang="en-GB" sz="1600" dirty="0">
                <a:latin typeface="Times New Roman" panose="02020603050405020304" pitchFamily="18" charset="0"/>
                <a:cs typeface="Times New Roman" panose="02020603050405020304" pitchFamily="18" charset="0"/>
              </a:rPr>
              <a:t> = [A, C, D, B, E]</a:t>
            </a:r>
          </a:p>
          <a:p>
            <a:pPr lvl="1"/>
            <a:r>
              <a:rPr lang="en-GB" sz="1600" dirty="0">
                <a:latin typeface="Times New Roman" panose="02020603050405020304" pitchFamily="18" charset="0"/>
                <a:cs typeface="Times New Roman" panose="02020603050405020304" pitchFamily="18" charset="0"/>
              </a:rPr>
              <a:t>A → C (15), C → D (30), D → B (25), B → E (30), E → A (25)</a:t>
            </a:r>
          </a:p>
          <a:p>
            <a:pPr lvl="1"/>
            <a:r>
              <a:rPr lang="en-GB" sz="1600" b="1" dirty="0">
                <a:latin typeface="Times New Roman" panose="02020603050405020304" pitchFamily="18" charset="0"/>
                <a:cs typeface="Times New Roman" panose="02020603050405020304" pitchFamily="18" charset="0"/>
              </a:rPr>
              <a:t>Tour length</a:t>
            </a:r>
            <a:r>
              <a:rPr lang="en-GB" sz="1600" dirty="0">
                <a:latin typeface="Times New Roman" panose="02020603050405020304" pitchFamily="18" charset="0"/>
                <a:cs typeface="Times New Roman" panose="02020603050405020304" pitchFamily="18" charset="0"/>
              </a:rPr>
              <a:t> = 15 + 30 + 25 + 30 + 25 = </a:t>
            </a:r>
            <a:r>
              <a:rPr lang="en-GB" sz="1600" b="1" dirty="0">
                <a:latin typeface="Times New Roman" panose="02020603050405020304" pitchFamily="18" charset="0"/>
                <a:cs typeface="Times New Roman" panose="02020603050405020304" pitchFamily="18" charset="0"/>
              </a:rPr>
              <a:t>125</a:t>
            </a:r>
            <a:endParaRPr lang="en-GB" sz="1600" dirty="0">
              <a:latin typeface="Times New Roman" panose="02020603050405020304" pitchFamily="18" charset="0"/>
              <a:cs typeface="Times New Roman" panose="02020603050405020304" pitchFamily="18" charset="0"/>
            </a:endParaRPr>
          </a:p>
          <a:p>
            <a:r>
              <a:rPr lang="en-GB" sz="1600" b="1" dirty="0">
                <a:latin typeface="Times New Roman" panose="02020603050405020304" pitchFamily="18" charset="0"/>
                <a:cs typeface="Times New Roman" panose="02020603050405020304" pitchFamily="18" charset="0"/>
              </a:rPr>
              <a:t>P3</a:t>
            </a:r>
            <a:r>
              <a:rPr lang="en-GB" sz="1600" dirty="0">
                <a:latin typeface="Times New Roman" panose="02020603050405020304" pitchFamily="18" charset="0"/>
                <a:cs typeface="Times New Roman" panose="02020603050405020304" pitchFamily="18" charset="0"/>
              </a:rPr>
              <a:t> = [A, D, E, C, B]</a:t>
            </a:r>
          </a:p>
          <a:p>
            <a:pPr lvl="1"/>
            <a:r>
              <a:rPr lang="en-GB" sz="1600" dirty="0">
                <a:latin typeface="Times New Roman" panose="02020603050405020304" pitchFamily="18" charset="0"/>
                <a:cs typeface="Times New Roman" panose="02020603050405020304" pitchFamily="18" charset="0"/>
              </a:rPr>
              <a:t>A → D (20), D → E (15), E → C (5), C → B (35), B → A (10)</a:t>
            </a:r>
          </a:p>
          <a:p>
            <a:pPr lvl="1"/>
            <a:r>
              <a:rPr lang="en-GB" sz="1600" b="1" dirty="0">
                <a:latin typeface="Times New Roman" panose="02020603050405020304" pitchFamily="18" charset="0"/>
                <a:cs typeface="Times New Roman" panose="02020603050405020304" pitchFamily="18" charset="0"/>
              </a:rPr>
              <a:t>Tour length</a:t>
            </a:r>
            <a:r>
              <a:rPr lang="en-GB" sz="1600" dirty="0">
                <a:latin typeface="Times New Roman" panose="02020603050405020304" pitchFamily="18" charset="0"/>
                <a:cs typeface="Times New Roman" panose="02020603050405020304" pitchFamily="18" charset="0"/>
              </a:rPr>
              <a:t> = 20 + 15 + 5 + 35 + 10 = </a:t>
            </a:r>
            <a:r>
              <a:rPr lang="en-GB" sz="1600" b="1" dirty="0">
                <a:latin typeface="Times New Roman" panose="02020603050405020304" pitchFamily="18" charset="0"/>
                <a:cs typeface="Times New Roman" panose="02020603050405020304" pitchFamily="18" charset="0"/>
              </a:rPr>
              <a:t>85</a:t>
            </a:r>
            <a:endParaRPr lang="en-GB" sz="1600" dirty="0">
              <a:latin typeface="Times New Roman" panose="02020603050405020304" pitchFamily="18" charset="0"/>
              <a:cs typeface="Times New Roman" panose="02020603050405020304" pitchFamily="18" charset="0"/>
            </a:endParaRPr>
          </a:p>
          <a:p>
            <a:r>
              <a:rPr lang="en-GB" sz="1600" b="1" dirty="0">
                <a:latin typeface="Times New Roman" panose="02020603050405020304" pitchFamily="18" charset="0"/>
                <a:cs typeface="Times New Roman" panose="02020603050405020304" pitchFamily="18" charset="0"/>
              </a:rPr>
              <a:t>P4</a:t>
            </a:r>
            <a:r>
              <a:rPr lang="en-GB" sz="1600" dirty="0">
                <a:latin typeface="Times New Roman" panose="02020603050405020304" pitchFamily="18" charset="0"/>
                <a:cs typeface="Times New Roman" panose="02020603050405020304" pitchFamily="18" charset="0"/>
              </a:rPr>
              <a:t> = [A, E, B, D, C]</a:t>
            </a:r>
          </a:p>
          <a:p>
            <a:pPr lvl="1"/>
            <a:r>
              <a:rPr lang="en-GB" sz="1600" dirty="0">
                <a:latin typeface="Times New Roman" panose="02020603050405020304" pitchFamily="18" charset="0"/>
                <a:cs typeface="Times New Roman" panose="02020603050405020304" pitchFamily="18" charset="0"/>
              </a:rPr>
              <a:t>A → E (25), E → B (30), B → D (25), D → C (30), C → A (15)</a:t>
            </a:r>
          </a:p>
          <a:p>
            <a:pPr lvl="1"/>
            <a:r>
              <a:rPr lang="en-GB" sz="1600" b="1" dirty="0">
                <a:latin typeface="Times New Roman" panose="02020603050405020304" pitchFamily="18" charset="0"/>
                <a:cs typeface="Times New Roman" panose="02020603050405020304" pitchFamily="18" charset="0"/>
              </a:rPr>
              <a:t>Tour length</a:t>
            </a:r>
            <a:r>
              <a:rPr lang="en-GB" sz="1600" dirty="0">
                <a:latin typeface="Times New Roman" panose="02020603050405020304" pitchFamily="18" charset="0"/>
                <a:cs typeface="Times New Roman" panose="02020603050405020304" pitchFamily="18" charset="0"/>
              </a:rPr>
              <a:t> = 25 + 30 + 25 + 30 + 15 = </a:t>
            </a:r>
            <a:r>
              <a:rPr lang="en-GB" sz="1600" b="1" dirty="0">
                <a:latin typeface="Times New Roman" panose="02020603050405020304" pitchFamily="18" charset="0"/>
                <a:cs typeface="Times New Roman" panose="02020603050405020304" pitchFamily="18" charset="0"/>
              </a:rPr>
              <a:t>125</a:t>
            </a:r>
            <a:endParaRPr lang="en-GB" sz="1600" dirty="0">
              <a:latin typeface="Times New Roman" panose="02020603050405020304" pitchFamily="18" charset="0"/>
              <a:cs typeface="Times New Roman" panose="02020603050405020304" pitchFamily="18" charset="0"/>
            </a:endParaRPr>
          </a:p>
          <a:p>
            <a:pPr>
              <a:buNone/>
            </a:pPr>
            <a:endParaRPr lang="en-GB" dirty="0"/>
          </a:p>
        </p:txBody>
      </p:sp>
      <p:sp>
        <p:nvSpPr>
          <p:cNvPr id="5" name="TextBox 4">
            <a:extLst>
              <a:ext uri="{FF2B5EF4-FFF2-40B4-BE49-F238E27FC236}">
                <a16:creationId xmlns:a16="http://schemas.microsoft.com/office/drawing/2014/main" id="{671F5FEC-EC86-E80D-46B8-D3C85512102A}"/>
              </a:ext>
            </a:extLst>
          </p:cNvPr>
          <p:cNvSpPr txBox="1"/>
          <p:nvPr/>
        </p:nvSpPr>
        <p:spPr>
          <a:xfrm>
            <a:off x="6619568" y="4011518"/>
            <a:ext cx="5247968" cy="1754326"/>
          </a:xfrm>
          <a:prstGeom prst="rect">
            <a:avLst/>
          </a:prstGeom>
          <a:noFill/>
        </p:spPr>
        <p:txBody>
          <a:bodyPr wrap="square" rtlCol="0">
            <a:spAutoFit/>
          </a:bodyPr>
          <a:lstStyle/>
          <a:p>
            <a:r>
              <a:rPr lang="en-GB" dirty="0"/>
              <a:t>The </a:t>
            </a:r>
            <a:r>
              <a:rPr lang="en-GB" b="1" dirty="0"/>
              <a:t>fitness</a:t>
            </a:r>
            <a:r>
              <a:rPr lang="en-GB" dirty="0"/>
              <a:t> is:</a:t>
            </a:r>
          </a:p>
          <a:p>
            <a:r>
              <a:rPr lang="en-GB" dirty="0"/>
              <a:t>Fitness for </a:t>
            </a:r>
            <a:r>
              <a:rPr lang="en-GB" b="1" dirty="0"/>
              <a:t>P1</a:t>
            </a:r>
            <a:r>
              <a:rPr lang="en-GB" dirty="0"/>
              <a:t> = 1 / 115 ≈ </a:t>
            </a:r>
            <a:r>
              <a:rPr lang="en-GB" b="1" dirty="0"/>
              <a:t>0.0087</a:t>
            </a:r>
            <a:endParaRPr lang="en-GB" dirty="0"/>
          </a:p>
          <a:p>
            <a:r>
              <a:rPr lang="en-GB" dirty="0"/>
              <a:t>Fitness for </a:t>
            </a:r>
            <a:r>
              <a:rPr lang="en-GB" b="1" dirty="0"/>
              <a:t>P2</a:t>
            </a:r>
            <a:r>
              <a:rPr lang="en-GB" dirty="0"/>
              <a:t> = 1 / 125 ≈ </a:t>
            </a:r>
            <a:r>
              <a:rPr lang="en-GB" b="1" dirty="0"/>
              <a:t>0.0080</a:t>
            </a:r>
            <a:endParaRPr lang="en-GB" dirty="0"/>
          </a:p>
          <a:p>
            <a:r>
              <a:rPr lang="en-GB" dirty="0"/>
              <a:t>Fitness for </a:t>
            </a:r>
            <a:r>
              <a:rPr lang="en-GB" b="1" dirty="0"/>
              <a:t>P3</a:t>
            </a:r>
            <a:r>
              <a:rPr lang="en-GB" dirty="0"/>
              <a:t> = 1 / 85 ≈ </a:t>
            </a:r>
            <a:r>
              <a:rPr lang="en-GB" b="1" dirty="0"/>
              <a:t>0.0118</a:t>
            </a:r>
            <a:endParaRPr lang="en-GB" dirty="0"/>
          </a:p>
          <a:p>
            <a:r>
              <a:rPr lang="en-GB" dirty="0"/>
              <a:t>Fitness for </a:t>
            </a:r>
            <a:r>
              <a:rPr lang="en-GB" b="1" dirty="0"/>
              <a:t>P4</a:t>
            </a:r>
            <a:r>
              <a:rPr lang="en-GB" dirty="0"/>
              <a:t> = 1 / 125 ≈ </a:t>
            </a:r>
            <a:r>
              <a:rPr lang="en-GB" b="1" dirty="0"/>
              <a:t>0.0080</a:t>
            </a:r>
            <a:endParaRPr lang="en-GB" dirty="0"/>
          </a:p>
          <a:p>
            <a:endParaRPr lang="en-GB" dirty="0"/>
          </a:p>
        </p:txBody>
      </p:sp>
    </p:spTree>
    <p:extLst>
      <p:ext uri="{BB962C8B-B14F-4D97-AF65-F5344CB8AC3E}">
        <p14:creationId xmlns:p14="http://schemas.microsoft.com/office/powerpoint/2010/main" val="1719764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C427F-2469-0105-9EEF-571FAC1988E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4EA2A37-61C4-317F-A816-FD45A318C703}"/>
              </a:ext>
            </a:extLst>
          </p:cNvPr>
          <p:cNvSpPr txBox="1">
            <a:spLocks noGrp="1"/>
          </p:cNvSpPr>
          <p:nvPr>
            <p:ph type="title"/>
          </p:nvPr>
        </p:nvSpPr>
        <p:spPr>
          <a:xfrm>
            <a:off x="135651" y="-144088"/>
            <a:ext cx="11920696" cy="949418"/>
          </a:xfrm>
          <a:prstGeom prst="rect">
            <a:avLst/>
          </a:prstGeom>
        </p:spPr>
        <p:txBody>
          <a:bodyPr vert="horz" wrap="square" lIns="0" tIns="269676" rIns="0" bIns="0" rtlCol="0">
            <a:spAutoFit/>
          </a:bodyPr>
          <a:lstStyle/>
          <a:p>
            <a:pPr marL="3784600">
              <a:lnSpc>
                <a:spcPct val="100000"/>
              </a:lnSpc>
              <a:spcBef>
                <a:spcPts val="100"/>
              </a:spcBef>
            </a:pPr>
            <a:r>
              <a:rPr lang="en-GB" dirty="0">
                <a:latin typeface="Times New Roman" panose="02020603050405020304" pitchFamily="18" charset="0"/>
                <a:cs typeface="Times New Roman" panose="02020603050405020304" pitchFamily="18" charset="0"/>
              </a:rPr>
              <a:t>TSP example</a:t>
            </a:r>
            <a:endParaRPr spc="-1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CE37D03-85DA-6C59-B5B7-B1DCE2395D7A}"/>
              </a:ext>
            </a:extLst>
          </p:cNvPr>
          <p:cNvSpPr txBox="1"/>
          <p:nvPr/>
        </p:nvSpPr>
        <p:spPr>
          <a:xfrm>
            <a:off x="334524" y="1219200"/>
            <a:ext cx="11522949" cy="5355312"/>
          </a:xfrm>
          <a:prstGeom prst="rect">
            <a:avLst/>
          </a:prstGeom>
          <a:noFill/>
        </p:spPr>
        <p:txBody>
          <a:bodyPr wrap="square">
            <a:spAutoFit/>
          </a:bodyPr>
          <a:lstStyle/>
          <a:p>
            <a:pPr>
              <a:buNone/>
            </a:pPr>
            <a:r>
              <a:rPr lang="en-GB" b="1" dirty="0">
                <a:solidFill>
                  <a:srgbClr val="FF0000"/>
                </a:solidFill>
                <a:latin typeface="Times New Roman" panose="02020603050405020304" pitchFamily="18" charset="0"/>
                <a:cs typeface="Times New Roman" panose="02020603050405020304" pitchFamily="18" charset="0"/>
              </a:rPr>
              <a:t>Step 3: Selection</a:t>
            </a:r>
          </a:p>
          <a:p>
            <a:pPr>
              <a:buNone/>
            </a:pPr>
            <a:r>
              <a:rPr lang="en-GB" dirty="0">
                <a:latin typeface="Times New Roman" panose="02020603050405020304" pitchFamily="18" charset="0"/>
                <a:cs typeface="Times New Roman" panose="02020603050405020304" pitchFamily="18" charset="0"/>
              </a:rPr>
              <a:t>We now select parents for the next generation based on </a:t>
            </a:r>
            <a:r>
              <a:rPr lang="en-GB" b="1" dirty="0">
                <a:latin typeface="Times New Roman" panose="02020603050405020304" pitchFamily="18" charset="0"/>
                <a:cs typeface="Times New Roman" panose="02020603050405020304" pitchFamily="18" charset="0"/>
              </a:rPr>
              <a:t>fitness</a:t>
            </a:r>
            <a:r>
              <a:rPr lang="en-GB" dirty="0">
                <a:latin typeface="Times New Roman" panose="02020603050405020304" pitchFamily="18" charset="0"/>
                <a:cs typeface="Times New Roman" panose="02020603050405020304" pitchFamily="18" charset="0"/>
              </a:rPr>
              <a:t>.</a:t>
            </a:r>
          </a:p>
          <a:p>
            <a:pPr>
              <a:buNone/>
            </a:pPr>
            <a:r>
              <a:rPr lang="en-GB" dirty="0">
                <a:latin typeface="Times New Roman" panose="02020603050405020304" pitchFamily="18" charset="0"/>
                <a:cs typeface="Times New Roman" panose="02020603050405020304" pitchFamily="18" charset="0"/>
              </a:rPr>
              <a:t>Let’s select </a:t>
            </a:r>
            <a:r>
              <a:rPr lang="en-GB" b="1" dirty="0">
                <a:latin typeface="Times New Roman" panose="02020603050405020304" pitchFamily="18" charset="0"/>
                <a:cs typeface="Times New Roman" panose="02020603050405020304" pitchFamily="18" charset="0"/>
              </a:rPr>
              <a:t>P3</a:t>
            </a:r>
            <a:r>
              <a:rPr lang="en-GB" dirty="0">
                <a:latin typeface="Times New Roman" panose="02020603050405020304" pitchFamily="18" charset="0"/>
                <a:cs typeface="Times New Roman" panose="02020603050405020304" pitchFamily="18" charset="0"/>
              </a:rPr>
              <a:t> and </a:t>
            </a:r>
            <a:r>
              <a:rPr lang="en-GB" b="1" dirty="0">
                <a:latin typeface="Times New Roman" panose="02020603050405020304" pitchFamily="18" charset="0"/>
                <a:cs typeface="Times New Roman" panose="02020603050405020304" pitchFamily="18" charset="0"/>
              </a:rPr>
              <a:t>P1</a:t>
            </a:r>
            <a:r>
              <a:rPr lang="en-GB" dirty="0">
                <a:latin typeface="Times New Roman" panose="02020603050405020304" pitchFamily="18" charset="0"/>
                <a:cs typeface="Times New Roman" panose="02020603050405020304" pitchFamily="18" charset="0"/>
              </a:rPr>
              <a:t> as parents for the next generation.</a:t>
            </a:r>
          </a:p>
          <a:p>
            <a:pPr>
              <a:buNone/>
            </a:pPr>
            <a:br>
              <a:rPr lang="en-GB"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a:p>
            <a:pPr>
              <a:buNone/>
            </a:pPr>
            <a:r>
              <a:rPr lang="en-GB" b="1" dirty="0">
                <a:solidFill>
                  <a:srgbClr val="FF0000"/>
                </a:solidFill>
                <a:latin typeface="Times New Roman" panose="02020603050405020304" pitchFamily="18" charset="0"/>
                <a:cs typeface="Times New Roman" panose="02020603050405020304" pitchFamily="18" charset="0"/>
              </a:rPr>
              <a:t>Step 4: Single-Point Crossover</a:t>
            </a:r>
          </a:p>
          <a:p>
            <a:pPr>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Parent 1 (P3)</a:t>
            </a:r>
            <a:r>
              <a:rPr lang="en-GB" dirty="0">
                <a:latin typeface="Times New Roman" panose="02020603050405020304" pitchFamily="18" charset="0"/>
                <a:cs typeface="Times New Roman" panose="02020603050405020304" pitchFamily="18" charset="0"/>
              </a:rPr>
              <a:t> = [A, D, E, C, B]</a:t>
            </a:r>
          </a:p>
          <a:p>
            <a:pPr>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Parent 2 (P1)</a:t>
            </a:r>
            <a:r>
              <a:rPr lang="en-GB" dirty="0">
                <a:latin typeface="Times New Roman" panose="02020603050405020304" pitchFamily="18" charset="0"/>
                <a:cs typeface="Times New Roman" panose="02020603050405020304" pitchFamily="18" charset="0"/>
              </a:rPr>
              <a:t> = [A, B, C, D, E]</a:t>
            </a:r>
          </a:p>
          <a:p>
            <a:pPr>
              <a:buNone/>
            </a:pPr>
            <a:r>
              <a:rPr lang="en-GB" b="1" dirty="0">
                <a:latin typeface="Times New Roman" panose="02020603050405020304" pitchFamily="18" charset="0"/>
                <a:cs typeface="Times New Roman" panose="02020603050405020304" pitchFamily="18" charset="0"/>
              </a:rPr>
              <a:t>Child 1 (SPX from P3 and P1):</a:t>
            </a:r>
          </a:p>
          <a:p>
            <a:pPr>
              <a:buNone/>
            </a:pPr>
            <a:r>
              <a:rPr lang="en-GB" dirty="0">
                <a:latin typeface="Times New Roman" panose="02020603050405020304" pitchFamily="18" charset="0"/>
                <a:cs typeface="Times New Roman" panose="02020603050405020304" pitchFamily="18" charset="0"/>
              </a:rPr>
              <a:t>So, we have generated two new children:</a:t>
            </a:r>
          </a:p>
          <a:p>
            <a:pPr>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Child 1</a:t>
            </a:r>
            <a:r>
              <a:rPr lang="en-GB" dirty="0">
                <a:latin typeface="Times New Roman" panose="02020603050405020304" pitchFamily="18" charset="0"/>
                <a:cs typeface="Times New Roman" panose="02020603050405020304" pitchFamily="18" charset="0"/>
              </a:rPr>
              <a:t> = [A, D, B, C, E]</a:t>
            </a:r>
          </a:p>
          <a:p>
            <a:pPr>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Child 2</a:t>
            </a:r>
            <a:r>
              <a:rPr lang="en-GB" dirty="0">
                <a:latin typeface="Times New Roman" panose="02020603050405020304" pitchFamily="18" charset="0"/>
                <a:cs typeface="Times New Roman" panose="02020603050405020304" pitchFamily="18" charset="0"/>
              </a:rPr>
              <a:t> = [A, B, D, E, C]</a:t>
            </a:r>
          </a:p>
          <a:p>
            <a:pPr>
              <a:buFont typeface="Arial" panose="020B0604020202020204" pitchFamily="34" charset="0"/>
              <a:buChar char="•"/>
            </a:pPr>
            <a:endParaRPr lang="en-GB" dirty="0">
              <a:latin typeface="Times New Roman" panose="02020603050405020304" pitchFamily="18" charset="0"/>
              <a:cs typeface="Times New Roman" panose="02020603050405020304" pitchFamily="18" charset="0"/>
            </a:endParaRPr>
          </a:p>
          <a:p>
            <a:pPr>
              <a:buNone/>
            </a:pPr>
            <a:r>
              <a:rPr lang="en-GB" b="1" dirty="0">
                <a:latin typeface="Times New Roman" panose="02020603050405020304" pitchFamily="18" charset="0"/>
                <a:cs typeface="Times New Roman" panose="02020603050405020304" pitchFamily="18" charset="0"/>
              </a:rPr>
              <a:t>Step 5: Mutation</a:t>
            </a:r>
          </a:p>
          <a:p>
            <a:pPr>
              <a:buNone/>
            </a:pPr>
            <a:r>
              <a:rPr lang="en-GB" dirty="0">
                <a:latin typeface="Times New Roman" panose="02020603050405020304" pitchFamily="18" charset="0"/>
                <a:cs typeface="Times New Roman" panose="02020603050405020304" pitchFamily="18" charset="0"/>
              </a:rPr>
              <a:t>One common mutation for TSP is </a:t>
            </a:r>
            <a:r>
              <a:rPr lang="en-GB" b="1" dirty="0">
                <a:latin typeface="Times New Roman" panose="02020603050405020304" pitchFamily="18" charset="0"/>
                <a:cs typeface="Times New Roman" panose="02020603050405020304" pitchFamily="18" charset="0"/>
              </a:rPr>
              <a:t>swap mutation</a:t>
            </a:r>
            <a:r>
              <a:rPr lang="en-GB" dirty="0">
                <a:latin typeface="Times New Roman" panose="02020603050405020304" pitchFamily="18" charset="0"/>
                <a:cs typeface="Times New Roman" panose="02020603050405020304" pitchFamily="18" charset="0"/>
              </a:rPr>
              <a:t>, where two cities are swapped.</a:t>
            </a:r>
          </a:p>
          <a:p>
            <a:pPr>
              <a:buNone/>
            </a:pPr>
            <a:r>
              <a:rPr lang="en-GB" dirty="0">
                <a:latin typeface="Times New Roman" panose="02020603050405020304" pitchFamily="18" charset="0"/>
                <a:cs typeface="Times New Roman" panose="02020603050405020304" pitchFamily="18" charset="0"/>
              </a:rPr>
              <a:t>Let’s mutate </a:t>
            </a:r>
            <a:r>
              <a:rPr lang="en-GB" b="1" dirty="0">
                <a:latin typeface="Times New Roman" panose="02020603050405020304" pitchFamily="18" charset="0"/>
                <a:cs typeface="Times New Roman" panose="02020603050405020304" pitchFamily="18" charset="0"/>
              </a:rPr>
              <a:t>Child 1</a:t>
            </a:r>
            <a:r>
              <a:rPr lang="en-GB"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Child 1</a:t>
            </a:r>
            <a:r>
              <a:rPr lang="en-GB" dirty="0">
                <a:latin typeface="Times New Roman" panose="02020603050405020304" pitchFamily="18" charset="0"/>
                <a:cs typeface="Times New Roman" panose="02020603050405020304" pitchFamily="18" charset="0"/>
              </a:rPr>
              <a:t> = [A, D, B, C, E] Swap cities </a:t>
            </a:r>
            <a:r>
              <a:rPr lang="en-GB" b="1" dirty="0">
                <a:latin typeface="Times New Roman" panose="02020603050405020304" pitchFamily="18" charset="0"/>
                <a:cs typeface="Times New Roman" panose="02020603050405020304" pitchFamily="18" charset="0"/>
              </a:rPr>
              <a:t>B</a:t>
            </a:r>
            <a:r>
              <a:rPr lang="en-GB" dirty="0">
                <a:latin typeface="Times New Roman" panose="02020603050405020304" pitchFamily="18" charset="0"/>
                <a:cs typeface="Times New Roman" panose="02020603050405020304" pitchFamily="18" charset="0"/>
              </a:rPr>
              <a:t> and </a:t>
            </a:r>
            <a:r>
              <a:rPr lang="en-GB" b="1" dirty="0">
                <a:latin typeface="Times New Roman" panose="02020603050405020304" pitchFamily="18" charset="0"/>
                <a:cs typeface="Times New Roman" panose="02020603050405020304" pitchFamily="18" charset="0"/>
              </a:rPr>
              <a:t>C</a:t>
            </a:r>
            <a:r>
              <a:rPr lang="en-GB" dirty="0">
                <a:latin typeface="Times New Roman" panose="02020603050405020304" pitchFamily="18" charset="0"/>
                <a:cs typeface="Times New Roman" panose="02020603050405020304" pitchFamily="18" charset="0"/>
              </a:rPr>
              <a:t>:</a:t>
            </a:r>
            <a:br>
              <a:rPr lang="en-GB" dirty="0">
                <a:latin typeface="Times New Roman" panose="02020603050405020304" pitchFamily="18" charset="0"/>
                <a:cs typeface="Times New Roman" panose="02020603050405020304" pitchFamily="18" charset="0"/>
              </a:rPr>
            </a:br>
            <a:r>
              <a:rPr lang="en-GB" b="1" dirty="0">
                <a:latin typeface="Times New Roman" panose="02020603050405020304" pitchFamily="18" charset="0"/>
                <a:cs typeface="Times New Roman" panose="02020603050405020304" pitchFamily="18" charset="0"/>
              </a:rPr>
              <a:t>Mutated Child 1</a:t>
            </a:r>
            <a:r>
              <a:rPr lang="en-GB" dirty="0">
                <a:latin typeface="Times New Roman" panose="02020603050405020304" pitchFamily="18" charset="0"/>
                <a:cs typeface="Times New Roman" panose="02020603050405020304" pitchFamily="18" charset="0"/>
              </a:rPr>
              <a:t> = [A, D, C, B, E]</a:t>
            </a:r>
          </a:p>
          <a:p>
            <a:pPr>
              <a:buFont typeface="Arial" panose="020B0604020202020204" pitchFamily="34" charset="0"/>
              <a:buChar char="•"/>
            </a:pPr>
            <a:endParaRPr lang="en-GB" dirty="0"/>
          </a:p>
        </p:txBody>
      </p:sp>
    </p:spTree>
    <p:extLst>
      <p:ext uri="{BB962C8B-B14F-4D97-AF65-F5344CB8AC3E}">
        <p14:creationId xmlns:p14="http://schemas.microsoft.com/office/powerpoint/2010/main" val="11756127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E7A5A2-A694-14F6-08E9-45C519FACA28}"/>
              </a:ext>
            </a:extLst>
          </p:cNvPr>
          <p:cNvSpPr txBox="1"/>
          <p:nvPr/>
        </p:nvSpPr>
        <p:spPr>
          <a:xfrm>
            <a:off x="609600" y="1295400"/>
            <a:ext cx="11049000" cy="4801314"/>
          </a:xfrm>
          <a:prstGeom prst="rect">
            <a:avLst/>
          </a:prstGeom>
          <a:noFill/>
        </p:spPr>
        <p:txBody>
          <a:bodyPr wrap="square">
            <a:spAutoFit/>
          </a:bodyPr>
          <a:lstStyle/>
          <a:p>
            <a:pPr>
              <a:buNone/>
            </a:pPr>
            <a:r>
              <a:rPr lang="en-GB" b="1" dirty="0">
                <a:solidFill>
                  <a:srgbClr val="FF0000"/>
                </a:solidFill>
                <a:latin typeface="Times New Roman" panose="02020603050405020304" pitchFamily="18" charset="0"/>
                <a:cs typeface="Times New Roman" panose="02020603050405020304" pitchFamily="18" charset="0"/>
              </a:rPr>
              <a:t>Step 6: Replacement</a:t>
            </a:r>
          </a:p>
          <a:p>
            <a:pPr>
              <a:buNone/>
            </a:pPr>
            <a:r>
              <a:rPr lang="en-GB" dirty="0">
                <a:latin typeface="Times New Roman" panose="02020603050405020304" pitchFamily="18" charset="0"/>
                <a:cs typeface="Times New Roman" panose="02020603050405020304" pitchFamily="18" charset="0"/>
              </a:rPr>
              <a:t>Now, we create the new generation by replacing the old population with the best routes from the current generation</a:t>
            </a:r>
          </a:p>
          <a:p>
            <a:pPr>
              <a:buNone/>
            </a:pPr>
            <a:r>
              <a:rPr lang="en-GB" dirty="0">
                <a:latin typeface="Times New Roman" panose="02020603050405020304" pitchFamily="18" charset="0"/>
                <a:cs typeface="Times New Roman" panose="02020603050405020304" pitchFamily="18" charset="0"/>
              </a:rPr>
              <a:t>New population:</a:t>
            </a:r>
          </a:p>
          <a:p>
            <a:pPr>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P3</a:t>
            </a:r>
            <a:r>
              <a:rPr lang="en-GB" dirty="0">
                <a:latin typeface="Times New Roman" panose="02020603050405020304" pitchFamily="18" charset="0"/>
                <a:cs typeface="Times New Roman" panose="02020603050405020304" pitchFamily="18" charset="0"/>
              </a:rPr>
              <a:t> (best from the old generation)</a:t>
            </a:r>
          </a:p>
          <a:p>
            <a:pPr>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Child 1</a:t>
            </a:r>
            <a:r>
              <a:rPr lang="en-GB" dirty="0">
                <a:latin typeface="Times New Roman" panose="02020603050405020304" pitchFamily="18" charset="0"/>
                <a:cs typeface="Times New Roman" panose="02020603050405020304" pitchFamily="18" charset="0"/>
              </a:rPr>
              <a:t> (mutated) = [A, D, C, B, E]</a:t>
            </a:r>
          </a:p>
          <a:p>
            <a:pPr>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Child 2</a:t>
            </a:r>
            <a:r>
              <a:rPr lang="en-GB" dirty="0">
                <a:latin typeface="Times New Roman" panose="02020603050405020304" pitchFamily="18" charset="0"/>
                <a:cs typeface="Times New Roman" panose="02020603050405020304" pitchFamily="18" charset="0"/>
              </a:rPr>
              <a:t> = [A, B, D, E, C]</a:t>
            </a:r>
          </a:p>
          <a:p>
            <a:pPr>
              <a:buFont typeface="Arial" panose="020B0604020202020204" pitchFamily="34" charset="0"/>
              <a:buChar char="•"/>
            </a:pPr>
            <a:endParaRPr lang="en-GB" dirty="0">
              <a:latin typeface="Times New Roman" panose="02020603050405020304" pitchFamily="18" charset="0"/>
              <a:cs typeface="Times New Roman" panose="02020603050405020304" pitchFamily="18" charset="0"/>
            </a:endParaRPr>
          </a:p>
          <a:p>
            <a:r>
              <a:rPr lang="en-GB" b="1" dirty="0">
                <a:solidFill>
                  <a:srgbClr val="FF0000"/>
                </a:solidFill>
                <a:latin typeface="Times New Roman" panose="02020603050405020304" pitchFamily="18" charset="0"/>
                <a:cs typeface="Times New Roman" panose="02020603050405020304" pitchFamily="18" charset="0"/>
              </a:rPr>
              <a:t>Step 7: Repeat</a:t>
            </a:r>
          </a:p>
          <a:p>
            <a:r>
              <a:rPr lang="en-GB" dirty="0">
                <a:latin typeface="Times New Roman" panose="02020603050405020304" pitchFamily="18" charset="0"/>
                <a:cs typeface="Times New Roman" panose="02020603050405020304" pitchFamily="18" charset="0"/>
              </a:rPr>
              <a:t>We repeat the process (selection, crossover, mutation, replacement) for several generations. After a few generations, the algorithm will converge to the best solution.</a:t>
            </a:r>
          </a:p>
          <a:p>
            <a:br>
              <a:rPr lang="en-GB"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a:p>
            <a:r>
              <a:rPr lang="en-GB" b="1" dirty="0">
                <a:solidFill>
                  <a:srgbClr val="00B050"/>
                </a:solidFill>
                <a:latin typeface="Times New Roman" panose="02020603050405020304" pitchFamily="18" charset="0"/>
                <a:cs typeface="Times New Roman" panose="02020603050405020304" pitchFamily="18" charset="0"/>
              </a:rPr>
              <a:t>Final Result:</a:t>
            </a:r>
          </a:p>
          <a:p>
            <a:r>
              <a:rPr lang="en-GB" dirty="0">
                <a:latin typeface="Times New Roman" panose="02020603050405020304" pitchFamily="18" charset="0"/>
                <a:cs typeface="Times New Roman" panose="02020603050405020304" pitchFamily="18" charset="0"/>
              </a:rPr>
              <a:t>After several generations, the </a:t>
            </a:r>
            <a:r>
              <a:rPr lang="en-GB" b="1" dirty="0">
                <a:latin typeface="Times New Roman" panose="02020603050405020304" pitchFamily="18" charset="0"/>
                <a:cs typeface="Times New Roman" panose="02020603050405020304" pitchFamily="18" charset="0"/>
              </a:rPr>
              <a:t>best route</a:t>
            </a:r>
            <a:r>
              <a:rPr lang="en-GB" dirty="0">
                <a:latin typeface="Times New Roman" panose="02020603050405020304" pitchFamily="18" charset="0"/>
                <a:cs typeface="Times New Roman" panose="02020603050405020304" pitchFamily="18" charset="0"/>
              </a:rPr>
              <a:t> found by the genetic algorithm could be:</a:t>
            </a:r>
          </a:p>
          <a:p>
            <a:r>
              <a:rPr lang="en-GB" b="1" dirty="0">
                <a:latin typeface="Times New Roman" panose="02020603050405020304" pitchFamily="18" charset="0"/>
                <a:cs typeface="Times New Roman" panose="02020603050405020304" pitchFamily="18" charset="0"/>
              </a:rPr>
              <a:t>Best Tour</a:t>
            </a:r>
            <a:r>
              <a:rPr lang="en-GB" dirty="0">
                <a:latin typeface="Times New Roman" panose="02020603050405020304" pitchFamily="18" charset="0"/>
                <a:cs typeface="Times New Roman" panose="02020603050405020304" pitchFamily="18" charset="0"/>
              </a:rPr>
              <a:t> = [A, D, E, C, B]</a:t>
            </a:r>
          </a:p>
          <a:p>
            <a:r>
              <a:rPr lang="en-GB" b="1" dirty="0">
                <a:latin typeface="Times New Roman" panose="02020603050405020304" pitchFamily="18" charset="0"/>
                <a:cs typeface="Times New Roman" panose="02020603050405020304" pitchFamily="18" charset="0"/>
              </a:rPr>
              <a:t>Tour Length</a:t>
            </a:r>
            <a:r>
              <a:rPr lang="en-GB" dirty="0">
                <a:latin typeface="Times New Roman" panose="02020603050405020304" pitchFamily="18" charset="0"/>
                <a:cs typeface="Times New Roman" panose="02020603050405020304" pitchFamily="18" charset="0"/>
              </a:rPr>
              <a:t> = 85 (this was the best in the first generation)</a:t>
            </a:r>
          </a:p>
          <a:p>
            <a:pPr>
              <a:buFont typeface="Arial" panose="020B0604020202020204" pitchFamily="34" charset="0"/>
              <a:buChar char="•"/>
            </a:pPr>
            <a:endParaRPr lang="en-GB" dirty="0"/>
          </a:p>
        </p:txBody>
      </p:sp>
      <p:sp>
        <p:nvSpPr>
          <p:cNvPr id="7" name="TextBox 6">
            <a:extLst>
              <a:ext uri="{FF2B5EF4-FFF2-40B4-BE49-F238E27FC236}">
                <a16:creationId xmlns:a16="http://schemas.microsoft.com/office/drawing/2014/main" id="{8E36B81F-4E6F-CBC6-89EA-CD3E19A9AB86}"/>
              </a:ext>
            </a:extLst>
          </p:cNvPr>
          <p:cNvSpPr txBox="1"/>
          <p:nvPr/>
        </p:nvSpPr>
        <p:spPr>
          <a:xfrm>
            <a:off x="4724400" y="391954"/>
            <a:ext cx="6105832" cy="769441"/>
          </a:xfrm>
          <a:prstGeom prst="rect">
            <a:avLst/>
          </a:prstGeom>
          <a:noFill/>
        </p:spPr>
        <p:txBody>
          <a:bodyPr wrap="square">
            <a:spAutoFit/>
          </a:bodyPr>
          <a:lstStyle/>
          <a:p>
            <a:r>
              <a:rPr lang="en-GB" sz="4400" b="1" dirty="0">
                <a:latin typeface="Times New Roman" panose="02020603050405020304" pitchFamily="18" charset="0"/>
                <a:cs typeface="Times New Roman" panose="02020603050405020304" pitchFamily="18" charset="0"/>
              </a:rPr>
              <a:t>TSP example</a:t>
            </a:r>
            <a:endParaRPr lang="en-GB" sz="4400" b="1" dirty="0"/>
          </a:p>
        </p:txBody>
      </p:sp>
    </p:spTree>
    <p:extLst>
      <p:ext uri="{BB962C8B-B14F-4D97-AF65-F5344CB8AC3E}">
        <p14:creationId xmlns:p14="http://schemas.microsoft.com/office/powerpoint/2010/main" val="603727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0CB91796802F5448938A3DF7FF98DFC" ma:contentTypeVersion="3" ma:contentTypeDescription="Create a new document." ma:contentTypeScope="" ma:versionID="1168cd402d5b828259b24dd9ec1f88f6">
  <xsd:schema xmlns:xsd="http://www.w3.org/2001/XMLSchema" xmlns:xs="http://www.w3.org/2001/XMLSchema" xmlns:p="http://schemas.microsoft.com/office/2006/metadata/properties" xmlns:ns2="2215dc7c-7b55-4fdd-b1a7-d419b7091fd2" targetNamespace="http://schemas.microsoft.com/office/2006/metadata/properties" ma:root="true" ma:fieldsID="80f05061b3f498ad98f0acd4f2b5b0ae" ns2:_="">
    <xsd:import namespace="2215dc7c-7b55-4fdd-b1a7-d419b7091fd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15dc7c-7b55-4fdd-b1a7-d419b7091f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8C5FCC2-03A6-4156-AA1A-80D5C171786E}"/>
</file>

<file path=customXml/itemProps2.xml><?xml version="1.0" encoding="utf-8"?>
<ds:datastoreItem xmlns:ds="http://schemas.openxmlformats.org/officeDocument/2006/customXml" ds:itemID="{7B6B9671-B65F-4E93-8862-6410DF812A77}"/>
</file>

<file path=customXml/itemProps3.xml><?xml version="1.0" encoding="utf-8"?>
<ds:datastoreItem xmlns:ds="http://schemas.openxmlformats.org/officeDocument/2006/customXml" ds:itemID="{0AE6C0B8-DBB9-402A-8E1B-395A8C15A370}"/>
</file>

<file path=docProps/app.xml><?xml version="1.0" encoding="utf-8"?>
<Properties xmlns="http://schemas.openxmlformats.org/officeDocument/2006/extended-properties" xmlns:vt="http://schemas.openxmlformats.org/officeDocument/2006/docPropsVTypes">
  <Template/>
  <TotalTime>320</TotalTime>
  <Words>2685</Words>
  <Application>Microsoft Office PowerPoint</Application>
  <PresentationFormat>Widescreen</PresentationFormat>
  <Paragraphs>350</Paragraphs>
  <Slides>37</Slides>
  <Notes>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7" baseType="lpstr">
      <vt:lpstr>Arial</vt:lpstr>
      <vt:lpstr>Arial MT</vt:lpstr>
      <vt:lpstr>Calibri</vt:lpstr>
      <vt:lpstr>Courier New</vt:lpstr>
      <vt:lpstr>Garamond</vt:lpstr>
      <vt:lpstr>Nunito</vt:lpstr>
      <vt:lpstr>Times New Roman</vt:lpstr>
      <vt:lpstr>Wingdings</vt:lpstr>
      <vt:lpstr>Office Theme</vt:lpstr>
      <vt:lpstr>Klip</vt:lpstr>
      <vt:lpstr>CSE 315: Artificial Intelligence</vt:lpstr>
      <vt:lpstr>Local Search</vt:lpstr>
      <vt:lpstr>Hill Climbing</vt:lpstr>
      <vt:lpstr>Hill Climbing</vt:lpstr>
      <vt:lpstr>Hill Climbing</vt:lpstr>
      <vt:lpstr>Hill Climbing Diagram</vt:lpstr>
      <vt:lpstr>Hill Climbing</vt:lpstr>
      <vt:lpstr>Hill Climbing Quiz</vt:lpstr>
      <vt:lpstr>Simulated Annealing</vt:lpstr>
      <vt:lpstr>Simulated Annealing</vt:lpstr>
      <vt:lpstr>Simulated Annealing</vt:lpstr>
      <vt:lpstr>What Are Genetic Algorithms (GAs)?</vt:lpstr>
      <vt:lpstr>Working Mechanism Of GAs </vt:lpstr>
      <vt:lpstr>The Cycle of Evolution</vt:lpstr>
      <vt:lpstr>Simple Genetic Algorithm</vt:lpstr>
      <vt:lpstr>Nature to Computer Mapping</vt:lpstr>
      <vt:lpstr>Genetic Algorithm</vt:lpstr>
      <vt:lpstr>Encoding</vt:lpstr>
      <vt:lpstr>Fitness Function </vt:lpstr>
      <vt:lpstr>Selection</vt:lpstr>
      <vt:lpstr>Selection </vt:lpstr>
      <vt:lpstr>Selection</vt:lpstr>
      <vt:lpstr>Crossover </vt:lpstr>
      <vt:lpstr>Crossover Methods</vt:lpstr>
      <vt:lpstr>Crossover Methods (contd.)</vt:lpstr>
      <vt:lpstr>Crossover  Methods (contd.)</vt:lpstr>
      <vt:lpstr>Crossover Methods (contd.)</vt:lpstr>
      <vt:lpstr>PowerPoint Presentation</vt:lpstr>
      <vt:lpstr>Mutation</vt:lpstr>
      <vt:lpstr>Example Of Mutation</vt:lpstr>
      <vt:lpstr>Mutation</vt:lpstr>
      <vt:lpstr>Mutation</vt:lpstr>
      <vt:lpstr>Genetic Algorithms</vt:lpstr>
      <vt:lpstr>TSP example</vt:lpstr>
      <vt:lpstr>TSP example</vt:lpstr>
      <vt:lpstr>TSP 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cs188-su25-lec05</dc:title>
  <cp:lastModifiedBy>GUB</cp:lastModifiedBy>
  <cp:revision>6</cp:revision>
  <dcterms:created xsi:type="dcterms:W3CDTF">2025-09-22T11:06:39Z</dcterms:created>
  <dcterms:modified xsi:type="dcterms:W3CDTF">2025-11-04T07:13:25Z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2025-06-29T00:00:00Z</vt:filetime>
  </property>
  <property fmtid="{D5CDD505-2E9C-101B-9397-08002B2CF9AE}" pid="3" name="Creator">
    <vt:lpwstr>Keynote</vt:lpwstr>
  </property>
  <property fmtid="{D5CDD505-2E9C-101B-9397-08002B2CF9AE}" pid="4" name="LastSaved">
    <vt:filetime>2025-09-22T00:00:00Z</vt:filetime>
  </property>
  <property fmtid="{D5CDD505-2E9C-101B-9397-08002B2CF9AE}" pid="5" name="Producer">
    <vt:lpwstr>macOS Version 15.5 (Build 24F74) Quartz PDFContext</vt:lpwstr>
  </property>
  <property fmtid="{D5CDD505-2E9C-101B-9397-08002B2CF9AE}" pid="6" name="ContentTypeId">
    <vt:lpwstr>0x010100C0CB91796802F5448938A3DF7FF98DFC</vt:lpwstr>
  </property>
</Properties>
</file>