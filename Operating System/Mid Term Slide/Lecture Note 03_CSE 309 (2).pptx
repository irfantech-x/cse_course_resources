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52"/>
  </p:notesMasterIdLst>
  <p:handoutMasterIdLst>
    <p:handoutMasterId r:id="rId53"/>
  </p:handoutMasterIdLst>
  <p:sldIdLst>
    <p:sldId id="330" r:id="rId5"/>
    <p:sldId id="411" r:id="rId6"/>
    <p:sldId id="413" r:id="rId7"/>
    <p:sldId id="468" r:id="rId8"/>
    <p:sldId id="414" r:id="rId9"/>
    <p:sldId id="415" r:id="rId10"/>
    <p:sldId id="416" r:id="rId11"/>
    <p:sldId id="417" r:id="rId12"/>
    <p:sldId id="419" r:id="rId13"/>
    <p:sldId id="421" r:id="rId14"/>
    <p:sldId id="423" r:id="rId15"/>
    <p:sldId id="500" r:id="rId16"/>
    <p:sldId id="501" r:id="rId17"/>
    <p:sldId id="428" r:id="rId18"/>
    <p:sldId id="429" r:id="rId19"/>
    <p:sldId id="431" r:id="rId20"/>
    <p:sldId id="430" r:id="rId21"/>
    <p:sldId id="432" r:id="rId22"/>
    <p:sldId id="434" r:id="rId23"/>
    <p:sldId id="471" r:id="rId24"/>
    <p:sldId id="502" r:id="rId25"/>
    <p:sldId id="435" r:id="rId26"/>
    <p:sldId id="436" r:id="rId27"/>
    <p:sldId id="437" r:id="rId28"/>
    <p:sldId id="516" r:id="rId29"/>
    <p:sldId id="479" r:id="rId30"/>
    <p:sldId id="473" r:id="rId31"/>
    <p:sldId id="476" r:id="rId32"/>
    <p:sldId id="445" r:id="rId33"/>
    <p:sldId id="446" r:id="rId34"/>
    <p:sldId id="447" r:id="rId35"/>
    <p:sldId id="448" r:id="rId36"/>
    <p:sldId id="518" r:id="rId37"/>
    <p:sldId id="451" r:id="rId38"/>
    <p:sldId id="496" r:id="rId39"/>
    <p:sldId id="455" r:id="rId40"/>
    <p:sldId id="510" r:id="rId41"/>
    <p:sldId id="457" r:id="rId42"/>
    <p:sldId id="511" r:id="rId43"/>
    <p:sldId id="512" r:id="rId44"/>
    <p:sldId id="513" r:id="rId45"/>
    <p:sldId id="458" r:id="rId46"/>
    <p:sldId id="459" r:id="rId47"/>
    <p:sldId id="460" r:id="rId48"/>
    <p:sldId id="461" r:id="rId49"/>
    <p:sldId id="514" r:id="rId50"/>
    <p:sldId id="467" r:id="rId5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635"/>
  </p:normalViewPr>
  <p:slideViewPr>
    <p:cSldViewPr snapToGrid="0">
      <p:cViewPr varScale="1">
        <p:scale>
          <a:sx n="70" d="100"/>
          <a:sy n="70" d="100"/>
        </p:scale>
        <p:origin x="1536" y="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-905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DF96DF-3F74-4EB3-AA2E-7D9494973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557FD8-EB60-4E74-935E-C71DFE67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AB2CB0-7084-4003-8F6F-84F247F5E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808F682-D9AD-4570-A2CA-1F45861E4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D975521-C031-44A8-80BF-39B38B75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A3DECD5-2795-49AC-8BF6-9DFEFF419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783162-EACC-46A4-B314-BFAA15B50D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DCB06C7-C4C1-4DF4-AE1C-75C2D1E2F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F678B6-0AFA-4070-84E8-E0DDD2DC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07DE2B4-6350-4A16-8897-F8F2804C1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31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BD35E56-DD67-4ECB-BD37-13A2B5AEE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71B6D1F-21BA-45DA-B276-24F324AE8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459F42AB-B2FE-430D-B9BB-6A59FD851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6AA9600B-65A8-48A0-AEBE-270116A2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F59525-78E1-4DD8-A170-40C6713E6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3C1A84E-D626-48F7-9E90-4ECA8C9E4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B6525D0-C6FC-4582-B2A0-7ABC039688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66B3374-7828-4D2F-A3CB-4C44E319D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346804A-C554-4977-937C-189AD5B0D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6DEE86A-65F8-40A4-9764-141440772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82C699AE-42EF-4ED2-8387-CB52FD5573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CC3844-787A-4A53-A206-0A1C33362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454A392F-FA1E-4AA5-9D5A-3DF2596D76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7B613B1-0A3B-4DB4-B957-B63CB6628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F2AA79-94D9-4276-9C41-F8DFF3001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4650" y="228600"/>
            <a:ext cx="63801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7B4A6B-A9B9-465A-90EA-66F577052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88" y="1149350"/>
            <a:ext cx="7791450" cy="3822700"/>
          </a:xfrm>
        </p:spPr>
        <p:txBody>
          <a:bodyPr/>
          <a:lstStyle/>
          <a:p>
            <a:r>
              <a:rPr lang="en-US" altLang="en-US" dirty="0"/>
              <a:t>Process Concept</a:t>
            </a:r>
          </a:p>
          <a:p>
            <a:r>
              <a:rPr lang="en-US" altLang="en-US" dirty="0"/>
              <a:t>Process Scheduling</a:t>
            </a:r>
          </a:p>
          <a:p>
            <a:r>
              <a:rPr lang="en-US" altLang="en-US" dirty="0"/>
              <a:t>Operations on Processes</a:t>
            </a:r>
          </a:p>
          <a:p>
            <a:r>
              <a:rPr lang="en-US" altLang="en-US" dirty="0"/>
              <a:t>Interprocess Communication</a:t>
            </a:r>
          </a:p>
          <a:p>
            <a:r>
              <a:rPr lang="en-US" altLang="en-US" dirty="0"/>
              <a:t>IPC in Shared-Memory Systems</a:t>
            </a:r>
          </a:p>
          <a:p>
            <a:r>
              <a:rPr lang="en-US" altLang="en-US" dirty="0"/>
              <a:t>IPC in Message-Passing Systems</a:t>
            </a:r>
          </a:p>
          <a:p>
            <a:r>
              <a:rPr lang="en-US" altLang="en-US" dirty="0"/>
              <a:t>Examples of IPC Systems</a:t>
            </a:r>
          </a:p>
          <a:p>
            <a:r>
              <a:rPr lang="en-US" altLang="en-US" dirty="0"/>
              <a:t>Communication in Client-Server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D9066D-6E62-480A-A448-F88C6FB24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30188"/>
            <a:ext cx="7383463" cy="576262"/>
          </a:xfrm>
        </p:spPr>
        <p:txBody>
          <a:bodyPr/>
          <a:lstStyle/>
          <a:p>
            <a:pPr eaLnBrk="1" hangingPunct="1"/>
            <a:r>
              <a:rPr lang="en-US" altLang="en-US"/>
              <a:t>Threads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FE53719-71CB-4158-A535-768E646E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1" y="1059091"/>
            <a:ext cx="7116536" cy="4013652"/>
          </a:xfrm>
        </p:spPr>
        <p:txBody>
          <a:bodyPr/>
          <a:lstStyle/>
          <a:p>
            <a:r>
              <a:rPr lang="en-US" altLang="en-US" dirty="0"/>
              <a:t>So far, process has a single thread of execution</a:t>
            </a:r>
          </a:p>
          <a:p>
            <a:r>
              <a:rPr lang="en-US" altLang="en-US" dirty="0"/>
              <a:t>Consider having multiple program counters per process</a:t>
            </a:r>
          </a:p>
          <a:p>
            <a:pPr lvl="1"/>
            <a:r>
              <a:rPr lang="en-US" altLang="en-US" dirty="0"/>
              <a:t>Multiple locations can execute at once</a:t>
            </a:r>
          </a:p>
          <a:p>
            <a:pPr lvl="2"/>
            <a:r>
              <a:rPr lang="en-US" altLang="en-US" dirty="0"/>
              <a:t>Multiple threads of control -&gt;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threads</a:t>
            </a:r>
          </a:p>
          <a:p>
            <a:r>
              <a:rPr lang="en-US" altLang="en-US" dirty="0"/>
              <a:t>Must then have storage for thread details, multiple program counters in PCB</a:t>
            </a:r>
          </a:p>
          <a:p>
            <a:r>
              <a:rPr lang="en-US" altLang="en-US" dirty="0"/>
              <a:t>Explore in detail in Chapter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6D14E00-AC36-46B6-804B-3B1E61B7A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172132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Scheduling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D9E4484-1299-4947-B075-F0D9269BB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19417"/>
            <a:ext cx="6456362" cy="3839445"/>
          </a:xfrm>
        </p:spPr>
        <p:txBody>
          <a:bodyPr/>
          <a:lstStyle/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selects among available processes for next execution on CPU core</a:t>
            </a:r>
          </a:p>
          <a:p>
            <a:r>
              <a:rPr lang="en-US" altLang="en-US" dirty="0"/>
              <a:t>Goal -- Maximize CPU use, quickly switch processes onto CPU core</a:t>
            </a:r>
          </a:p>
          <a:p>
            <a:r>
              <a:rPr lang="en-US" altLang="en-US" dirty="0"/>
              <a:t>Maintains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scheduling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Wait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queues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set of processes waiting for an event (i.e., I/O)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8DB7F06-1635-4E8A-B106-08B7519E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7413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Representation of Process Scheduling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id="{A0A8D57B-B011-4BA3-A330-AE3AFD4CB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897063"/>
            <a:ext cx="5229225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is a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6E94F8E-122F-4FED-9B3D-FD01E2845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2347" y="143364"/>
            <a:ext cx="7997825" cy="576263"/>
          </a:xfrm>
        </p:spPr>
        <p:txBody>
          <a:bodyPr/>
          <a:lstStyle/>
          <a:p>
            <a:r>
              <a:rPr lang="en-US" altLang="en-US" sz="2800" dirty="0" err="1"/>
              <a:t>Multiprocess</a:t>
            </a:r>
            <a:r>
              <a:rPr lang="en-US" altLang="en-US" sz="2800" dirty="0"/>
              <a:t> Architecture – Chrome Browser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60D7C25-6ED1-40E0-9C1E-876BC3EC8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5975" y="1073426"/>
            <a:ext cx="7805738" cy="4478752"/>
          </a:xfrm>
        </p:spPr>
        <p:txBody>
          <a:bodyPr/>
          <a:lstStyle/>
          <a:p>
            <a:r>
              <a:rPr lang="en-US" altLang="en-US" dirty="0"/>
              <a:t>Many web browsers ran as single process (some still do)</a:t>
            </a:r>
          </a:p>
          <a:p>
            <a:pPr lvl="1"/>
            <a:r>
              <a:rPr lang="en-US" altLang="en-US" dirty="0"/>
              <a:t>If one web site causes trouble, entire browser can hang or crash</a:t>
            </a:r>
          </a:p>
          <a:p>
            <a:r>
              <a:rPr lang="en-US" altLang="en-US" dirty="0"/>
              <a:t>Google Chrome Browser is </a:t>
            </a:r>
            <a:r>
              <a:rPr lang="en-US" altLang="en-US" dirty="0" err="1"/>
              <a:t>multiprocess</a:t>
            </a:r>
            <a:r>
              <a:rPr lang="en-US" altLang="en-US" dirty="0"/>
              <a:t> with 3 different types of processes: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Browser</a:t>
            </a:r>
            <a:r>
              <a:rPr lang="en-US" altLang="en-US" dirty="0"/>
              <a:t> process manages user interface, disk and network I/O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Renderer</a:t>
            </a:r>
            <a:r>
              <a:rPr lang="en-US" altLang="en-US" dirty="0"/>
              <a:t> process renders web pages, deals with HTML, </a:t>
            </a:r>
            <a:r>
              <a:rPr lang="en-US" altLang="en-US" dirty="0" err="1"/>
              <a:t>Javascript</a:t>
            </a:r>
            <a:r>
              <a:rPr lang="en-US" altLang="en-US" dirty="0"/>
              <a:t>. A new renderer created for each website opened</a:t>
            </a:r>
          </a:p>
          <a:p>
            <a:pPr lvl="2"/>
            <a:r>
              <a:rPr lang="en-US" altLang="en-US" dirty="0"/>
              <a:t>Runs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sandbox</a:t>
            </a:r>
            <a:r>
              <a:rPr lang="en-US" altLang="en-US" dirty="0"/>
              <a:t> restricting disk and network I/O, minimizing effect of security exploits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Plug-in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process for each type of plug-in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57348" name="Picture 1">
            <a:extLst>
              <a:ext uri="{FF2B5EF4-FFF2-40B4-BE49-F238E27FC236}">
                <a16:creationId xmlns:a16="http://schemas.microsoft.com/office/drawing/2014/main" id="{FC10B725-AB13-417A-BEE0-FCE2190A3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49" y="4591123"/>
            <a:ext cx="6278563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600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214438"/>
            <a:ext cx="6825665" cy="4344151"/>
          </a:xfrm>
        </p:spPr>
        <p:txBody>
          <a:bodyPr/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1261982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177B0164-79AB-466A-AEF8-910811B2B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225425"/>
            <a:ext cx="7850187" cy="576263"/>
          </a:xfrm>
        </p:spPr>
        <p:txBody>
          <a:bodyPr/>
          <a:lstStyle/>
          <a:p>
            <a:r>
              <a:rPr lang="en-US" altLang="en-US"/>
              <a:t>Examples of IPC Systems - POSIX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97B56D75-D444-495A-8F21-29317312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1225" y="1233488"/>
            <a:ext cx="7577138" cy="4530725"/>
          </a:xfrm>
        </p:spPr>
        <p:txBody>
          <a:bodyPr/>
          <a:lstStyle/>
          <a:p>
            <a:r>
              <a:rPr lang="en-US" altLang="en-US" dirty="0"/>
              <a:t>POSIX Shared Memory</a:t>
            </a:r>
          </a:p>
          <a:p>
            <a:pPr lvl="1"/>
            <a:r>
              <a:rPr lang="en-US" altLang="en-US" dirty="0"/>
              <a:t>Process first creates shared memory segment</a:t>
            </a: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shm_open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(name, O CREAT | O RDWR, 0666);</a:t>
            </a:r>
          </a:p>
          <a:p>
            <a:pPr lvl="1"/>
            <a:r>
              <a:rPr lang="en-US" altLang="en-US" dirty="0"/>
              <a:t>Also used to open an existing segment</a:t>
            </a:r>
          </a:p>
          <a:p>
            <a:pPr lvl="1"/>
            <a:r>
              <a:rPr lang="en-US" altLang="en-US" dirty="0"/>
              <a:t>Set the size of the object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            </a:t>
            </a:r>
            <a:r>
              <a:rPr lang="en-US" altLang="en-US" b="1" dirty="0" err="1">
                <a:latin typeface="Courier New" panose="02070309020205020404" pitchFamily="49" charset="0"/>
              </a:rPr>
              <a:t>ftruncate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latin typeface="Courier New" panose="02070309020205020404" pitchFamily="49" charset="0"/>
              </a:rPr>
              <a:t>shm_fd</a:t>
            </a:r>
            <a:r>
              <a:rPr lang="en-US" altLang="en-US" b="1" dirty="0">
                <a:latin typeface="Courier New" panose="02070309020205020404" pitchFamily="49" charset="0"/>
              </a:rPr>
              <a:t>, 4096); 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to memory-map a file pointer to the shared memory object</a:t>
            </a:r>
          </a:p>
          <a:p>
            <a:pPr lvl="1"/>
            <a:r>
              <a:rPr lang="en-US" altLang="en-US" dirty="0"/>
              <a:t>Reading and writing to shared memory is done by using the pointer returned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.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>
            <a:extLst>
              <a:ext uri="{FF2B5EF4-FFF2-40B4-BE49-F238E27FC236}">
                <a16:creationId xmlns:a16="http://schemas.microsoft.com/office/drawing/2014/main" id="{35415C98-6AA0-438D-B9AC-E2E8638637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238" y="170228"/>
            <a:ext cx="7548562" cy="576262"/>
          </a:xfrm>
        </p:spPr>
        <p:txBody>
          <a:bodyPr/>
          <a:lstStyle/>
          <a:p>
            <a:r>
              <a:rPr lang="en-US" altLang="en-US" dirty="0"/>
              <a:t>Examples of IPC Systems - Mach</a:t>
            </a:r>
          </a:p>
        </p:txBody>
      </p:sp>
      <p:sp>
        <p:nvSpPr>
          <p:cNvPr id="102403" name="Content Placeholder 2">
            <a:extLst>
              <a:ext uri="{FF2B5EF4-FFF2-40B4-BE49-F238E27FC236}">
                <a16:creationId xmlns:a16="http://schemas.microsoft.com/office/drawing/2014/main" id="{F7B5A04B-9E69-4538-9F47-9CD69C217C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4075" y="1076325"/>
            <a:ext cx="7645400" cy="4530725"/>
          </a:xfrm>
        </p:spPr>
        <p:txBody>
          <a:bodyPr/>
          <a:lstStyle/>
          <a:p>
            <a:r>
              <a:rPr lang="en-US" altLang="en-US" dirty="0"/>
              <a:t>Mach communication is message based</a:t>
            </a:r>
          </a:p>
          <a:p>
            <a:pPr lvl="1"/>
            <a:r>
              <a:rPr lang="en-US" altLang="en-US" dirty="0"/>
              <a:t>Even system calls are messages</a:t>
            </a:r>
          </a:p>
          <a:p>
            <a:pPr lvl="1"/>
            <a:r>
              <a:rPr lang="en-US" altLang="en-US" dirty="0"/>
              <a:t>Each task gets two ports at creation  - Kernel and Notify</a:t>
            </a:r>
          </a:p>
          <a:p>
            <a:pPr lvl="1"/>
            <a:r>
              <a:rPr lang="en-US" altLang="en-US" dirty="0"/>
              <a:t>Messages are sent and received using the </a:t>
            </a:r>
            <a:r>
              <a:rPr lang="en-US" altLang="en-US" b="1" dirty="0" err="1">
                <a:latin typeface="Courier New" panose="02070309020205020404" pitchFamily="49" charset="0"/>
              </a:rPr>
              <a:t>mach_msg</a:t>
            </a:r>
            <a:r>
              <a:rPr lang="en-US" altLang="en-US" b="1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</a:t>
            </a:r>
          </a:p>
          <a:p>
            <a:pPr lvl="1"/>
            <a:r>
              <a:rPr lang="en-US" altLang="en-US" dirty="0"/>
              <a:t>Ports needed for communication, created via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      </a:t>
            </a:r>
            <a:r>
              <a:rPr lang="en-US" altLang="en-US" b="1" dirty="0" err="1">
                <a:latin typeface="Courier New" panose="02070309020205020404" pitchFamily="49" charset="0"/>
              </a:rPr>
              <a:t>mach_port_allocate</a:t>
            </a:r>
            <a:r>
              <a:rPr lang="en-US" altLang="en-US" b="1" dirty="0">
                <a:latin typeface="Courier New" panose="02070309020205020404" pitchFamily="49" charset="0"/>
              </a:rPr>
              <a:t>()</a:t>
            </a:r>
          </a:p>
          <a:p>
            <a:pPr lvl="1"/>
            <a:r>
              <a:rPr lang="en-US" altLang="en-US" dirty="0"/>
              <a:t>Send and receive are flexible; for example four options if mailbox full:</a:t>
            </a:r>
          </a:p>
          <a:p>
            <a:pPr lvl="2"/>
            <a:r>
              <a:rPr lang="en-US" altLang="en-US" dirty="0"/>
              <a:t>Wait indefinitely</a:t>
            </a:r>
          </a:p>
          <a:p>
            <a:pPr lvl="2"/>
            <a:r>
              <a:rPr lang="en-US" altLang="en-US" dirty="0"/>
              <a:t>Wait at most n milliseconds</a:t>
            </a:r>
          </a:p>
          <a:p>
            <a:pPr lvl="2"/>
            <a:r>
              <a:rPr lang="en-US" altLang="en-US" dirty="0"/>
              <a:t>Return immediately</a:t>
            </a:r>
          </a:p>
          <a:p>
            <a:pPr lvl="2"/>
            <a:r>
              <a:rPr lang="en-US" altLang="en-US" dirty="0"/>
              <a:t>Temporarily cache a message</a:t>
            </a:r>
          </a:p>
          <a:p>
            <a:pPr lvl="1"/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>
            <a:extLst>
              <a:ext uri="{FF2B5EF4-FFF2-40B4-BE49-F238E27FC236}">
                <a16:creationId xmlns:a16="http://schemas.microsoft.com/office/drawing/2014/main" id="{9AA84AD8-45BC-496F-93D4-85BB20F8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9603" y="170670"/>
            <a:ext cx="8229600" cy="576263"/>
          </a:xfrm>
        </p:spPr>
        <p:txBody>
          <a:bodyPr/>
          <a:lstStyle/>
          <a:p>
            <a:r>
              <a:rPr lang="en-US" altLang="en-US" dirty="0"/>
              <a:t>Examples of IPC Systems – Windows</a:t>
            </a:r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31766832-DFC8-4A86-A2CF-46CA4D6FA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9950" y="1154113"/>
            <a:ext cx="6950075" cy="4530725"/>
          </a:xfrm>
        </p:spPr>
        <p:txBody>
          <a:bodyPr/>
          <a:lstStyle/>
          <a:p>
            <a:r>
              <a:rPr lang="en-US" altLang="en-US" dirty="0"/>
              <a:t>Message-passing centric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procedure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call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LPC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/>
              <a:t> facility</a:t>
            </a:r>
          </a:p>
          <a:p>
            <a:pPr lvl="1"/>
            <a:r>
              <a:rPr lang="en-US" altLang="en-US" dirty="0"/>
              <a:t>Only works between processes on the same system</a:t>
            </a:r>
          </a:p>
          <a:p>
            <a:pPr lvl="1"/>
            <a:r>
              <a:rPr lang="en-US" altLang="en-US" dirty="0"/>
              <a:t>Uses ports (like mailboxes) to establish and maintain communication channels</a:t>
            </a:r>
          </a:p>
          <a:p>
            <a:pPr lvl="1"/>
            <a:r>
              <a:rPr lang="en-US" altLang="en-US" dirty="0"/>
              <a:t>Communication works as follows:</a:t>
            </a:r>
          </a:p>
          <a:p>
            <a:pPr lvl="2"/>
            <a:r>
              <a:rPr lang="en-US" altLang="en-US" dirty="0"/>
              <a:t>The client opens a handle to the subsystem’</a:t>
            </a:r>
            <a:r>
              <a:rPr lang="en-US" altLang="ja-JP" dirty="0"/>
              <a:t>s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connection</a:t>
            </a:r>
            <a:r>
              <a:rPr lang="en-US" altLang="ja-JP" b="1" dirty="0">
                <a:solidFill>
                  <a:srgbClr val="0000FF"/>
                </a:solidFill>
              </a:rPr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ja-JP" dirty="0"/>
              <a:t> object.</a:t>
            </a:r>
          </a:p>
          <a:p>
            <a:pPr lvl="2"/>
            <a:r>
              <a:rPr lang="en-US" altLang="en-US" dirty="0"/>
              <a:t>The client sends a connection request.</a:t>
            </a:r>
          </a:p>
          <a:p>
            <a:pPr lvl="2"/>
            <a:r>
              <a:rPr lang="en-US" altLang="en-US" dirty="0"/>
              <a:t>The server creates two private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returns the handle to one of them to the client.</a:t>
            </a:r>
          </a:p>
          <a:p>
            <a:pPr lvl="2"/>
            <a:r>
              <a:rPr lang="en-US" altLang="en-US" dirty="0"/>
              <a:t>The client and server use the corresponding port handle to send messages or callbacks and to listen for replies.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870AEF7-4CF4-41BC-81BB-29CC7F55A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8600"/>
            <a:ext cx="7810500" cy="576263"/>
          </a:xfrm>
        </p:spPr>
        <p:txBody>
          <a:bodyPr/>
          <a:lstStyle/>
          <a:p>
            <a:r>
              <a:rPr lang="en-US" altLang="en-US"/>
              <a:t>Local Procedure Calls in Windows</a:t>
            </a:r>
          </a:p>
        </p:txBody>
      </p:sp>
      <p:pic>
        <p:nvPicPr>
          <p:cNvPr id="109571" name="Picture 1">
            <a:extLst>
              <a:ext uri="{FF2B5EF4-FFF2-40B4-BE49-F238E27FC236}">
                <a16:creationId xmlns:a16="http://schemas.microsoft.com/office/drawing/2014/main" id="{0D6084EA-7656-42CC-8EAC-D97ED1345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820863"/>
            <a:ext cx="68897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25BF9C1-AE04-4A77-B3E6-FD94636BD8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1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Pipes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682366-2987-469E-AF71-AD20FF741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713" y="1154113"/>
            <a:ext cx="7588250" cy="4530725"/>
          </a:xfrm>
        </p:spPr>
        <p:txBody>
          <a:bodyPr/>
          <a:lstStyle/>
          <a:p>
            <a:r>
              <a:rPr lang="en-US" altLang="en-US" dirty="0"/>
              <a:t>Acts as a conduit allowing two processes to communicate</a:t>
            </a:r>
          </a:p>
          <a:p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Is communication unidirectional or bidirectional?</a:t>
            </a:r>
          </a:p>
          <a:p>
            <a:pPr lvl="1"/>
            <a:r>
              <a:rPr lang="en-US" altLang="en-US" dirty="0"/>
              <a:t>In the case of two-way communication, is it half or full-duplex?</a:t>
            </a:r>
          </a:p>
          <a:p>
            <a:pPr lvl="1"/>
            <a:r>
              <a:rPr lang="en-US" altLang="en-US" dirty="0"/>
              <a:t>Must there exist a relationship (i.e., </a:t>
            </a:r>
            <a:r>
              <a:rPr lang="en-US" altLang="en-US" b="1" i="1" dirty="0"/>
              <a:t>parent-child</a:t>
            </a:r>
            <a:r>
              <a:rPr lang="en-US" altLang="en-US" dirty="0"/>
              <a:t>) between the communicating processes?</a:t>
            </a:r>
          </a:p>
          <a:p>
            <a:pPr lvl="1"/>
            <a:r>
              <a:rPr lang="en-US" altLang="en-US" dirty="0"/>
              <a:t>Can the pipes be used over a network?</a:t>
            </a:r>
          </a:p>
          <a:p>
            <a:r>
              <a:rPr lang="en-US" altLang="en-US" b="1" dirty="0"/>
              <a:t>Ordinary pipes </a:t>
            </a:r>
            <a:r>
              <a:rPr lang="en-US" altLang="en-US" dirty="0"/>
              <a:t>– cannot be accessed  from outside the process that created it. Typically, a parent process creates a pipe and uses it to communicate with a child process that it created. </a:t>
            </a:r>
          </a:p>
          <a:p>
            <a:r>
              <a:rPr lang="en-US" altLang="en-US" b="1" dirty="0"/>
              <a:t>Named pipes </a:t>
            </a:r>
            <a:r>
              <a:rPr lang="en-US" altLang="en-US" dirty="0"/>
              <a:t>– can be accessed without a parent-child relationship.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6">
            <a:extLst>
              <a:ext uri="{FF2B5EF4-FFF2-40B4-BE49-F238E27FC236}">
                <a16:creationId xmlns:a16="http://schemas.microsoft.com/office/drawing/2014/main" id="{39BA9E19-E982-409D-855A-7A7246EB3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3878"/>
            <a:ext cx="8229600" cy="576262"/>
          </a:xfrm>
        </p:spPr>
        <p:txBody>
          <a:bodyPr/>
          <a:lstStyle/>
          <a:p>
            <a:r>
              <a:rPr lang="en-US" altLang="en-US" dirty="0"/>
              <a:t>Ordinary Pipes</a:t>
            </a:r>
          </a:p>
        </p:txBody>
      </p:sp>
      <p:sp>
        <p:nvSpPr>
          <p:cNvPr id="113667" name="Content Placeholder 7">
            <a:extLst>
              <a:ext uri="{FF2B5EF4-FFF2-40B4-BE49-F238E27FC236}">
                <a16:creationId xmlns:a16="http://schemas.microsoft.com/office/drawing/2014/main" id="{F5BD8B2E-EBB3-49C3-9C8D-A24250F50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8363" y="1138238"/>
            <a:ext cx="7537450" cy="4930775"/>
          </a:xfrm>
        </p:spPr>
        <p:txBody>
          <a:bodyPr/>
          <a:lstStyle/>
          <a:p>
            <a:r>
              <a:rPr lang="en-US" altLang="en-US" dirty="0"/>
              <a:t>Ordinary Pipes</a:t>
            </a:r>
            <a:r>
              <a:rPr lang="en-US" altLang="en-US" b="1" dirty="0"/>
              <a:t> </a:t>
            </a:r>
            <a:r>
              <a:rPr lang="en-US" altLang="en-US" dirty="0"/>
              <a:t>allow communication in standard producer-consumer style</a:t>
            </a:r>
          </a:p>
          <a:p>
            <a:r>
              <a:rPr lang="en-US" altLang="en-US" dirty="0"/>
              <a:t>Producer writes to one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write-end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Consumer reads from the other end (the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read-end</a:t>
            </a:r>
            <a:r>
              <a:rPr lang="en-US" altLang="en-US" i="1" dirty="0"/>
              <a:t> </a:t>
            </a:r>
            <a:r>
              <a:rPr lang="en-US" altLang="en-US" dirty="0"/>
              <a:t>of the pipe)</a:t>
            </a:r>
          </a:p>
          <a:p>
            <a:r>
              <a:rPr lang="en-US" altLang="en-US" dirty="0"/>
              <a:t>Ordinary pipes are therefore unidirectional</a:t>
            </a:r>
          </a:p>
          <a:p>
            <a:r>
              <a:rPr lang="en-US" altLang="en-US" dirty="0"/>
              <a:t>Require parent-child relationship between communicating processes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Windows calls these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pipes</a:t>
            </a: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F3119A2-4C8F-4927-A524-86ABC2A54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530600"/>
            <a:ext cx="38893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6">
            <a:extLst>
              <a:ext uri="{FF2B5EF4-FFF2-40B4-BE49-F238E27FC236}">
                <a16:creationId xmlns:a16="http://schemas.microsoft.com/office/drawing/2014/main" id="{F46E3781-78DE-4BB1-BE01-A0E3071BA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17488"/>
            <a:ext cx="8229600" cy="576262"/>
          </a:xfrm>
        </p:spPr>
        <p:txBody>
          <a:bodyPr/>
          <a:lstStyle/>
          <a:p>
            <a:r>
              <a:rPr lang="en-US" altLang="en-US"/>
              <a:t>Named Pipes</a:t>
            </a:r>
          </a:p>
        </p:txBody>
      </p:sp>
      <p:sp>
        <p:nvSpPr>
          <p:cNvPr id="115715" name="Content Placeholder 7">
            <a:extLst>
              <a:ext uri="{FF2B5EF4-FFF2-40B4-BE49-F238E27FC236}">
                <a16:creationId xmlns:a16="http://schemas.microsoft.com/office/drawing/2014/main" id="{18F2E9C8-16A0-4DAA-AF49-56C9A6E9D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233488"/>
            <a:ext cx="7651750" cy="4530725"/>
          </a:xfrm>
        </p:spPr>
        <p:txBody>
          <a:bodyPr/>
          <a:lstStyle/>
          <a:p>
            <a:r>
              <a:rPr lang="en-US" altLang="en-US"/>
              <a:t>Named Pipes are more powerful than ordinary pipes</a:t>
            </a:r>
          </a:p>
          <a:p>
            <a:r>
              <a:rPr lang="en-US" altLang="en-US"/>
              <a:t>Communication is bidirectional</a:t>
            </a:r>
          </a:p>
          <a:p>
            <a:r>
              <a:rPr lang="en-US" altLang="en-US"/>
              <a:t>No parent-child relationship is necessary between the communicating processes</a:t>
            </a:r>
          </a:p>
          <a:p>
            <a:r>
              <a:rPr lang="en-US" altLang="en-US"/>
              <a:t>Several processes can use the named pipe for communication</a:t>
            </a:r>
          </a:p>
          <a:p>
            <a:r>
              <a:rPr lang="en-US" altLang="en-US"/>
              <a:t>Provided on both UNIX and Windows systems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D834A9A087D741819B608BBC1DA395" ma:contentTypeVersion="0" ma:contentTypeDescription="Create a new document." ma:contentTypeScope="" ma:versionID="0cfc178ced5b22c03231536146ace0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82D823-A77C-4E12-AD80-E80436B1EE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3432BAE-2615-4179-B3E6-3880094EED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2491B7-3569-4B92-9BF6-7AFF33CE4FD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16633</TotalTime>
  <Words>2373</Words>
  <Application>Microsoft Office PowerPoint</Application>
  <PresentationFormat>On-screen Show (4:3)</PresentationFormat>
  <Paragraphs>314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3:  Processes</vt:lpstr>
      <vt:lpstr>Outline</vt:lpstr>
      <vt:lpstr>Process Concept</vt:lpstr>
      <vt:lpstr>Process Concept (Cont.)</vt:lpstr>
      <vt:lpstr>Process in Memory</vt:lpstr>
      <vt:lpstr>Process State</vt:lpstr>
      <vt:lpstr>Diagram of Process State</vt:lpstr>
      <vt:lpstr>Process Control Block (PCB)</vt:lpstr>
      <vt:lpstr>Threads</vt:lpstr>
      <vt:lpstr>Process Scheduling</vt:lpstr>
      <vt:lpstr>Representation of Process Scheduling</vt:lpstr>
      <vt:lpstr>CPU Switch From Process to Process</vt:lpstr>
      <vt:lpstr>Context Switch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Process Termination</vt:lpstr>
      <vt:lpstr>Process Termination</vt:lpstr>
      <vt:lpstr>Android Process Importance Hierarchy</vt:lpstr>
      <vt:lpstr>Multiprocess Architecture – Chrome Browser</vt:lpstr>
      <vt:lpstr>Interprocess Communication</vt:lpstr>
      <vt:lpstr>Communications Models </vt:lpstr>
      <vt:lpstr>Producer-Consumer Problem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Buffering</vt:lpstr>
      <vt:lpstr>Examples of IPC Systems - POSIX</vt:lpstr>
      <vt:lpstr>Examples of IPC Systems - Mach</vt:lpstr>
      <vt:lpstr>Examples of IPC Systems – Windows</vt:lpstr>
      <vt:lpstr>Local Procedure Calls in Windows</vt:lpstr>
      <vt:lpstr>Pipes</vt:lpstr>
      <vt:lpstr>Ordinary Pipes</vt:lpstr>
      <vt:lpstr>Named Pipes</vt:lpstr>
      <vt:lpstr>Communications in Client-Server Systems</vt:lpstr>
      <vt:lpstr>Sockets</vt:lpstr>
      <vt:lpstr>Socket Communication</vt:lpstr>
      <vt:lpstr>Sockets in Java</vt:lpstr>
      <vt:lpstr>Sockets in Java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Irfan Ferdous Siam</cp:lastModifiedBy>
  <cp:revision>350</cp:revision>
  <cp:lastPrinted>2013-10-02T18:16:40Z</cp:lastPrinted>
  <dcterms:created xsi:type="dcterms:W3CDTF">2011-01-13T23:43:38Z</dcterms:created>
  <dcterms:modified xsi:type="dcterms:W3CDTF">2025-11-17T11:04:12Z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0x0101005ED834A9A087D741819B608BBC1DA395</vt:lpwstr>
  </property>
</Properties>
</file>